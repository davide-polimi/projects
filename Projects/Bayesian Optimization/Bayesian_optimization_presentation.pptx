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0" r:id="rId2"/>
    <p:sldId id="340" r:id="rId3"/>
    <p:sldId id="341" r:id="rId4"/>
    <p:sldId id="348" r:id="rId5"/>
    <p:sldId id="381" r:id="rId6"/>
    <p:sldId id="384" r:id="rId7"/>
    <p:sldId id="379" r:id="rId8"/>
    <p:sldId id="378" r:id="rId9"/>
    <p:sldId id="380" r:id="rId10"/>
    <p:sldId id="385" r:id="rId11"/>
    <p:sldId id="342" r:id="rId12"/>
    <p:sldId id="349" r:id="rId13"/>
    <p:sldId id="343" r:id="rId14"/>
    <p:sldId id="355" r:id="rId15"/>
    <p:sldId id="351" r:id="rId16"/>
    <p:sldId id="352" r:id="rId17"/>
    <p:sldId id="353" r:id="rId18"/>
    <p:sldId id="382" r:id="rId19"/>
    <p:sldId id="383" r:id="rId20"/>
    <p:sldId id="377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F31F4-BDEF-42A0-9850-050600029F4E}" v="709" dt="2025-06-08T15:49:40.272"/>
    <p1510:client id="{A6ACF339-E60B-43AE-9219-E79EF7658127}" v="1099" dt="2025-06-08T15:31:03.992"/>
    <p1510:client id="{C7BB256B-243C-49A3-B2AE-0D3874BBEB8C}" v="2581" dt="2025-06-08T16:35:57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99D6B-34DB-4CA9-AF15-02F6A6C5E45F}" type="datetimeFigureOut">
              <a:t>6/8/2025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3B39C-951A-4E00-98A0-B450B0AB0244}" type="slidenum"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851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1784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8FDC-6CBC-8B2F-CD37-EB0D75A1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4719BED-2C21-0E17-A44D-863D0B343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BB5E51-E91E-D9B1-6E75-06E5122E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5665BD7-CE07-D32C-F9AE-171CD939E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37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4CF4B-B025-94BF-4C3E-7C1BD833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6D9A96-3F54-42BC-89BC-A8B3474D8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F884A3E-88AB-BD5B-7B54-3FB8DBE53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24CC7B-7E3F-E95C-D2F2-8D7D1B5CA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7245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EDFF-3856-B018-9997-17110D5D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E4C47A-BD14-C7C6-FE61-98BFB9F19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FB4BEBB-B95F-6C31-F56D-2DFCC6F1F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4C7E4F-B02A-3F0F-77F1-705841CBB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9764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13AF-3E02-B017-0247-8EBDDA16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EF1BE5C-55A9-9220-E0C8-A81FA94FB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230786-5842-A898-63A8-98380EC07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3E389F-80B4-969A-588E-4F3D4B763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910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D1917-8A65-7B86-DC58-99449DCA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0DE6A43-BC18-8484-2625-D6EFE82D6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040DEBF-7EC0-A769-26E5-D29C72D06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/>
            </a:pPr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11061A-9AA4-6065-D35F-DFF9173BD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5197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D682B-E591-C4E1-1F34-20826316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A6F3CE4-D333-D04D-C78B-C5C93C7A4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8900201-15A2-FE61-4F36-3C0955D47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BD3661-DD50-6682-E77F-A6930A198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871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6939-AAB2-4562-398E-03EBF8C6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2C3B24-C1FD-D0B5-59C1-AFC6300D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81A2E8-1122-3EAE-B55A-98EBE060F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695902-71E4-B7BE-7904-790EF9640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8491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B641-689C-B66C-A0D6-731CCF80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A6D22A-E5F1-49C0-F0B9-A7F2A6A22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C61DE65-6B3C-5137-3AFE-89DE6D541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57F1EC-AF7E-64B1-EE70-B0E413AEA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840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38005-9D0A-7355-CC36-62B4B867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E9DB70-1ED3-334E-8207-6005210BF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E9B5BEB-7255-3E70-80FA-4E2E5DC86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D02941-0D51-1407-84B0-00EFAC542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6287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B2C9C-E403-38C4-35D4-08D57B0E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3BDABBA-6ABC-11AF-4FC7-E552D2B3E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1989AB-CBCB-C495-F6AB-35294F8D8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B6AF71-53B3-8B89-F07B-FBB67DDBB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9343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329F-1D2E-EE4C-5D49-9B21EB671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BD17D1-AAA0-C570-9FCE-014E1F9C8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DDB9FC8-6D40-FBDA-C95B-B5DB74012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2DB09F-2CA8-F4E1-9A01-5B79E146D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392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75FF3-A73D-52B8-FFB8-B3E45A8A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B26B75B-7DCB-5169-35E5-B0CA3DB37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9C4DE20-30A5-BCD4-DC3A-8C6588F6D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E80693-4258-B04F-7A5F-08EA93F49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3400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5095-80D8-1B47-D773-352DCAA0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2EA616-095C-424C-82EE-D1F74DDA3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9F679E-2E9B-51C8-F897-F600E57BC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C88FF0-4ACA-42CB-5A71-876D2BD19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7820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61B1-9612-13A9-38F2-9518A8284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F1F5DFB-CD9C-71E7-C3EB-B4D796A46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F41D4D5-B126-0BAC-1100-0EDE7A927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CCB262A-2DA4-EA43-0163-714C04253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150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8BE7-844C-D2FF-59CA-80B87ECC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DD583F2-D444-2440-12B5-E51ACEDEE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B56CBD7-FE70-8C6A-2E43-4F6D66EAB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F4A1502-217B-C040-2F08-C7D954CA0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3736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983-B6E0-35E5-30F5-03973B87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9D8D97-C47F-080F-E589-FD0689C82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99159B7-1C4E-FE79-DCAA-1627AB416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B4C524-A601-3BAF-4353-D40D34457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5288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7281-46BC-5130-4C56-A5825BFF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7B21A7-54C3-2638-4F94-0614693D2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6965D7C-85A8-F30C-514E-6D44A630B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15E908-2F32-178B-CAC2-BB1D2C25B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8864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AD643-B323-6435-ED5A-14096A8D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48BB814-8FF5-08C7-E5A9-49EBD6AD8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E5F3303-95D0-D7E3-9B4C-D770D594C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10611D-B669-E7FB-8924-D182D8561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9BC7E-B757-4FF3-8521-3E48E026615B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3823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DBBE-3741-E7D1-0717-D384D983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8A2027-F409-1F61-3954-BEB04DF5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BC480C-734D-8439-1176-0226AA83D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B225D4-9A1E-5F1E-DC41-8E5BA4744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3339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43635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68773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0301"/>
                </a:schemeClr>
              </a:gs>
              <a:gs pos="82000">
                <a:schemeClr val="accent3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606C5E15-79D3-4DBA-B886-216D082B1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306" y="554831"/>
            <a:ext cx="2088000" cy="67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1698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356349"/>
            <a:ext cx="4572000" cy="365125"/>
          </a:xfrm>
        </p:spPr>
        <p:txBody>
          <a:bodyPr/>
          <a:lstStyle/>
          <a:p>
            <a:r>
              <a:rPr lang="it-IT"/>
              <a:t>Politecnico di Milano – Machine Learning for </a:t>
            </a:r>
            <a:r>
              <a:rPr lang="it-IT" err="1"/>
              <a:t>Mechanical</a:t>
            </a:r>
            <a:r>
              <a:rPr lang="it-IT"/>
              <a:t> Systems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8640000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20600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08.06.2025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5" y="3989527"/>
            <a:ext cx="10297220" cy="1979441"/>
          </a:xfrm>
        </p:spPr>
        <p:txBody>
          <a:bodyPr>
            <a:normAutofit/>
          </a:bodyPr>
          <a:lstStyle/>
          <a:p>
            <a:r>
              <a:rPr lang="en-US" sz="2400" noProof="0"/>
              <a:t>Machine Learning for Mechanical Systems</a:t>
            </a:r>
            <a:br>
              <a:rPr lang="en-US" noProof="0"/>
            </a:br>
            <a:r>
              <a:rPr lang="en-US" sz="2400" noProof="0"/>
              <a:t>Professor: Loris </a:t>
            </a:r>
            <a:r>
              <a:rPr lang="en-US" sz="2400" noProof="0" err="1"/>
              <a:t>Roveda</a:t>
            </a:r>
            <a:br>
              <a:rPr lang="en-US" noProof="0"/>
            </a:br>
            <a:endParaRPr lang="en-US" noProof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3375" y="5929933"/>
            <a:ext cx="4568933" cy="389844"/>
          </a:xfrm>
        </p:spPr>
        <p:txBody>
          <a:bodyPr vert="horz" lIns="45719" tIns="45719" rIns="45719" bIns="45719" rtlCol="0" anchor="t">
            <a:noAutofit/>
          </a:bodyPr>
          <a:lstStyle/>
          <a:p>
            <a:r>
              <a:rPr lang="en-US" sz="2400" noProof="0">
                <a:latin typeface="Manrope"/>
              </a:rPr>
              <a:t>09.06.2025 | Bellini, Biraghi, Boccia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F21C847B-9A53-DFC3-11DC-41311577AB57}"/>
              </a:ext>
            </a:extLst>
          </p:cNvPr>
          <p:cNvSpPr txBox="1">
            <a:spLocks/>
          </p:cNvSpPr>
          <p:nvPr/>
        </p:nvSpPr>
        <p:spPr>
          <a:xfrm>
            <a:off x="2030609" y="991508"/>
            <a:ext cx="10297220" cy="1979441"/>
          </a:xfrm>
          <a:prstGeom prst="rect">
            <a:avLst/>
          </a:prstGeom>
        </p:spPr>
        <p:txBody>
          <a:bodyPr vert="horz" lIns="0" tIns="360000" rIns="0" bIns="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endParaRPr lang="en-US" noProof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9A79FAA3-056D-A426-0418-3EA471CAE70E}"/>
              </a:ext>
            </a:extLst>
          </p:cNvPr>
          <p:cNvSpPr txBox="1">
            <a:spLocks/>
          </p:cNvSpPr>
          <p:nvPr/>
        </p:nvSpPr>
        <p:spPr>
          <a:xfrm>
            <a:off x="1027623" y="1962011"/>
            <a:ext cx="9428723" cy="1466989"/>
          </a:xfrm>
          <a:prstGeom prst="rect">
            <a:avLst/>
          </a:prstGeom>
        </p:spPr>
        <p:txBody>
          <a:bodyPr vert="horz" lIns="0" tIns="36000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5400"/>
              <a:t>Bayesian Optimization</a:t>
            </a:r>
          </a:p>
          <a:p>
            <a:pPr algn="ctr">
              <a:lnSpc>
                <a:spcPct val="150000"/>
              </a:lnSpc>
            </a:pPr>
            <a:r>
              <a:rPr lang="en-US" sz="3600"/>
              <a:t>Based Tuning Framework for Robotic Arm Control</a:t>
            </a:r>
            <a:endParaRPr lang="en-US" sz="3600" noProof="0"/>
          </a:p>
        </p:txBody>
      </p:sp>
    </p:spTree>
    <p:extLst>
      <p:ext uri="{BB962C8B-B14F-4D97-AF65-F5344CB8AC3E}">
        <p14:creationId xmlns:p14="http://schemas.microsoft.com/office/powerpoint/2010/main" val="155453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D38E2-80D9-1E25-F66B-80BB0AE2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BDF5522-C4B4-FDB1-1CEC-D4001AB5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C75A4BD4-E46F-D903-B8C0-E3172B49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1095FED-89EA-ECB2-327F-F400FAC7F1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2" name="Titolo 2">
            <a:extLst>
              <a:ext uri="{FF2B5EF4-FFF2-40B4-BE49-F238E27FC236}">
                <a16:creationId xmlns:a16="http://schemas.microsoft.com/office/drawing/2014/main" id="{734C260C-1FAC-68AB-5A10-0674BFDA1111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Table of Contents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AF42892-014D-7BC6-BCA9-C7EF54ABACB5}"/>
              </a:ext>
            </a:extLst>
          </p:cNvPr>
          <p:cNvSpPr txBox="1"/>
          <p:nvPr/>
        </p:nvSpPr>
        <p:spPr>
          <a:xfrm>
            <a:off x="364520" y="956427"/>
            <a:ext cx="10506764" cy="57548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800" b="1">
                <a:solidFill>
                  <a:schemeClr val="tx2"/>
                </a:solidFill>
              </a:rPr>
              <a:t> </a:t>
            </a:r>
            <a:r>
              <a:rPr lang="it-IT" sz="2400" b="1" err="1">
                <a:solidFill>
                  <a:schemeClr val="tx2"/>
                </a:solidFill>
              </a:rPr>
              <a:t>Introduction</a:t>
            </a:r>
            <a:endParaRPr lang="it-IT" sz="2400" b="1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>
                <a:solidFill>
                  <a:schemeClr val="tx2"/>
                </a:solidFill>
              </a:rPr>
              <a:t> Cost </a:t>
            </a:r>
            <a:r>
              <a:rPr lang="it-IT" sz="2400" b="1" err="1">
                <a:solidFill>
                  <a:schemeClr val="tx2"/>
                </a:solidFill>
              </a:rPr>
              <a:t>Function</a:t>
            </a:r>
            <a:endParaRPr lang="it-IT" sz="2400" b="1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>
                <a:solidFill>
                  <a:schemeClr val="tx2"/>
                </a:solidFill>
              </a:rPr>
              <a:t> Dynamics</a:t>
            </a: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 err="1">
                <a:solidFill>
                  <a:schemeClr val="tx2"/>
                </a:solidFill>
              </a:rPr>
              <a:t>Acquisition</a:t>
            </a:r>
            <a:r>
              <a:rPr lang="it-IT" sz="2400" b="1">
                <a:solidFill>
                  <a:schemeClr val="tx2"/>
                </a:solidFill>
              </a:rPr>
              <a:t> </a:t>
            </a:r>
            <a:r>
              <a:rPr lang="it-IT" sz="2400" b="1" err="1">
                <a:solidFill>
                  <a:schemeClr val="tx2"/>
                </a:solidFill>
              </a:rPr>
              <a:t>Functions</a:t>
            </a:r>
            <a:r>
              <a:rPr lang="it-IT" sz="2400" b="1">
                <a:solidFill>
                  <a:schemeClr val="tx2"/>
                </a:solidFill>
              </a:rPr>
              <a:t> </a:t>
            </a:r>
            <a:r>
              <a:rPr lang="it-IT" sz="2400" b="1" err="1">
                <a:solidFill>
                  <a:schemeClr val="tx2"/>
                </a:solidFill>
              </a:rPr>
              <a:t>Comparison</a:t>
            </a:r>
            <a:endParaRPr lang="it-IT" sz="2400" b="1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>
                <a:solidFill>
                  <a:schemeClr val="tx2"/>
                </a:solidFill>
              </a:rPr>
              <a:t>Solution 1: 21 </a:t>
            </a:r>
            <a:r>
              <a:rPr lang="it-IT" sz="2400" b="1" err="1">
                <a:solidFill>
                  <a:schemeClr val="tx2"/>
                </a:solidFill>
              </a:rPr>
              <a:t>Parameters</a:t>
            </a:r>
            <a:r>
              <a:rPr lang="it-IT" sz="2400" b="1">
                <a:solidFill>
                  <a:schemeClr val="tx2"/>
                </a:solidFill>
              </a:rPr>
              <a:t> </a:t>
            </a:r>
            <a:r>
              <a:rPr lang="it-IT" sz="2400" b="1" err="1">
                <a:solidFill>
                  <a:schemeClr val="tx2"/>
                </a:solidFill>
              </a:rPr>
              <a:t>Optimization</a:t>
            </a:r>
            <a:endParaRPr lang="it-IT" sz="2400" b="1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>
                <a:solidFill>
                  <a:schemeClr val="tx2"/>
                </a:solidFill>
              </a:rPr>
              <a:t>Solution 2: Off-set </a:t>
            </a: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>
                <a:solidFill>
                  <a:schemeClr val="tx2"/>
                </a:solidFill>
              </a:rPr>
              <a:t>Solution 3: </a:t>
            </a:r>
            <a:r>
              <a:rPr lang="it-IT" sz="2400" b="1" err="1">
                <a:solidFill>
                  <a:schemeClr val="tx2"/>
                </a:solidFill>
              </a:rPr>
              <a:t>Cascade</a:t>
            </a:r>
            <a:r>
              <a:rPr lang="it-IT" sz="2400" b="1">
                <a:solidFill>
                  <a:schemeClr val="tx2"/>
                </a:solidFill>
              </a:rPr>
              <a:t> </a:t>
            </a:r>
            <a:r>
              <a:rPr lang="it-IT" sz="2400" b="1" err="1">
                <a:solidFill>
                  <a:schemeClr val="tx2"/>
                </a:solidFill>
              </a:rPr>
              <a:t>Optimization</a:t>
            </a:r>
            <a:endParaRPr lang="it-IT" sz="2400" b="1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>
                <a:solidFill>
                  <a:schemeClr val="tx2"/>
                </a:solidFill>
              </a:rPr>
              <a:t>Solution 4: Real Dynamics</a:t>
            </a: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r>
              <a:rPr lang="it-IT" sz="2400" b="1" err="1">
                <a:solidFill>
                  <a:schemeClr val="tx2"/>
                </a:solidFill>
              </a:rPr>
              <a:t>Perturbation</a:t>
            </a:r>
            <a:r>
              <a:rPr lang="it-IT" sz="2400" b="1">
                <a:solidFill>
                  <a:schemeClr val="tx2"/>
                </a:solidFill>
              </a:rPr>
              <a:t> Analysis</a:t>
            </a:r>
            <a:endParaRPr lang="en-US" sz="2400" b="1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102B51"/>
              </a:buClr>
              <a:buFont typeface="Wingdings" panose="05000000000000000000" pitchFamily="2" charset="2"/>
              <a:buChar char="Ø"/>
            </a:pPr>
            <a:endParaRPr lang="it-IT" sz="2800"/>
          </a:p>
        </p:txBody>
      </p:sp>
    </p:spTree>
    <p:extLst>
      <p:ext uri="{BB962C8B-B14F-4D97-AF65-F5344CB8AC3E}">
        <p14:creationId xmlns:p14="http://schemas.microsoft.com/office/powerpoint/2010/main" val="213209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29558-B4EA-CA1F-4B6E-1B2942A4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1CF5A2F-27A6-41D9-89D6-953EF750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341A9614-3AEA-C17C-F17C-87AB35D2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6A97FABE-D9E2-ED5E-249D-0B72EE09A0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2" name="CasellaDiTesto 3">
            <a:extLst>
              <a:ext uri="{FF2B5EF4-FFF2-40B4-BE49-F238E27FC236}">
                <a16:creationId xmlns:a16="http://schemas.microsoft.com/office/drawing/2014/main" id="{8972A00F-EE83-BA68-FA52-C19463A965D8}"/>
              </a:ext>
            </a:extLst>
          </p:cNvPr>
          <p:cNvSpPr txBox="1"/>
          <p:nvPr/>
        </p:nvSpPr>
        <p:spPr>
          <a:xfrm>
            <a:off x="1571293" y="1310490"/>
            <a:ext cx="5520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/>
              <a:t>Apply Bayesian Optimization to tune the trajectory tracking control parameters of a 7-DOFs robotic arm, </a:t>
            </a:r>
            <a:r>
              <a:rPr lang="en-US" sz="1600" err="1"/>
              <a:t>optimising</a:t>
            </a:r>
            <a:r>
              <a:rPr lang="en-US" sz="1600"/>
              <a:t> PID gains and joint masses to </a:t>
            </a:r>
            <a:r>
              <a:rPr lang="en-US" sz="1600" err="1"/>
              <a:t>minimise</a:t>
            </a:r>
            <a:r>
              <a:rPr lang="en-US" sz="1600"/>
              <a:t> tracking error.</a:t>
            </a:r>
            <a:endParaRPr lang="it-IT" sz="1600"/>
          </a:p>
        </p:txBody>
      </p:sp>
      <p:sp>
        <p:nvSpPr>
          <p:cNvPr id="4" name="CasellaDiTesto 5">
            <a:extLst>
              <a:ext uri="{FF2B5EF4-FFF2-40B4-BE49-F238E27FC236}">
                <a16:creationId xmlns:a16="http://schemas.microsoft.com/office/drawing/2014/main" id="{BDFAD0E7-C434-8C8B-DD7F-CFCF10E883DE}"/>
              </a:ext>
            </a:extLst>
          </p:cNvPr>
          <p:cNvSpPr txBox="1"/>
          <p:nvPr/>
        </p:nvSpPr>
        <p:spPr>
          <a:xfrm>
            <a:off x="364520" y="1276528"/>
            <a:ext cx="1268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err="1">
                <a:solidFill>
                  <a:srgbClr val="213652"/>
                </a:solidFill>
              </a:rPr>
              <a:t>Objective</a:t>
            </a:r>
            <a:r>
              <a:rPr lang="it-IT" b="1">
                <a:solidFill>
                  <a:srgbClr val="213652"/>
                </a:solidFill>
              </a:rPr>
              <a:t>:</a:t>
            </a:r>
          </a:p>
        </p:txBody>
      </p:sp>
      <p:pic>
        <p:nvPicPr>
          <p:cNvPr id="7" name="Immagine 6" descr="Immagine che contiene leva, design&#10;&#10;Il contenuto generato dall'IA potrebbe non essere corretto.">
            <a:extLst>
              <a:ext uri="{FF2B5EF4-FFF2-40B4-BE49-F238E27FC236}">
                <a16:creationId xmlns:a16="http://schemas.microsoft.com/office/drawing/2014/main" id="{59673AA5-FB80-287B-4B82-BF2A23FF6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581" y="1276528"/>
            <a:ext cx="3902263" cy="4253027"/>
          </a:xfrm>
          <a:prstGeom prst="rect">
            <a:avLst/>
          </a:prstGeom>
        </p:spPr>
      </p:pic>
      <p:sp>
        <p:nvSpPr>
          <p:cNvPr id="8" name="CasellaDiTesto 10">
            <a:extLst>
              <a:ext uri="{FF2B5EF4-FFF2-40B4-BE49-F238E27FC236}">
                <a16:creationId xmlns:a16="http://schemas.microsoft.com/office/drawing/2014/main" id="{AD7E73BF-96DD-87B6-2FAE-82DD593516DD}"/>
              </a:ext>
            </a:extLst>
          </p:cNvPr>
          <p:cNvSpPr txBox="1"/>
          <p:nvPr/>
        </p:nvSpPr>
        <p:spPr>
          <a:xfrm>
            <a:off x="364520" y="2884248"/>
            <a:ext cx="200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err="1">
                <a:solidFill>
                  <a:srgbClr val="213652"/>
                </a:solidFill>
              </a:rPr>
              <a:t>Additional</a:t>
            </a:r>
            <a:r>
              <a:rPr lang="it-IT" b="1">
                <a:solidFill>
                  <a:srgbClr val="213652"/>
                </a:solidFill>
              </a:rPr>
              <a:t> tasks:</a:t>
            </a:r>
          </a:p>
        </p:txBody>
      </p:sp>
      <p:sp>
        <p:nvSpPr>
          <p:cNvPr id="9" name="CasellaDiTesto 11">
            <a:extLst>
              <a:ext uri="{FF2B5EF4-FFF2-40B4-BE49-F238E27FC236}">
                <a16:creationId xmlns:a16="http://schemas.microsoft.com/office/drawing/2014/main" id="{BD63A7FD-11F9-55EF-1E1D-2A9878BAF732}"/>
              </a:ext>
            </a:extLst>
          </p:cNvPr>
          <p:cNvSpPr txBox="1"/>
          <p:nvPr/>
        </p:nvSpPr>
        <p:spPr>
          <a:xfrm>
            <a:off x="2256101" y="2898724"/>
            <a:ext cx="48355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it-IT" sz="1600"/>
              <a:t>Virtual masses tuning</a:t>
            </a:r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it-IT" sz="1600" err="1"/>
              <a:t>Sequential</a:t>
            </a:r>
            <a:r>
              <a:rPr lang="it-IT" sz="1600"/>
              <a:t> </a:t>
            </a:r>
            <a:r>
              <a:rPr lang="it-IT" sz="1600" err="1"/>
              <a:t>optimization</a:t>
            </a:r>
            <a:r>
              <a:rPr lang="it-IT" sz="1600"/>
              <a:t> from last joint to first joint</a:t>
            </a:r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it-IT" sz="1600"/>
              <a:t>Off-set </a:t>
            </a:r>
            <a:r>
              <a:rPr lang="it-IT" sz="1600" err="1"/>
              <a:t>evaluation</a:t>
            </a:r>
            <a:endParaRPr lang="it-IT" sz="1600"/>
          </a:p>
          <a:p>
            <a:pPr marL="285750" indent="-285750"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it-IT" sz="1600" err="1"/>
              <a:t>Perturbation</a:t>
            </a:r>
            <a:r>
              <a:rPr lang="it-IT" sz="1600"/>
              <a:t> of the dynamics</a:t>
            </a:r>
          </a:p>
        </p:txBody>
      </p:sp>
      <p:sp>
        <p:nvSpPr>
          <p:cNvPr id="12" name="CasellaDiTesto 12">
            <a:extLst>
              <a:ext uri="{FF2B5EF4-FFF2-40B4-BE49-F238E27FC236}">
                <a16:creationId xmlns:a16="http://schemas.microsoft.com/office/drawing/2014/main" id="{00EC7A11-4B84-E509-82C2-0972A06BF670}"/>
              </a:ext>
            </a:extLst>
          </p:cNvPr>
          <p:cNvSpPr txBox="1"/>
          <p:nvPr/>
        </p:nvSpPr>
        <p:spPr>
          <a:xfrm>
            <a:off x="364520" y="4691356"/>
            <a:ext cx="6727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/>
              <a:t>The following work outlines the project workflow, presents the various solutions explored under </a:t>
            </a:r>
            <a:r>
              <a:rPr lang="en-US" sz="1600" b="1">
                <a:solidFill>
                  <a:srgbClr val="102B51"/>
                </a:solidFill>
              </a:rPr>
              <a:t>different considerations</a:t>
            </a:r>
            <a:r>
              <a:rPr lang="en-US" sz="1600"/>
              <a:t>, and </a:t>
            </a:r>
            <a:r>
              <a:rPr lang="en-US" sz="1600" b="1">
                <a:solidFill>
                  <a:srgbClr val="102B51"/>
                </a:solidFill>
              </a:rPr>
              <a:t>highlights the most promising one.</a:t>
            </a:r>
            <a:endParaRPr lang="it-IT" sz="1600" b="1">
              <a:solidFill>
                <a:srgbClr val="102B51"/>
              </a:solidFill>
            </a:endParaRPr>
          </a:p>
        </p:txBody>
      </p:sp>
      <p:sp>
        <p:nvSpPr>
          <p:cNvPr id="13" name="CasellaDiTesto 9">
            <a:extLst>
              <a:ext uri="{FF2B5EF4-FFF2-40B4-BE49-F238E27FC236}">
                <a16:creationId xmlns:a16="http://schemas.microsoft.com/office/drawing/2014/main" id="{B83040CA-119C-79F6-3A54-B4D738D021AE}"/>
              </a:ext>
            </a:extLst>
          </p:cNvPr>
          <p:cNvSpPr txBox="1"/>
          <p:nvPr/>
        </p:nvSpPr>
        <p:spPr>
          <a:xfrm>
            <a:off x="7897060" y="5600956"/>
            <a:ext cx="3323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600" b="1" i="1" err="1"/>
              <a:t>Franka</a:t>
            </a:r>
            <a:r>
              <a:rPr lang="it-IT" sz="1600" b="1" i="1"/>
              <a:t> </a:t>
            </a:r>
            <a:r>
              <a:rPr lang="it-IT" sz="1600" b="1" i="1" err="1"/>
              <a:t>Emika</a:t>
            </a:r>
            <a:r>
              <a:rPr lang="it-IT" sz="1600" b="1" i="1"/>
              <a:t> Panda Robot</a:t>
            </a:r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728792A8-BABD-BDE4-526E-43C0E5AFABC4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CE2B6B6-74A0-FAE4-E2AD-22589A2E21B4}"/>
                  </a:ext>
                </a:extLst>
              </p:cNvPr>
              <p:cNvSpPr txBox="1"/>
              <p:nvPr/>
            </p:nvSpPr>
            <p:spPr>
              <a:xfrm>
                <a:off x="364520" y="2309242"/>
                <a:ext cx="5664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err="1">
                    <a:solidFill>
                      <a:srgbClr val="213652"/>
                    </a:solidFill>
                  </a:rPr>
                  <a:t>Main</a:t>
                </a:r>
                <a:r>
                  <a:rPr lang="it-IT" b="1">
                    <a:solidFill>
                      <a:srgbClr val="213652"/>
                    </a:solidFill>
                  </a:rPr>
                  <a:t> task:  </a:t>
                </a:r>
                <a:r>
                  <a:rPr lang="it-IT" sz="1600" err="1"/>
                  <a:t>Parameters</a:t>
                </a:r>
                <a:r>
                  <a:rPr lang="it-IT" sz="1600"/>
                  <a:t> tuning for </a:t>
                </a:r>
                <a:r>
                  <a:rPr lang="it-IT" sz="1600" err="1"/>
                  <a:t>each</a:t>
                </a:r>
                <a:r>
                  <a:rPr lang="it-IT" sz="1600"/>
                  <a:t> joint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it-IT" sz="16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it-IT" sz="16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it-IT" sz="1600"/>
                  <a:t>)</a:t>
                </a:r>
                <a:endParaRPr lang="it-IT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CE2B6B6-74A0-FAE4-E2AD-22589A2E2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20" y="2309242"/>
                <a:ext cx="5664865" cy="369332"/>
              </a:xfrm>
              <a:prstGeom prst="rect">
                <a:avLst/>
              </a:prstGeom>
              <a:blipFill>
                <a:blip r:embed="rId5"/>
                <a:stretch>
                  <a:fillRect l="-969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482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8FA32-DCC5-7D9C-C638-61903791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00A0CCFF-6511-B813-867C-2BE74A5B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4F842303-1B37-F3F3-1F33-68124DE0CF30}"/>
              </a:ext>
            </a:extLst>
          </p:cNvPr>
          <p:cNvSpPr txBox="1">
            <a:spLocks/>
          </p:cNvSpPr>
          <p:nvPr/>
        </p:nvSpPr>
        <p:spPr>
          <a:xfrm>
            <a:off x="624331" y="4478693"/>
            <a:ext cx="8640000" cy="1782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sz="1600"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">
                <a:extLst>
                  <a:ext uri="{FF2B5EF4-FFF2-40B4-BE49-F238E27FC236}">
                    <a16:creationId xmlns:a16="http://schemas.microsoft.com/office/drawing/2014/main" id="{DCA2015C-89BB-9FDE-BC90-29FC7A8A0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520" y="1370979"/>
                <a:ext cx="11496176" cy="24263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defRPr sz="2000"/>
                </a:pPr>
                <a:r>
                  <a:rPr lang="en-GB" b="1" dirty="0">
                    <a:solidFill>
                      <a:srgbClr val="102B51"/>
                    </a:solidFill>
                  </a:rPr>
                  <a:t>Dynamics uploaded on </a:t>
                </a:r>
                <a:r>
                  <a:rPr lang="en-GB" b="1" dirty="0" err="1">
                    <a:solidFill>
                      <a:srgbClr val="102B51"/>
                    </a:solidFill>
                  </a:rPr>
                  <a:t>Webeep</a:t>
                </a:r>
                <a:r>
                  <a:rPr lang="en-GB" b="1" dirty="0">
                    <a:solidFill>
                      <a:srgbClr val="102B51"/>
                    </a:solidFill>
                  </a:rPr>
                  <a:t>:</a:t>
                </a:r>
              </a:p>
              <a:p>
                <a:pPr>
                  <a:defRPr sz="2000"/>
                </a:pPr>
                <a:endParaRPr lang="en-GB" sz="1000" b="1" dirty="0">
                  <a:solidFill>
                    <a:srgbClr val="102B51"/>
                  </a:solidFill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The controller does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not include inertia feed-forward</a:t>
                </a:r>
                <a:r>
                  <a:rPr lang="en-US" sz="1600" dirty="0"/>
                  <a:t>, meaning the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PID loop must compensate the full dynamic load</a:t>
                </a:r>
                <a:r>
                  <a:rPr lang="en-US" sz="1600" dirty="0">
                    <a:solidFill>
                      <a:srgbClr val="102B51"/>
                    </a:solidFill>
                  </a:rPr>
                  <a:t> </a:t>
                </a:r>
                <a:r>
                  <a:rPr lang="en-US" sz="1600" dirty="0"/>
                  <a:t>to move the robot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800" dirty="0"/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Gravity and viscous friction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are compensated</a:t>
                </a:r>
                <a:r>
                  <a:rPr lang="en-US" sz="1600" dirty="0">
                    <a:solidFill>
                      <a:srgbClr val="102B51"/>
                    </a:solidFill>
                  </a:rPr>
                  <a:t> </a:t>
                </a:r>
                <a:r>
                  <a:rPr lang="en-US" sz="1600" dirty="0"/>
                  <a:t>through the torque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Only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partial dynamic decoupling</a:t>
                </a:r>
                <a:r>
                  <a:rPr lang="en-US" sz="1600" dirty="0">
                    <a:solidFill>
                      <a:srgbClr val="102B51"/>
                    </a:solidFill>
                  </a:rPr>
                  <a:t> </a:t>
                </a:r>
                <a:r>
                  <a:rPr lang="en-US" sz="1600" dirty="0"/>
                  <a:t>is achieved: if the estimated inertia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1600" dirty="0"/>
                  <a:t> deviates from the true inertia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,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inter-joint coupling effects</a:t>
                </a:r>
                <a:r>
                  <a:rPr lang="en-US" sz="1600" b="1" dirty="0"/>
                  <a:t> </a:t>
                </a:r>
                <a:r>
                  <a:rPr lang="en-US" sz="1600" dirty="0"/>
                  <a:t>persist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sz="800" dirty="0"/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This setup requires</a:t>
                </a:r>
                <a:r>
                  <a:rPr lang="en-US" sz="1600" b="1" dirty="0"/>
                  <a:t>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higher control effort</a:t>
                </a:r>
                <a:r>
                  <a:rPr lang="en-US" sz="1600" dirty="0"/>
                  <a:t>, demanding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larger PID gains and torques</a:t>
                </a:r>
                <a:r>
                  <a:rPr lang="en-US" sz="1600" dirty="0">
                    <a:solidFill>
                      <a:srgbClr val="102B51"/>
                    </a:solidFill>
                  </a:rPr>
                  <a:t> </a:t>
                </a:r>
                <a:r>
                  <a:rPr lang="en-US" sz="1600" dirty="0"/>
                  <a:t>to maintain accurate trajectory tracking</a:t>
                </a:r>
                <a:endParaRPr kumimoji="0" lang="en-US" altLang="en-US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 2">
                <a:extLst>
                  <a:ext uri="{FF2B5EF4-FFF2-40B4-BE49-F238E27FC236}">
                    <a16:creationId xmlns:a16="http://schemas.microsoft.com/office/drawing/2014/main" id="{DCA2015C-89BB-9FDE-BC90-29FC7A8A04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20" y="1370979"/>
                <a:ext cx="11496176" cy="2426305"/>
              </a:xfrm>
              <a:prstGeom prst="rect">
                <a:avLst/>
              </a:prstGeom>
              <a:blipFill>
                <a:blip r:embed="rId3"/>
                <a:stretch>
                  <a:fillRect l="-583" t="-1005" b="-30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97E1545-27BB-E50F-4BCC-6AF227C29674}"/>
              </a:ext>
            </a:extLst>
          </p:cNvPr>
          <p:cNvSpPr txBox="1"/>
          <p:nvPr/>
        </p:nvSpPr>
        <p:spPr>
          <a:xfrm>
            <a:off x="364520" y="1007561"/>
            <a:ext cx="7793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control system is tested under two dynamic formulations:</a:t>
            </a:r>
            <a:endParaRPr lang="en-GB" sz="1600" dirty="0"/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554B3D90-CF1B-07E5-F73A-80AA4BC4E6BD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02B51"/>
                </a:solidFill>
              </a:rPr>
              <a:t>Dynamics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657634-179D-27C3-4E8E-75CEEB4F7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629" y="4030052"/>
            <a:ext cx="4614428" cy="3675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EBC89E-EF83-D2E3-2002-BF9015EAC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361" y="4754590"/>
            <a:ext cx="4330900" cy="3089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FBE319-C367-8FE5-D806-332141ADEF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895" y="4752344"/>
            <a:ext cx="1395001" cy="2827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014FE0-0375-4180-B24B-AFF6F44FAF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229" y="5361420"/>
            <a:ext cx="5629246" cy="5623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C25628-E01F-F0F5-D7F1-85065EDC8680}"/>
              </a:ext>
            </a:extLst>
          </p:cNvPr>
          <p:cNvSpPr txBox="1"/>
          <p:nvPr/>
        </p:nvSpPr>
        <p:spPr>
          <a:xfrm>
            <a:off x="7200405" y="4789592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/>
              <a:t>,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57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40F05-691E-2F1E-1229-08C7739FC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47A1B503-0A66-E5D9-CE17-C37318D3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56ADDCAA-E6BA-B447-D646-91D2136B71AE}"/>
              </a:ext>
            </a:extLst>
          </p:cNvPr>
          <p:cNvSpPr txBox="1">
            <a:spLocks/>
          </p:cNvSpPr>
          <p:nvPr/>
        </p:nvSpPr>
        <p:spPr>
          <a:xfrm>
            <a:off x="624331" y="4478693"/>
            <a:ext cx="8640000" cy="1782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sz="1600"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49D22D-09DE-3449-2BE0-BBBA3CD4D11B}"/>
                  </a:ext>
                </a:extLst>
              </p:cNvPr>
              <p:cNvSpPr txBox="1"/>
              <p:nvPr/>
            </p:nvSpPr>
            <p:spPr>
              <a:xfrm>
                <a:off x="364520" y="1457012"/>
                <a:ext cx="11496176" cy="1793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2000"/>
                </a:pPr>
                <a:r>
                  <a:rPr lang="en-GB" b="1" dirty="0">
                    <a:solidFill>
                      <a:srgbClr val="102B51"/>
                    </a:solidFill>
                  </a:rPr>
                  <a:t>Modified Dynamics:</a:t>
                </a:r>
              </a:p>
              <a:p>
                <a:pPr>
                  <a:defRPr sz="2000"/>
                </a:pPr>
                <a:endParaRPr lang="en-GB" sz="800" b="1" dirty="0">
                  <a:solidFill>
                    <a:srgbClr val="102B5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  <a:defRPr sz="2000"/>
                </a:pPr>
                <a:r>
                  <a:rPr lang="it-IT" sz="1600" dirty="0" err="1"/>
                  <a:t>Introduces</a:t>
                </a:r>
                <a:r>
                  <a:rPr lang="it-IT" sz="1600" dirty="0"/>
                  <a:t> </a:t>
                </a:r>
                <a:r>
                  <a:rPr lang="it-IT" sz="1600" b="1" dirty="0" err="1">
                    <a:solidFill>
                      <a:srgbClr val="102B51"/>
                    </a:solidFill>
                  </a:rPr>
                  <a:t>inertia</a:t>
                </a:r>
                <a:r>
                  <a:rPr lang="it-IT" sz="1600" b="1" dirty="0">
                    <a:solidFill>
                      <a:srgbClr val="102B51"/>
                    </a:solidFill>
                  </a:rPr>
                  <a:t> feed-</a:t>
                </a:r>
                <a:r>
                  <a:rPr lang="it-IT" sz="1600" b="1" dirty="0" err="1">
                    <a:solidFill>
                      <a:srgbClr val="102B51"/>
                    </a:solidFill>
                  </a:rPr>
                  <a:t>forward</a:t>
                </a:r>
                <a:r>
                  <a:rPr lang="it-IT" sz="1600" dirty="0">
                    <a:solidFill>
                      <a:srgbClr val="102B5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it-IT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it-IT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it-IT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it-IT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</m:oMath>
                </a14:m>
                <a:r>
                  <a:rPr lang="it-IT" sz="1600" dirty="0"/>
                  <a:t>, </a:t>
                </a:r>
                <a:r>
                  <a:rPr lang="it-IT" sz="1600" dirty="0" err="1"/>
                  <a:t>allowing</a:t>
                </a:r>
                <a:r>
                  <a:rPr lang="it-IT" sz="1600" dirty="0"/>
                  <a:t> the controller to </a:t>
                </a:r>
                <a:r>
                  <a:rPr lang="it-IT" sz="1600" dirty="0" err="1"/>
                  <a:t>preemptively</a:t>
                </a:r>
                <a:r>
                  <a:rPr lang="it-IT" sz="1600" dirty="0"/>
                  <a:t> </a:t>
                </a:r>
                <a:r>
                  <a:rPr lang="it-IT" sz="1600" b="1" dirty="0" err="1">
                    <a:solidFill>
                      <a:srgbClr val="102B51"/>
                    </a:solidFill>
                  </a:rPr>
                  <a:t>apply</a:t>
                </a:r>
                <a:r>
                  <a:rPr lang="it-IT" sz="1600" b="1" dirty="0">
                    <a:solidFill>
                      <a:srgbClr val="102B51"/>
                    </a:solidFill>
                  </a:rPr>
                  <a:t> </a:t>
                </a:r>
                <a:r>
                  <a:rPr lang="it-IT" sz="1600" b="1" dirty="0" err="1">
                    <a:solidFill>
                      <a:srgbClr val="102B51"/>
                    </a:solidFill>
                  </a:rPr>
                  <a:t>torques</a:t>
                </a:r>
                <a:r>
                  <a:rPr lang="it-IT" sz="1600" b="1" dirty="0">
                    <a:solidFill>
                      <a:srgbClr val="102B51"/>
                    </a:solidFill>
                  </a:rPr>
                  <a:t> </a:t>
                </a:r>
                <a:r>
                  <a:rPr lang="it-IT" sz="1600" dirty="0"/>
                  <a:t>for the </a:t>
                </a:r>
                <a:r>
                  <a:rPr lang="it-IT" sz="1600" dirty="0" err="1"/>
                  <a:t>desired</a:t>
                </a:r>
                <a:r>
                  <a:rPr lang="it-IT" sz="1600" dirty="0"/>
                  <a:t> </a:t>
                </a:r>
                <a:r>
                  <a:rPr lang="it-IT" sz="1600" dirty="0" err="1"/>
                  <a:t>accelerations</a:t>
                </a:r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  <a:defRPr sz="2000"/>
                </a:pPr>
                <a:endParaRPr lang="it-IT" sz="800" dirty="0"/>
              </a:p>
              <a:p>
                <a:pPr marL="285750" indent="-285750">
                  <a:buFont typeface="Arial" panose="020B0604020202020204" pitchFamily="34" charset="0"/>
                  <a:buChar char="•"/>
                  <a:defRPr sz="2000"/>
                </a:pPr>
                <a:r>
                  <a:rPr lang="en-US" sz="1600" dirty="0"/>
                  <a:t>Implements a dedicated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gravity compensation </a:t>
                </a:r>
                <a:r>
                  <a:rPr lang="en-US" sz="1600" dirty="0"/>
                  <a:t>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𝑐𝑜𝑚𝑝</m:t>
                        </m:r>
                      </m:sub>
                    </m:sSub>
                  </m:oMath>
                </a14:m>
                <a:r>
                  <a:rPr lang="en-US" sz="1600" dirty="0"/>
                  <a:t>​, effectively removing gravitational loads from the feedback loop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  <a:defRPr sz="2000"/>
                </a:pPr>
                <a:endParaRPr lang="en-US" sz="800" dirty="0"/>
              </a:p>
              <a:p>
                <a:pPr marL="285750" indent="-285750">
                  <a:buFont typeface="Arial" panose="020B0604020202020204" pitchFamily="34" charset="0"/>
                  <a:buChar char="•"/>
                  <a:defRPr sz="2000"/>
                </a:pPr>
                <a:r>
                  <a:rPr lang="en-US" sz="1600" dirty="0"/>
                  <a:t>Adds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joint friction</a:t>
                </a:r>
                <a:r>
                  <a:rPr lang="en-US" sz="1600" dirty="0"/>
                  <a:t> modeling, increasing realism in dynamic response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49D22D-09DE-3449-2BE0-BBBA3CD4D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20" y="1457012"/>
                <a:ext cx="11496176" cy="1793055"/>
              </a:xfrm>
              <a:prstGeom prst="rect">
                <a:avLst/>
              </a:prstGeom>
              <a:blipFill>
                <a:blip r:embed="rId3"/>
                <a:stretch>
                  <a:fillRect l="-583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olo 2">
            <a:extLst>
              <a:ext uri="{FF2B5EF4-FFF2-40B4-BE49-F238E27FC236}">
                <a16:creationId xmlns:a16="http://schemas.microsoft.com/office/drawing/2014/main" id="{9A9BB9BC-E3C9-8E97-C9DC-B5910991E363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Dynamics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BA44705-75EA-7983-8A81-9F51F3634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172" y="5052072"/>
            <a:ext cx="6509863" cy="6502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174C77E-4CB0-6CC8-E713-3C541FBDA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519" y="4478693"/>
            <a:ext cx="1636139" cy="3316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884DA7-3314-93F8-CEB8-A27C1C8D5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778" y="4495768"/>
            <a:ext cx="2074004" cy="2892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5FC299A-C4DD-DBCD-41B8-AA36E41E78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20" y="4434214"/>
            <a:ext cx="5079531" cy="3623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CF41AA8-5C92-EB7A-D899-43D651E4B4EF}"/>
              </a:ext>
            </a:extLst>
          </p:cNvPr>
          <p:cNvSpPr txBox="1"/>
          <p:nvPr/>
        </p:nvSpPr>
        <p:spPr>
          <a:xfrm>
            <a:off x="8743947" y="4547082"/>
            <a:ext cx="282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,</a:t>
            </a:r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6D8C60-07FD-5BFE-1E9F-898AA7533A19}"/>
              </a:ext>
            </a:extLst>
          </p:cNvPr>
          <p:cNvSpPr txBox="1"/>
          <p:nvPr/>
        </p:nvSpPr>
        <p:spPr>
          <a:xfrm>
            <a:off x="6089617" y="4547082"/>
            <a:ext cx="24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,</a:t>
            </a:r>
            <a:endParaRPr lang="en-GB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6227EE9-362D-250A-D7B5-4BD098D589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128" y="3631558"/>
            <a:ext cx="6910521" cy="385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4B94F-D5DC-5AC1-EAE3-7312CC4BF4A2}"/>
              </a:ext>
            </a:extLst>
          </p:cNvPr>
          <p:cNvSpPr txBox="1"/>
          <p:nvPr/>
        </p:nvSpPr>
        <p:spPr>
          <a:xfrm>
            <a:off x="364520" y="1007561"/>
            <a:ext cx="7793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control system is tested under two dynamic formulations: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9107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A9A33-259C-D80C-86B1-FE70BBF2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B9A5E327-AA11-92A2-8A19-60241902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9FFB7398-4FA3-1D4B-BD7A-0B4E3F2008A5}"/>
              </a:ext>
            </a:extLst>
          </p:cNvPr>
          <p:cNvSpPr txBox="1">
            <a:spLocks/>
          </p:cNvSpPr>
          <p:nvPr/>
        </p:nvSpPr>
        <p:spPr>
          <a:xfrm>
            <a:off x="624331" y="4478693"/>
            <a:ext cx="8640000" cy="1782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sz="1600">
              <a:latin typeface="Aptos"/>
            </a:endParaRPr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FD0475C6-665F-C220-AD88-7FEE66C9FB2E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02B51"/>
                </a:solidFill>
              </a:rPr>
              <a:t>Bayesian Optimization settings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D196319-922C-4D16-7D05-0B26B789A7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4425" y="1267861"/>
                <a:ext cx="11203149" cy="489179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normAutofit fontScale="92500" lnSpcReduction="10000"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sz="2100" dirty="0"/>
                  <a:t>Define </a:t>
                </a:r>
                <a:r>
                  <a:rPr sz="2100" b="1" dirty="0">
                    <a:solidFill>
                      <a:srgbClr val="102B51"/>
                    </a:solidFill>
                  </a:rPr>
                  <a:t>robot model</a:t>
                </a:r>
                <a:r>
                  <a:rPr lang="it-IT" sz="2100" dirty="0"/>
                  <a:t> and compute </a:t>
                </a:r>
                <a:r>
                  <a:rPr sz="2100" b="1" dirty="0">
                    <a:solidFill>
                      <a:srgbClr val="102B51"/>
                    </a:solidFill>
                  </a:rPr>
                  <a:t>reference trajectory</a:t>
                </a:r>
                <a:endParaRPr lang="it-IT" sz="2100" b="1" dirty="0">
                  <a:solidFill>
                    <a:srgbClr val="102B51"/>
                  </a:solidFill>
                </a:endParaRPr>
              </a:p>
              <a:p>
                <a:pPr marL="457200" indent="-457200">
                  <a:buClr>
                    <a:srgbClr val="102B51"/>
                  </a:buClr>
                  <a:buFont typeface="+mj-lt"/>
                  <a:buAutoNum type="arabicPeriod"/>
                </a:pPr>
                <a:endParaRPr sz="1000" dirty="0"/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sz="2100" dirty="0"/>
                  <a:t>Create </a:t>
                </a:r>
                <a:r>
                  <a:rPr sz="2100" b="1" dirty="0">
                    <a:solidFill>
                      <a:srgbClr val="102B51"/>
                    </a:solidFill>
                  </a:rPr>
                  <a:t>optimization variables</a:t>
                </a:r>
                <a:r>
                  <a:rPr sz="21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1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1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sz="21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1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1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1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1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1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21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2100" b="0" i="1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100" dirty="0"/>
                  <a:t>for each </a:t>
                </a:r>
                <a:r>
                  <a:rPr lang="it-IT" sz="2100" dirty="0" err="1"/>
                  <a:t>DoF</a:t>
                </a:r>
                <a:r>
                  <a:rPr sz="2100" dirty="0"/>
                  <a:t>.</a:t>
                </a:r>
                <a:endParaRPr lang="it-IT" sz="2100" dirty="0"/>
              </a:p>
              <a:p>
                <a:pPr>
                  <a:buClr>
                    <a:srgbClr val="102B51"/>
                  </a:buClr>
                  <a:buFont typeface="+mj-lt"/>
                  <a:buAutoNum type="arabicPeriod"/>
                </a:pPr>
                <a:endParaRPr lang="it-IT" sz="1000" dirty="0"/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lang="en-GB" sz="2100" dirty="0"/>
                  <a:t>Set parameter </a:t>
                </a:r>
                <a:r>
                  <a:rPr lang="en-GB" sz="2100" b="1" dirty="0">
                    <a:solidFill>
                      <a:srgbClr val="102B51"/>
                    </a:solidFill>
                  </a:rPr>
                  <a:t>bounds </a:t>
                </a:r>
                <a:r>
                  <a:rPr lang="en-GB" sz="2100" dirty="0"/>
                  <a:t>for each optimization variables.</a:t>
                </a:r>
              </a:p>
              <a:p>
                <a:pPr marL="457200" indent="-457200">
                  <a:buClr>
                    <a:srgbClr val="102B51"/>
                  </a:buClr>
                  <a:buFont typeface="+mj-lt"/>
                  <a:buAutoNum type="arabicPeriod"/>
                </a:pPr>
                <a:endParaRPr lang="en-GB" sz="1000" dirty="0"/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sz="2100" dirty="0"/>
                  <a:t>Define the </a:t>
                </a:r>
                <a:r>
                  <a:rPr sz="2100" b="1" dirty="0">
                    <a:solidFill>
                      <a:srgbClr val="102B51"/>
                    </a:solidFill>
                  </a:rPr>
                  <a:t>objective function</a:t>
                </a:r>
                <a:r>
                  <a:rPr lang="it-IT" sz="2100" b="1" dirty="0">
                    <a:solidFill>
                      <a:srgbClr val="102B51"/>
                    </a:solidFill>
                  </a:rPr>
                  <a:t> J</a:t>
                </a:r>
              </a:p>
              <a:p>
                <a:pPr marL="457200" indent="-457200">
                  <a:buClr>
                    <a:srgbClr val="102B51"/>
                  </a:buClr>
                  <a:buFont typeface="+mj-lt"/>
                  <a:buAutoNum type="arabicPeriod"/>
                </a:pPr>
                <a:endParaRPr lang="it-IT" sz="1000" dirty="0"/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sz="2100" dirty="0"/>
                  <a:t>Configure</a:t>
                </a:r>
                <a:r>
                  <a:rPr lang="it-IT" sz="2100" dirty="0"/>
                  <a:t> </a:t>
                </a:r>
                <a:r>
                  <a:rPr lang="it-IT" sz="2100" b="1" dirty="0" err="1">
                    <a:solidFill>
                      <a:srgbClr val="102B51"/>
                    </a:solidFill>
                  </a:rPr>
                  <a:t>bayesopt</a:t>
                </a:r>
                <a:r>
                  <a:rPr lang="it-IT" sz="2100" b="1" dirty="0">
                    <a:solidFill>
                      <a:srgbClr val="102B51"/>
                    </a:solidFill>
                  </a:rPr>
                  <a:t> on </a:t>
                </a:r>
                <a:r>
                  <a:rPr lang="it-IT" sz="2100" b="1" dirty="0" err="1">
                    <a:solidFill>
                      <a:srgbClr val="102B51"/>
                    </a:solidFill>
                  </a:rPr>
                  <a:t>matlab</a:t>
                </a:r>
                <a:r>
                  <a:rPr sz="2100" dirty="0"/>
                  <a:t>:</a:t>
                </a:r>
                <a:endParaRPr lang="it-IT" sz="2100" dirty="0"/>
              </a:p>
              <a:p>
                <a:pPr lvl="1"/>
                <a:r>
                  <a:rPr lang="en-US" sz="1700" dirty="0"/>
                  <a:t>Acquisition function: 'expected-improvement'</a:t>
                </a:r>
              </a:p>
              <a:p>
                <a:pPr lvl="1"/>
                <a:r>
                  <a:rPr lang="en-US" sz="1700" dirty="0"/>
                  <a:t>Deterministic objective </a:t>
                </a:r>
              </a:p>
              <a:p>
                <a:pPr lvl="1"/>
                <a:r>
                  <a:rPr lang="en-US" sz="1700" dirty="0"/>
                  <a:t>Parallel evaluation enabled</a:t>
                </a:r>
              </a:p>
              <a:p>
                <a:pPr lvl="1"/>
                <a:r>
                  <a:rPr lang="en-US" sz="1700" dirty="0"/>
                  <a:t>Initial seed points: 30</a:t>
                </a:r>
              </a:p>
              <a:p>
                <a:pPr lvl="1"/>
                <a:r>
                  <a:rPr lang="en-US" sz="1700" dirty="0"/>
                  <a:t>Active set size: 500</a:t>
                </a:r>
              </a:p>
              <a:p>
                <a:pPr marL="457200" lvl="1" indent="0">
                  <a:buNone/>
                </a:pPr>
                <a:endParaRPr lang="en-US" sz="1100" dirty="0"/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lang="it-IT" sz="2100" dirty="0">
                    <a:solidFill>
                      <a:srgbClr val="102B51"/>
                    </a:solidFill>
                  </a:rPr>
                  <a:t> </a:t>
                </a:r>
                <a:r>
                  <a:rPr lang="it-IT" sz="2100" b="1" dirty="0" err="1">
                    <a:solidFill>
                      <a:srgbClr val="102B51"/>
                    </a:solidFill>
                  </a:rPr>
                  <a:t>Optimization</a:t>
                </a:r>
                <a:r>
                  <a:rPr lang="it-IT" sz="2100" b="1" dirty="0">
                    <a:solidFill>
                      <a:srgbClr val="102B51"/>
                    </a:solidFill>
                  </a:rPr>
                  <a:t> </a:t>
                </a:r>
                <a:r>
                  <a:rPr lang="it-IT" sz="2100" dirty="0"/>
                  <a:t>step</a:t>
                </a:r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endParaRPr lang="it-IT" sz="1100" dirty="0"/>
              </a:p>
              <a:p>
                <a:pPr marL="514350" indent="-514350">
                  <a:buClr>
                    <a:srgbClr val="102B51"/>
                  </a:buClr>
                  <a:buFont typeface="+mj-lt"/>
                  <a:buAutoNum type="arabicPeriod"/>
                </a:pPr>
                <a:r>
                  <a:rPr lang="it-IT" sz="2100" dirty="0">
                    <a:solidFill>
                      <a:srgbClr val="102B51"/>
                    </a:solidFill>
                  </a:rPr>
                  <a:t> </a:t>
                </a:r>
                <a:r>
                  <a:rPr lang="it-IT" sz="2100" dirty="0" err="1"/>
                  <a:t>Simulation</a:t>
                </a:r>
                <a:r>
                  <a:rPr lang="it-IT" sz="2100" dirty="0"/>
                  <a:t> &amp; </a:t>
                </a:r>
                <a:r>
                  <a:rPr lang="it-IT" sz="2100" b="1" dirty="0" err="1">
                    <a:solidFill>
                      <a:srgbClr val="102B51"/>
                    </a:solidFill>
                  </a:rPr>
                  <a:t>results</a:t>
                </a:r>
                <a:r>
                  <a:rPr lang="it-IT" sz="2100" dirty="0"/>
                  <a:t> </a:t>
                </a:r>
                <a:r>
                  <a:rPr lang="it-IT" sz="2100" dirty="0" err="1"/>
                  <a:t>analysis</a:t>
                </a:r>
                <a:endParaRPr lang="it-IT" sz="21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D196319-922C-4D16-7D05-0B26B789A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5" y="1267861"/>
                <a:ext cx="11203149" cy="4891797"/>
              </a:xfrm>
              <a:prstGeom prst="rect">
                <a:avLst/>
              </a:prstGeom>
              <a:blipFill>
                <a:blip r:embed="rId3"/>
                <a:stretch>
                  <a:fillRect l="-544" t="-1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 descr="Immagine che contiene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EF16EAE-5B2E-8E82-1478-B78665752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720" y="1288619"/>
            <a:ext cx="4520854" cy="453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7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A5BA9-9053-2B18-274A-5504057C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000115A-AF1C-2C76-B460-F9236FEA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9F654D94-8598-A88C-4AE2-175763F8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F7A0B84A-4444-ED86-DD26-3B535B0100F1}"/>
              </a:ext>
            </a:extLst>
          </p:cNvPr>
          <p:cNvSpPr txBox="1"/>
          <p:nvPr/>
        </p:nvSpPr>
        <p:spPr>
          <a:xfrm>
            <a:off x="364520" y="1111495"/>
            <a:ext cx="1043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The cost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for the </a:t>
            </a:r>
            <a:r>
              <a:rPr lang="it-IT" dirty="0" err="1"/>
              <a:t>Bayesian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composed</a:t>
            </a:r>
            <a:r>
              <a:rPr lang="it-IT" dirty="0"/>
              <a:t> by </a:t>
            </a:r>
            <a:r>
              <a:rPr lang="it-IT" b="1" dirty="0">
                <a:solidFill>
                  <a:srgbClr val="102B51"/>
                </a:solidFill>
              </a:rPr>
              <a:t>4 </a:t>
            </a:r>
            <a:r>
              <a:rPr lang="it-IT" b="1" dirty="0" err="1">
                <a:solidFill>
                  <a:srgbClr val="102B51"/>
                </a:solidFill>
              </a:rPr>
              <a:t>components</a:t>
            </a:r>
            <a:r>
              <a:rPr lang="it-IT" sz="1600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29F6E-1931-D116-8D3A-4D621027203E}"/>
              </a:ext>
            </a:extLst>
          </p:cNvPr>
          <p:cNvSpPr txBox="1"/>
          <p:nvPr/>
        </p:nvSpPr>
        <p:spPr>
          <a:xfrm>
            <a:off x="3046615" y="324849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DBAAC43-BF12-8E12-67A8-CEDBE29B1FE4}"/>
                  </a:ext>
                </a:extLst>
              </p:cNvPr>
              <p:cNvSpPr txBox="1"/>
              <p:nvPr/>
            </p:nvSpPr>
            <p:spPr>
              <a:xfrm>
                <a:off x="3200304" y="1626916"/>
                <a:ext cx="5329574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it-I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it-IT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8DBAAC43-BF12-8E12-67A8-CEDBE29B1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304" y="1626916"/>
                <a:ext cx="5329574" cy="369332"/>
              </a:xfrm>
              <a:prstGeom prst="rect">
                <a:avLst/>
              </a:prstGeom>
              <a:blipFill>
                <a:blip r:embed="rId3"/>
                <a:stretch>
                  <a:fillRect b="-3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10">
                <a:extLst>
                  <a:ext uri="{FF2B5EF4-FFF2-40B4-BE49-F238E27FC236}">
                    <a16:creationId xmlns:a16="http://schemas.microsoft.com/office/drawing/2014/main" id="{03C1337D-710B-2A4E-F087-9BE50912FC53}"/>
                  </a:ext>
                </a:extLst>
              </p:cNvPr>
              <p:cNvSpPr txBox="1"/>
              <p:nvPr/>
            </p:nvSpPr>
            <p:spPr>
              <a:xfrm>
                <a:off x="364520" y="2153452"/>
                <a:ext cx="3415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rgbClr val="102B51"/>
                    </a:solidFill>
                  </a:rPr>
                  <a:t> : Mean Position </a:t>
                </a:r>
                <a:r>
                  <a:rPr lang="it-IT" b="1" err="1">
                    <a:solidFill>
                      <a:srgbClr val="102B51"/>
                    </a:solidFill>
                  </a:rPr>
                  <a:t>Error</a:t>
                </a:r>
                <a:endParaRPr lang="it-IT" b="1">
                  <a:solidFill>
                    <a:srgbClr val="102B51"/>
                  </a:solidFill>
                </a:endParaRPr>
              </a:p>
            </p:txBody>
          </p:sp>
        </mc:Choice>
        <mc:Fallback xmlns="">
          <p:sp>
            <p:nvSpPr>
              <p:cNvPr id="7" name="CasellaDiTesto 10">
                <a:extLst>
                  <a:ext uri="{FF2B5EF4-FFF2-40B4-BE49-F238E27FC236}">
                    <a16:creationId xmlns:a16="http://schemas.microsoft.com/office/drawing/2014/main" id="{03C1337D-710B-2A4E-F087-9BE50912F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20" y="2153452"/>
                <a:ext cx="3415000" cy="369332"/>
              </a:xfrm>
              <a:prstGeom prst="rect">
                <a:avLst/>
              </a:prstGeom>
              <a:blipFill>
                <a:blip r:embed="rId4"/>
                <a:stretch>
                  <a:fillRect l="-125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D437B7-DCED-0E37-2E85-EB816910A32C}"/>
                  </a:ext>
                </a:extLst>
              </p:cNvPr>
              <p:cNvSpPr txBox="1"/>
              <p:nvPr/>
            </p:nvSpPr>
            <p:spPr>
              <a:xfrm>
                <a:off x="3403888" y="2522784"/>
                <a:ext cx="492240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𝐷𝑂𝐹𝑠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𝐷𝑂𝐹𝑠</m:t>
                                      </m:r>
                                    </m:sub>
                                  </m:sSub>
                                </m:sup>
                                <m:e>
                                  <m:f>
                                    <m:f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𝑟𝑒𝑎𝑙</m:t>
                                              </m:r>
                                            </m:sub>
                                          </m:sSub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𝑚𝑠𝑟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𝑟𝑒𝑎𝑙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D437B7-DCED-0E37-2E85-EB816910A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888" y="2522784"/>
                <a:ext cx="4922406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85FF1F-DF01-7893-258F-8536ADA1438B}"/>
                  </a:ext>
                </a:extLst>
              </p:cNvPr>
              <p:cNvSpPr txBox="1"/>
              <p:nvPr/>
            </p:nvSpPr>
            <p:spPr>
              <a:xfrm>
                <a:off x="364520" y="3693492"/>
                <a:ext cx="11061732" cy="6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err="1"/>
                  <a:t>where</a:t>
                </a:r>
                <a:r>
                  <a:rPr lang="it-IT" sz="1600"/>
                  <a:t> </a:t>
                </a:r>
                <a:r>
                  <a:rPr lang="it-IT" sz="1600" b="1" i="1">
                    <a:solidFill>
                      <a:srgbClr val="102B51"/>
                    </a:solidFill>
                  </a:rPr>
                  <a:t>t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</a:t>
                </a:r>
                <a:r>
                  <a:rPr lang="it-IT" sz="1600" b="1">
                    <a:solidFill>
                      <a:srgbClr val="102B51"/>
                    </a:solidFill>
                  </a:rPr>
                  <a:t> time</a:t>
                </a:r>
                <a:r>
                  <a:rPr lang="it-IT" sz="16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final</a:t>
                </a:r>
                <a:r>
                  <a:rPr lang="it-IT" sz="1600" b="1">
                    <a:solidFill>
                      <a:srgbClr val="102B51"/>
                    </a:solidFill>
                  </a:rPr>
                  <a:t> time</a:t>
                </a:r>
                <a:r>
                  <a:rPr lang="it-IT" sz="16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𝑫𝑶𝑭𝒔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err="1"/>
                  <a:t>number</a:t>
                </a:r>
                <a:r>
                  <a:rPr lang="it-IT" sz="1600"/>
                  <a:t> of </a:t>
                </a:r>
                <a:r>
                  <a:rPr lang="it-IT" sz="1600" b="1">
                    <a:solidFill>
                      <a:srgbClr val="102B51"/>
                    </a:solidFill>
                  </a:rPr>
                  <a:t>Degrees of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freedom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/>
                  <a:t>of the </a:t>
                </a:r>
                <a:r>
                  <a:rPr lang="it-IT" sz="1600" err="1"/>
                  <a:t>mechanical</a:t>
                </a:r>
                <a:r>
                  <a:rPr lang="it-IT" sz="1600"/>
                  <a:t>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𝒓𝒆𝒂𝒍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real</a:t>
                </a:r>
                <a:r>
                  <a:rPr lang="it-IT" sz="1600" b="1">
                    <a:solidFill>
                      <a:srgbClr val="102B51"/>
                    </a:solidFill>
                  </a:rPr>
                  <a:t> position</a:t>
                </a:r>
                <a:r>
                  <a:rPr lang="it-IT" sz="1600"/>
                  <a:t> </a:t>
                </a:r>
                <a:r>
                  <a:rPr lang="it-IT" sz="1600" err="1"/>
                  <a:t>trajectory</a:t>
                </a:r>
                <a:r>
                  <a:rPr lang="it-IT" sz="1600"/>
                  <a:t> of the robot, </a:t>
                </a:r>
                <a:r>
                  <a:rPr lang="it-IT" sz="1600" err="1"/>
                  <a:t>while</a:t>
                </a:r>
                <a:r>
                  <a:rPr lang="it-IT" sz="16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𝒎𝒔𝒓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measured</a:t>
                </a:r>
                <a:r>
                  <a:rPr lang="it-IT" sz="1600" b="1">
                    <a:solidFill>
                      <a:srgbClr val="102B51"/>
                    </a:solidFill>
                  </a:rPr>
                  <a:t> position </a:t>
                </a:r>
                <a:r>
                  <a:rPr lang="it-IT" sz="1600" err="1"/>
                  <a:t>trajectory</a:t>
                </a:r>
                <a:r>
                  <a:rPr lang="it-IT" sz="160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85FF1F-DF01-7893-258F-8536ADA14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20" y="3693492"/>
                <a:ext cx="11061732" cy="604524"/>
              </a:xfrm>
              <a:prstGeom prst="rect">
                <a:avLst/>
              </a:prstGeom>
              <a:blipFill>
                <a:blip r:embed="rId6"/>
                <a:stretch>
                  <a:fillRect l="-331" t="-2020" b="-13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56A66-55BF-D587-1DCB-1CECF7B4E9A2}"/>
              </a:ext>
            </a:extLst>
          </p:cNvPr>
          <p:cNvSpPr txBox="1"/>
          <p:nvPr/>
        </p:nvSpPr>
        <p:spPr>
          <a:xfrm>
            <a:off x="392849" y="4677544"/>
            <a:ext cx="114063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/>
              <a:t>Quantifies the </a:t>
            </a:r>
            <a:r>
              <a:rPr lang="en-GB" sz="1600" b="1">
                <a:solidFill>
                  <a:srgbClr val="102B51"/>
                </a:solidFill>
              </a:rPr>
              <a:t>average position tracking error </a:t>
            </a:r>
            <a:r>
              <a:rPr lang="en-GB" sz="1600"/>
              <a:t>across all joints and time steps. 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Normalizes</a:t>
            </a:r>
            <a:r>
              <a:rPr lang="en-GB" sz="1600"/>
              <a:t> the error by the maximum joint displacement to ensure scale invariance.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/>
              <a:t>Promotes </a:t>
            </a:r>
            <a:r>
              <a:rPr lang="en-GB" sz="1600" b="1">
                <a:solidFill>
                  <a:srgbClr val="102B51"/>
                </a:solidFill>
              </a:rPr>
              <a:t>accurate and consistent trajectory </a:t>
            </a:r>
            <a:r>
              <a:rPr lang="en-GB" sz="1600"/>
              <a:t>tracking across all degrees of freedom.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/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F03D67C5-E94A-1E9C-017A-FF9AA7B96A9A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Cost Function</a:t>
            </a:r>
          </a:p>
        </p:txBody>
      </p:sp>
    </p:spTree>
    <p:extLst>
      <p:ext uri="{BB962C8B-B14F-4D97-AF65-F5344CB8AC3E}">
        <p14:creationId xmlns:p14="http://schemas.microsoft.com/office/powerpoint/2010/main" val="2405033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D80C6-668D-511E-253A-450CC95F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5F0A2E3-9178-B363-A186-D7E46D53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652E86B4-083A-A653-7D43-4C83E3B6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3">
                <a:extLst>
                  <a:ext uri="{FF2B5EF4-FFF2-40B4-BE49-F238E27FC236}">
                    <a16:creationId xmlns:a16="http://schemas.microsoft.com/office/drawing/2014/main" id="{1FF2EEA1-E0D7-FCBF-808C-7897F47E4411}"/>
                  </a:ext>
                </a:extLst>
              </p:cNvPr>
              <p:cNvSpPr txBox="1"/>
              <p:nvPr/>
            </p:nvSpPr>
            <p:spPr>
              <a:xfrm>
                <a:off x="364519" y="1273542"/>
                <a:ext cx="29679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rgbClr val="102B51"/>
                    </a:solidFill>
                  </a:rPr>
                  <a:t> : Mean </a:t>
                </a:r>
                <a:r>
                  <a:rPr lang="it-IT" b="1" err="1">
                    <a:solidFill>
                      <a:srgbClr val="102B51"/>
                    </a:solidFill>
                  </a:rPr>
                  <a:t>Velocity</a:t>
                </a:r>
                <a:r>
                  <a:rPr lang="it-IT" b="1">
                    <a:solidFill>
                      <a:srgbClr val="102B51"/>
                    </a:solidFill>
                  </a:rPr>
                  <a:t> </a:t>
                </a:r>
                <a:r>
                  <a:rPr lang="it-IT" b="1" err="1">
                    <a:solidFill>
                      <a:srgbClr val="102B51"/>
                    </a:solidFill>
                  </a:rPr>
                  <a:t>Error</a:t>
                </a:r>
                <a:endParaRPr lang="it-IT" b="1">
                  <a:solidFill>
                    <a:srgbClr val="102B5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b="1"/>
              </a:p>
            </p:txBody>
          </p:sp>
        </mc:Choice>
        <mc:Fallback xmlns="">
          <p:sp>
            <p:nvSpPr>
              <p:cNvPr id="2" name="CasellaDiTesto 3">
                <a:extLst>
                  <a:ext uri="{FF2B5EF4-FFF2-40B4-BE49-F238E27FC236}">
                    <a16:creationId xmlns:a16="http://schemas.microsoft.com/office/drawing/2014/main" id="{1FF2EEA1-E0D7-FCBF-808C-7897F47E4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19" y="1273542"/>
                <a:ext cx="2967957" cy="646331"/>
              </a:xfrm>
              <a:prstGeom prst="rect">
                <a:avLst/>
              </a:prstGeom>
              <a:blipFill>
                <a:blip r:embed="rId3"/>
                <a:stretch>
                  <a:fillRect l="-1437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218DE-9B47-78B5-5E3B-F7511C664DE8}"/>
                  </a:ext>
                </a:extLst>
              </p:cNvPr>
              <p:cNvSpPr txBox="1"/>
              <p:nvPr/>
            </p:nvSpPr>
            <p:spPr>
              <a:xfrm>
                <a:off x="705345" y="1844018"/>
                <a:ext cx="4963884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𝐷𝑂𝐹𝑠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𝐷𝑂𝐹𝑠</m:t>
                                      </m:r>
                                    </m:sub>
                                  </m:sSub>
                                </m:sup>
                                <m:e>
                                  <m:f>
                                    <m:f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𝑟𝑒𝑎𝑙</m:t>
                                              </m:r>
                                            </m:sub>
                                          </m:sSub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̇"/>
                                                  <m:ctrlP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it-IT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</m:d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𝑚𝑠𝑟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̇"/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𝑟𝑒𝑎𝑙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it-IT" b="0" i="1" smtClean="0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6218DE-9B47-78B5-5E3B-F7511C664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45" y="1844018"/>
                <a:ext cx="4963884" cy="9840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ttore diritto 10">
            <a:extLst>
              <a:ext uri="{FF2B5EF4-FFF2-40B4-BE49-F238E27FC236}">
                <a16:creationId xmlns:a16="http://schemas.microsoft.com/office/drawing/2014/main" id="{70652C60-C058-63D3-C39E-A0AB54EFFF76}"/>
              </a:ext>
            </a:extLst>
          </p:cNvPr>
          <p:cNvCxnSpPr>
            <a:cxnSpLocks/>
          </p:cNvCxnSpPr>
          <p:nvPr/>
        </p:nvCxnSpPr>
        <p:spPr>
          <a:xfrm>
            <a:off x="6102878" y="1192046"/>
            <a:ext cx="0" cy="5013800"/>
          </a:xfrm>
          <a:prstGeom prst="line">
            <a:avLst/>
          </a:prstGeom>
          <a:ln w="19050">
            <a:solidFill>
              <a:srgbClr val="102B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6B17F7-6742-6638-95CA-7D00C96B32B9}"/>
                  </a:ext>
                </a:extLst>
              </p:cNvPr>
              <p:cNvSpPr txBox="1"/>
              <p:nvPr/>
            </p:nvSpPr>
            <p:spPr>
              <a:xfrm>
                <a:off x="7252111" y="1844018"/>
                <a:ext cx="3828999" cy="880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it-I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it-IT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𝑟𝑒𝑎𝑙</m:t>
                                          </m:r>
                                        </m:sub>
                                      </m:sSub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it-I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it-IT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𝑚𝑠𝑟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latin typeface="Cambria Math" panose="02040503050406030204" pitchFamily="18" charset="0"/>
                                            </a:rPr>
                                            <m:t>𝑟𝑒𝑎𝑙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</m:oMath>
                  </m:oMathPara>
                </a14:m>
                <a:endParaRPr lang="en-GB" sz="20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6B17F7-6742-6638-95CA-7D00C96B3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11" y="1844018"/>
                <a:ext cx="3828999" cy="880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olo 2">
            <a:extLst>
              <a:ext uri="{FF2B5EF4-FFF2-40B4-BE49-F238E27FC236}">
                <a16:creationId xmlns:a16="http://schemas.microsoft.com/office/drawing/2014/main" id="{35BF25AF-0BE9-B50D-51A6-6646BEECF9A4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3">
                <a:extLst>
                  <a:ext uri="{FF2B5EF4-FFF2-40B4-BE49-F238E27FC236}">
                    <a16:creationId xmlns:a16="http://schemas.microsoft.com/office/drawing/2014/main" id="{298CC28A-B0D2-854C-71E3-6BAD04874B48}"/>
                  </a:ext>
                </a:extLst>
              </p:cNvPr>
              <p:cNvSpPr txBox="1"/>
              <p:nvPr/>
            </p:nvSpPr>
            <p:spPr>
              <a:xfrm>
                <a:off x="6371379" y="1273542"/>
                <a:ext cx="4286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rgbClr val="102B51"/>
                    </a:solidFill>
                  </a:rPr>
                  <a:t> : Maximum Position </a:t>
                </a:r>
                <a:r>
                  <a:rPr lang="it-IT" b="1" err="1">
                    <a:solidFill>
                      <a:srgbClr val="102B51"/>
                    </a:solidFill>
                  </a:rPr>
                  <a:t>Error</a:t>
                </a:r>
                <a:endParaRPr lang="it-IT" b="1"/>
              </a:p>
            </p:txBody>
          </p:sp>
        </mc:Choice>
        <mc:Fallback xmlns="">
          <p:sp>
            <p:nvSpPr>
              <p:cNvPr id="3" name="CasellaDiTesto 3">
                <a:extLst>
                  <a:ext uri="{FF2B5EF4-FFF2-40B4-BE49-F238E27FC236}">
                    <a16:creationId xmlns:a16="http://schemas.microsoft.com/office/drawing/2014/main" id="{298CC28A-B0D2-854C-71E3-6BAD04874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79" y="1273542"/>
                <a:ext cx="4286459" cy="369332"/>
              </a:xfrm>
              <a:prstGeom prst="rect">
                <a:avLst/>
              </a:prstGeom>
              <a:blipFill>
                <a:blip r:embed="rId6"/>
                <a:stretch>
                  <a:fillRect l="-85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F344E4-B563-7F47-9868-C5A51E1B6453}"/>
                  </a:ext>
                </a:extLst>
              </p:cNvPr>
              <p:cNvSpPr txBox="1"/>
              <p:nvPr/>
            </p:nvSpPr>
            <p:spPr>
              <a:xfrm>
                <a:off x="360425" y="2918260"/>
                <a:ext cx="5653724" cy="113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600" err="1"/>
                  <a:t>where</a:t>
                </a:r>
                <a:r>
                  <a:rPr lang="it-IT" sz="1600"/>
                  <a:t> </a:t>
                </a:r>
                <a:r>
                  <a:rPr lang="it-IT" sz="1600" b="1" i="1">
                    <a:solidFill>
                      <a:srgbClr val="102B51"/>
                    </a:solidFill>
                  </a:rPr>
                  <a:t>t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</a:t>
                </a:r>
                <a:r>
                  <a:rPr lang="it-IT" sz="1600" b="1">
                    <a:solidFill>
                      <a:srgbClr val="102B51"/>
                    </a:solidFill>
                  </a:rPr>
                  <a:t> time</a:t>
                </a:r>
                <a:r>
                  <a:rPr lang="it-IT" sz="16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final</a:t>
                </a:r>
                <a:r>
                  <a:rPr lang="it-IT" sz="1600" b="1">
                    <a:solidFill>
                      <a:srgbClr val="102B51"/>
                    </a:solidFill>
                  </a:rPr>
                  <a:t> time</a:t>
                </a:r>
                <a:r>
                  <a:rPr lang="it-IT" sz="16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𝑫𝑶𝑭𝒔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err="1"/>
                  <a:t>number</a:t>
                </a:r>
                <a:r>
                  <a:rPr lang="it-IT" sz="1600"/>
                  <a:t> of </a:t>
                </a:r>
                <a:r>
                  <a:rPr lang="it-IT" sz="1600" b="1">
                    <a:solidFill>
                      <a:srgbClr val="102B51"/>
                    </a:solidFill>
                  </a:rPr>
                  <a:t>Degrees of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freedom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/>
                  <a:t>of the </a:t>
                </a:r>
                <a:r>
                  <a:rPr lang="it-IT" sz="1600" err="1"/>
                  <a:t>mechanical</a:t>
                </a:r>
                <a:r>
                  <a:rPr lang="it-IT" sz="1600"/>
                  <a:t> system,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it-IT" sz="16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6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</m:acc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𝒓𝒆𝒂𝒍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real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velocity</a:t>
                </a:r>
                <a:r>
                  <a:rPr lang="it-IT" sz="1600"/>
                  <a:t> of the robot, </a:t>
                </a:r>
                <a:r>
                  <a:rPr lang="it-IT" sz="1600" err="1"/>
                  <a:t>while</a:t>
                </a:r>
                <a:r>
                  <a:rPr lang="it-IT" sz="16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it-IT" sz="16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6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</m:acc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𝒎𝒔𝒓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err="1"/>
                  <a:t>measured</a:t>
                </a:r>
                <a:r>
                  <a:rPr lang="it-IT" sz="1600"/>
                  <a:t> </a:t>
                </a:r>
                <a:r>
                  <a:rPr lang="it-IT" sz="1600" err="1"/>
                  <a:t>velocity</a:t>
                </a:r>
                <a:r>
                  <a:rPr lang="it-IT" sz="1600"/>
                  <a:t>.</a:t>
                </a:r>
              </a:p>
              <a:p>
                <a:endParaRPr lang="en-GB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F344E4-B563-7F47-9868-C5A51E1B6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25" y="2918260"/>
                <a:ext cx="5653724" cy="1131335"/>
              </a:xfrm>
              <a:prstGeom prst="rect">
                <a:avLst/>
              </a:prstGeom>
              <a:blipFill>
                <a:blip r:embed="rId7"/>
                <a:stretch>
                  <a:fillRect l="-539" t="-1081" r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089C9D-0B1A-056E-87A5-81F99BE7F983}"/>
                  </a:ext>
                </a:extLst>
              </p:cNvPr>
              <p:cNvSpPr txBox="1"/>
              <p:nvPr/>
            </p:nvSpPr>
            <p:spPr>
              <a:xfrm>
                <a:off x="6371379" y="2908609"/>
                <a:ext cx="559046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600" err="1"/>
                  <a:t>where</a:t>
                </a:r>
                <a:r>
                  <a:rPr lang="it-IT" sz="1600"/>
                  <a:t> </a:t>
                </a:r>
                <a:r>
                  <a:rPr lang="it-IT" sz="1600" b="1" i="1">
                    <a:solidFill>
                      <a:srgbClr val="102B51"/>
                    </a:solidFill>
                  </a:rPr>
                  <a:t>t</a:t>
                </a:r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>
                    <a:solidFill>
                      <a:srgbClr val="102B51"/>
                    </a:solidFill>
                  </a:rPr>
                  <a:t>time</a:t>
                </a:r>
                <a:r>
                  <a:rPr lang="it-IT" sz="160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𝒓𝒆𝒂𝒍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real</a:t>
                </a:r>
                <a:r>
                  <a:rPr lang="it-IT" sz="1600" b="1">
                    <a:solidFill>
                      <a:srgbClr val="102B51"/>
                    </a:solidFill>
                  </a:rPr>
                  <a:t> position</a:t>
                </a:r>
                <a:r>
                  <a:rPr lang="it-IT" sz="1600"/>
                  <a:t> </a:t>
                </a:r>
                <a:r>
                  <a:rPr lang="it-IT" sz="1600" err="1"/>
                  <a:t>trajectory</a:t>
                </a:r>
                <a:r>
                  <a:rPr lang="it-IT" sz="1600"/>
                  <a:t> of the robot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𝒎𝒔𝒓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measured</a:t>
                </a:r>
                <a:r>
                  <a:rPr lang="it-IT" sz="1600" b="1">
                    <a:solidFill>
                      <a:srgbClr val="102B51"/>
                    </a:solidFill>
                  </a:rPr>
                  <a:t> position </a:t>
                </a:r>
                <a:r>
                  <a:rPr lang="it-IT" sz="1600" err="1"/>
                  <a:t>trajectory</a:t>
                </a:r>
                <a:r>
                  <a:rPr lang="it-IT" sz="160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089C9D-0B1A-056E-87A5-81F99BE7F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79" y="2908609"/>
                <a:ext cx="5590465" cy="584775"/>
              </a:xfrm>
              <a:prstGeom prst="rect">
                <a:avLst/>
              </a:prstGeom>
              <a:blipFill>
                <a:blip r:embed="rId8"/>
                <a:stretch>
                  <a:fillRect l="-545" t="-3125" r="-65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73C7D09-210D-EF26-59D8-1697B4ACFBAC}"/>
              </a:ext>
            </a:extLst>
          </p:cNvPr>
          <p:cNvSpPr txBox="1"/>
          <p:nvPr/>
        </p:nvSpPr>
        <p:spPr>
          <a:xfrm>
            <a:off x="360424" y="3964873"/>
            <a:ext cx="554876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/>
              <a:t>Computes the </a:t>
            </a:r>
            <a:r>
              <a:rPr lang="en-GB" sz="1600" b="1">
                <a:solidFill>
                  <a:srgbClr val="102B51"/>
                </a:solidFill>
              </a:rPr>
              <a:t>average velocity </a:t>
            </a:r>
            <a:r>
              <a:rPr lang="en-GB" sz="1600"/>
              <a:t>tracking error across </a:t>
            </a:r>
            <a:r>
              <a:rPr lang="en-GB" sz="1600" b="1">
                <a:solidFill>
                  <a:srgbClr val="102B51"/>
                </a:solidFill>
              </a:rPr>
              <a:t>all joints </a:t>
            </a:r>
            <a:r>
              <a:rPr lang="en-GB" sz="1600"/>
              <a:t>and </a:t>
            </a:r>
            <a:r>
              <a:rPr lang="en-GB" sz="1600" b="1">
                <a:solidFill>
                  <a:srgbClr val="102B51"/>
                </a:solidFill>
              </a:rPr>
              <a:t>time steps</a:t>
            </a:r>
            <a:r>
              <a:rPr lang="en-GB" sz="1600"/>
              <a:t>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Normalizes</a:t>
            </a:r>
            <a:r>
              <a:rPr lang="en-GB" sz="1600"/>
              <a:t> the error using the maximum joint velocity to ensure comparability.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Excludes the initial transient</a:t>
            </a:r>
            <a:r>
              <a:rPr lang="en-GB" sz="1600"/>
              <a:t> (e.g., first 0.5 s) to focus on steady-state tracking performance.</a:t>
            </a:r>
            <a:endParaRPr lang="it-IT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A1414-0A4B-1EFD-B97B-834B84F7DAE5}"/>
              </a:ext>
            </a:extLst>
          </p:cNvPr>
          <p:cNvSpPr txBox="1"/>
          <p:nvPr/>
        </p:nvSpPr>
        <p:spPr>
          <a:xfrm>
            <a:off x="6371378" y="3677221"/>
            <a:ext cx="559045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/>
              <a:t>Captures the </a:t>
            </a:r>
            <a:r>
              <a:rPr lang="en-GB" sz="1600" b="1">
                <a:solidFill>
                  <a:srgbClr val="102B51"/>
                </a:solidFill>
              </a:rPr>
              <a:t>worst-case</a:t>
            </a:r>
            <a:r>
              <a:rPr lang="en-GB" sz="1600"/>
              <a:t> position error among all joints over the entire time horizon. 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/>
              <a:t>Uses </a:t>
            </a:r>
            <a:r>
              <a:rPr lang="en-GB" sz="1600" b="1">
                <a:solidFill>
                  <a:srgbClr val="102B51"/>
                </a:solidFill>
              </a:rPr>
              <a:t>normalized</a:t>
            </a:r>
            <a:r>
              <a:rPr lang="en-GB" sz="1600"/>
              <a:t> error to account for differences in joint scales.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Penalizes large deviations</a:t>
            </a:r>
            <a:r>
              <a:rPr lang="en-GB" sz="1600"/>
              <a:t> to ensure reliability in critical moments of the trajectory.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US" sz="1600"/>
              <a:t>An </a:t>
            </a:r>
            <a:r>
              <a:rPr lang="en-US" sz="1600" b="1">
                <a:solidFill>
                  <a:srgbClr val="102B51"/>
                </a:solidFill>
              </a:rPr>
              <a:t>instability watchdog </a:t>
            </a:r>
            <a:r>
              <a:rPr lang="en-US" sz="1600"/>
              <a:t>halts execution upon error divergence to ensure safety</a:t>
            </a:r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1782736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8F9FE-16EA-B61A-94EC-670A767C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75DEB5E2-F90D-F937-E226-FEE2CFEE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1CB938-CBFD-2851-7113-9CDFF2542CF2}"/>
                  </a:ext>
                </a:extLst>
              </p:cNvPr>
              <p:cNvSpPr txBox="1"/>
              <p:nvPr/>
            </p:nvSpPr>
            <p:spPr>
              <a:xfrm>
                <a:off x="4415410" y="1308740"/>
                <a:ext cx="5731480" cy="984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𝜈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𝑣𝑖𝑜𝑙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r>
                                            <a:rPr lang="it-IT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𝑚𝑎𝑥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GB" sz="20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1CB938-CBFD-2851-7113-9CDFF2542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410" y="1308740"/>
                <a:ext cx="5731480" cy="9841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8F328E-4B2F-FAA9-AEE1-1FC36AEE994C}"/>
                  </a:ext>
                </a:extLst>
              </p:cNvPr>
              <p:cNvSpPr txBox="1"/>
              <p:nvPr/>
            </p:nvSpPr>
            <p:spPr>
              <a:xfrm>
                <a:off x="595215" y="2292920"/>
                <a:ext cx="11314884" cy="9766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𝐷𝑂𝐹𝑠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</m:t>
                          </m:r>
                          <m:sSubSup>
                            <m:sSubSup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𝑣𝑖𝑜𝑙</m:t>
                              </m:r>
                            </m:sup>
                          </m:sSub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sSubSup>
                        <m:sSubSup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𝑣𝑖𝑜𝑙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𝑣𝑖𝑜𝑙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,+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𝑣𝑖𝑜𝑙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</m:t>
                      </m:r>
                      <m:d>
                        <m:dPr>
                          <m:begChr m:val="{"/>
                          <m:endChr m:val="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𝑣𝑖𝑜𝑙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,+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𝑃𝐼𝐷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𝑚𝑎𝑥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,0)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𝑣𝑖𝑜𝑙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</m:t>
                                  </m:r>
                                </m:sup>
                              </m:sSubSup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𝑚𝑖𝑛</m:t>
                                  </m:r>
                                </m:sup>
                              </m:sSubSup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𝑃𝐼𝐷</m:t>
                                  </m:r>
                                </m:sup>
                              </m:sSubSup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,0)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8F328E-4B2F-FAA9-AEE1-1FC36AEE9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15" y="2292920"/>
                <a:ext cx="11314884" cy="976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8A1480-34ED-0176-AD81-E199F1D508EA}"/>
                  </a:ext>
                </a:extLst>
              </p:cNvPr>
              <p:cNvSpPr txBox="1"/>
              <p:nvPr/>
            </p:nvSpPr>
            <p:spPr>
              <a:xfrm>
                <a:off x="595215" y="3350125"/>
                <a:ext cx="11056011" cy="604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t-IT" sz="1600" err="1"/>
                  <a:t>where</a:t>
                </a:r>
                <a:r>
                  <a:rPr lang="it-IT" sz="1600"/>
                  <a:t> </a:t>
                </a:r>
                <a:r>
                  <a:rPr lang="it-IT" sz="1600" b="1" i="1">
                    <a:solidFill>
                      <a:srgbClr val="102B51"/>
                    </a:solidFill>
                  </a:rPr>
                  <a:t>t</a:t>
                </a:r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>
                    <a:solidFill>
                      <a:srgbClr val="102B51"/>
                    </a:solidFill>
                  </a:rPr>
                  <a:t>time</a:t>
                </a:r>
                <a:r>
                  <a:rPr lang="it-IT" sz="16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final</a:t>
                </a:r>
                <a:r>
                  <a:rPr lang="it-IT" sz="1600" b="1">
                    <a:solidFill>
                      <a:srgbClr val="102B51"/>
                    </a:solidFill>
                  </a:rPr>
                  <a:t> time</a:t>
                </a:r>
                <a:r>
                  <a:rPr lang="it-IT" sz="16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𝑫𝑶𝑭𝒔</m:t>
                        </m:r>
                      </m:sub>
                    </m:sSub>
                  </m:oMath>
                </a14:m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err="1"/>
                  <a:t>number</a:t>
                </a:r>
                <a:r>
                  <a:rPr lang="it-IT" sz="1600"/>
                  <a:t> of </a:t>
                </a:r>
                <a:r>
                  <a:rPr lang="it-IT" sz="1600" b="1">
                    <a:solidFill>
                      <a:srgbClr val="102B51"/>
                    </a:solidFill>
                  </a:rPr>
                  <a:t>Degrees of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freedom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/>
                  <a:t>of the </a:t>
                </a:r>
                <a:r>
                  <a:rPr lang="it-IT" sz="1600" err="1"/>
                  <a:t>mechanical</a:t>
                </a:r>
                <a:r>
                  <a:rPr lang="it-IT" sz="1600"/>
                  <a:t> system, </a:t>
                </a:r>
                <a:r>
                  <a:rPr lang="el-GR" sz="1600" b="1">
                    <a:solidFill>
                      <a:srgbClr val="102B51"/>
                    </a:solidFill>
                  </a:rPr>
                  <a:t>τ</a:t>
                </a:r>
                <a:r>
                  <a:rPr lang="it-IT" sz="1600" b="1">
                    <a:solidFill>
                      <a:srgbClr val="102B51"/>
                    </a:solidFill>
                  </a:rPr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>
                    <a:solidFill>
                      <a:srgbClr val="102B51"/>
                    </a:solidFill>
                  </a:rPr>
                  <a:t>torque of the joint</a:t>
                </a:r>
                <a:r>
                  <a:rPr lang="it-IT" sz="1600"/>
                  <a:t> and </a:t>
                </a:r>
                <a:r>
                  <a:rPr lang="el-GR" sz="1600" b="1">
                    <a:solidFill>
                      <a:srgbClr val="102B51"/>
                    </a:solidFill>
                  </a:rPr>
                  <a:t>ν</a:t>
                </a:r>
                <a:r>
                  <a:rPr lang="it-IT" sz="1600"/>
                  <a:t> </a:t>
                </a:r>
                <a:r>
                  <a:rPr lang="it-IT" sz="1600" err="1"/>
                  <a:t>is</a:t>
                </a:r>
                <a:r>
                  <a:rPr lang="it-IT" sz="1600"/>
                  <a:t> the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number</a:t>
                </a:r>
                <a:r>
                  <a:rPr lang="it-IT" sz="1600" b="1">
                    <a:solidFill>
                      <a:srgbClr val="102B51"/>
                    </a:solidFill>
                  </a:rPr>
                  <a:t> of </a:t>
                </a:r>
                <a:r>
                  <a:rPr lang="it-IT" sz="1600" b="1" err="1">
                    <a:solidFill>
                      <a:srgbClr val="102B51"/>
                    </a:solidFill>
                  </a:rPr>
                  <a:t>violations</a:t>
                </a:r>
                <a:r>
                  <a:rPr lang="it-IT" sz="1600"/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8A1480-34ED-0176-AD81-E199F1D50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15" y="3350125"/>
                <a:ext cx="11056011" cy="604524"/>
              </a:xfrm>
              <a:prstGeom prst="rect">
                <a:avLst/>
              </a:prstGeom>
              <a:blipFill>
                <a:blip r:embed="rId5"/>
                <a:stretch>
                  <a:fillRect l="-331" t="-2020" r="-331" b="-13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olo 2">
            <a:extLst>
              <a:ext uri="{FF2B5EF4-FFF2-40B4-BE49-F238E27FC236}">
                <a16:creationId xmlns:a16="http://schemas.microsoft.com/office/drawing/2014/main" id="{B8130C56-317B-AA1F-B6A9-853B546B37F9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3">
                <a:extLst>
                  <a:ext uri="{FF2B5EF4-FFF2-40B4-BE49-F238E27FC236}">
                    <a16:creationId xmlns:a16="http://schemas.microsoft.com/office/drawing/2014/main" id="{5BA25ECA-A06D-4440-F330-1CFD10531C98}"/>
                  </a:ext>
                </a:extLst>
              </p:cNvPr>
              <p:cNvSpPr txBox="1"/>
              <p:nvPr/>
            </p:nvSpPr>
            <p:spPr>
              <a:xfrm>
                <a:off x="364519" y="1273542"/>
                <a:ext cx="3662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b="1">
                    <a:solidFill>
                      <a:srgbClr val="102B51"/>
                    </a:solidFill>
                  </a:rPr>
                  <a:t> : Torque </a:t>
                </a:r>
                <a:r>
                  <a:rPr lang="it-IT" b="1" err="1">
                    <a:solidFill>
                      <a:srgbClr val="102B51"/>
                    </a:solidFill>
                  </a:rPr>
                  <a:t>Limitation</a:t>
                </a:r>
                <a:endParaRPr lang="it-IT" b="1">
                  <a:solidFill>
                    <a:srgbClr val="102B5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it-IT" b="1"/>
              </a:p>
            </p:txBody>
          </p:sp>
        </mc:Choice>
        <mc:Fallback xmlns="">
          <p:sp>
            <p:nvSpPr>
              <p:cNvPr id="3" name="CasellaDiTesto 3">
                <a:extLst>
                  <a:ext uri="{FF2B5EF4-FFF2-40B4-BE49-F238E27FC236}">
                    <a16:creationId xmlns:a16="http://schemas.microsoft.com/office/drawing/2014/main" id="{5BA25ECA-A06D-4440-F330-1CFD10531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19" y="1273542"/>
                <a:ext cx="3662505" cy="646331"/>
              </a:xfrm>
              <a:prstGeom prst="rect">
                <a:avLst/>
              </a:prstGeom>
              <a:blipFill>
                <a:blip r:embed="rId6"/>
                <a:stretch>
                  <a:fillRect l="-1165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ABB1E69-A49D-D732-343C-84B733B66A23}"/>
              </a:ext>
            </a:extLst>
          </p:cNvPr>
          <p:cNvSpPr txBox="1"/>
          <p:nvPr/>
        </p:nvSpPr>
        <p:spPr>
          <a:xfrm>
            <a:off x="595215" y="4253714"/>
            <a:ext cx="110560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Evaluates whether the torques generated by the PID controller exceed the admissible joint limits</a:t>
            </a:r>
            <a:r>
              <a:rPr lang="en-GB" sz="1600">
                <a:solidFill>
                  <a:srgbClr val="102B51"/>
                </a:solidFill>
              </a:rPr>
              <a:t> </a:t>
            </a:r>
            <a:r>
              <a:rPr lang="en-GB" sz="1600"/>
              <a:t>specified in the Panda robot datasheet, for every joint and time step..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/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Penalizes both upper and lower bound violations</a:t>
            </a:r>
            <a:r>
              <a:rPr lang="en-GB" sz="1600">
                <a:solidFill>
                  <a:srgbClr val="102B51"/>
                </a:solidFill>
              </a:rPr>
              <a:t> </a:t>
            </a:r>
            <a:r>
              <a:rPr lang="en-GB" sz="1600"/>
              <a:t>by summing the magnitudes of torque values that lie outside the allowed range.</a:t>
            </a: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endParaRPr lang="en-GB" sz="1000">
              <a:solidFill>
                <a:srgbClr val="102B51"/>
              </a:solidFill>
            </a:endParaRPr>
          </a:p>
          <a:p>
            <a:pPr marL="285750" indent="-285750">
              <a:buClr>
                <a:srgbClr val="102B51"/>
              </a:buClr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rgbClr val="102B51"/>
                </a:solidFill>
              </a:rPr>
              <a:t>Encourages feasible and safe control behaviour</a:t>
            </a:r>
            <a:r>
              <a:rPr lang="en-GB" sz="1600">
                <a:solidFill>
                  <a:srgbClr val="102B51"/>
                </a:solidFill>
              </a:rPr>
              <a:t>, </a:t>
            </a:r>
            <a:r>
              <a:rPr lang="en-GB" sz="1600"/>
              <a:t>ensuring that the optimized controller respects the physical constraints of the actuators.</a:t>
            </a:r>
            <a:endParaRPr lang="it-IT" sz="1600"/>
          </a:p>
        </p:txBody>
      </p:sp>
    </p:spTree>
    <p:extLst>
      <p:ext uri="{BB962C8B-B14F-4D97-AF65-F5344CB8AC3E}">
        <p14:creationId xmlns:p14="http://schemas.microsoft.com/office/powerpoint/2010/main" val="1924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EC5FA-BCE4-C1DD-41C1-7D22C9F4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907B124D-B45C-A71A-CEA3-C6A456F3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dirty="0" err="1"/>
              <a:t>Politecnico</a:t>
            </a:r>
            <a:r>
              <a:rPr lang="en-US" noProof="0" dirty="0"/>
              <a:t> di Milano – Machine Learning for Mechanical Systems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EBF26CF-905B-C14D-2B06-DEA63E186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178" y="1165232"/>
            <a:ext cx="404033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Nonlinear cost functions selectively penalize </a:t>
            </a:r>
            <a:r>
              <a:rPr lang="en-US" sz="1600" b="1" dirty="0">
                <a:solidFill>
                  <a:srgbClr val="102B51"/>
                </a:solidFill>
              </a:rPr>
              <a:t>performance violations</a:t>
            </a:r>
            <a:endParaRPr lang="it-IT" sz="1600" b="1" dirty="0">
              <a:solidFill>
                <a:srgbClr val="102B5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Each cost term increases </a:t>
            </a:r>
            <a:r>
              <a:rPr lang="en-US" sz="1600" b="1" dirty="0">
                <a:solidFill>
                  <a:srgbClr val="102B51"/>
                </a:solidFill>
              </a:rPr>
              <a:t>gradually</a:t>
            </a:r>
            <a:r>
              <a:rPr lang="en-US" sz="1600" dirty="0"/>
              <a:t> beyond a defined threshold, ensuring small errors have limited impact while larger deviations are penalized more severely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</a:pPr>
            <a:endParaRPr 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102B51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The torque violation cost exhibits the </a:t>
            </a:r>
            <a:r>
              <a:rPr lang="en-US" sz="1600" b="1" dirty="0">
                <a:solidFill>
                  <a:srgbClr val="102B51"/>
                </a:solidFill>
              </a:rPr>
              <a:t>steepest slope</a:t>
            </a:r>
            <a:r>
              <a:rPr lang="en-US" sz="1600" dirty="0"/>
              <a:t>, emphasizing actuator constraints without requiring additional manual weighting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EE44DF92-C042-64AE-FDAD-D2BB653A711F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864000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rgbClr val="102B51"/>
                </a:solidFill>
              </a:rPr>
              <a:t>Cost Function</a:t>
            </a:r>
          </a:p>
        </p:txBody>
      </p:sp>
      <p:pic>
        <p:nvPicPr>
          <p:cNvPr id="15" name="Immagine 1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934FE27-3F95-84ED-7B9C-D94F7543E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444" y="1117424"/>
            <a:ext cx="7138218" cy="3884899"/>
          </a:xfrm>
          <a:prstGeom prst="rect">
            <a:avLst/>
          </a:prstGeom>
        </p:spPr>
      </p:pic>
      <p:sp>
        <p:nvSpPr>
          <p:cNvPr id="4" name="TextBox 30">
            <a:extLst>
              <a:ext uri="{FF2B5EF4-FFF2-40B4-BE49-F238E27FC236}">
                <a16:creationId xmlns:a16="http://schemas.microsoft.com/office/drawing/2014/main" id="{50F9ED5B-4157-FFFA-9323-D307EE810D41}"/>
              </a:ext>
            </a:extLst>
          </p:cNvPr>
          <p:cNvSpPr txBox="1"/>
          <p:nvPr/>
        </p:nvSpPr>
        <p:spPr>
          <a:xfrm>
            <a:off x="443179" y="5214282"/>
            <a:ext cx="11305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The </a:t>
            </a:r>
            <a:r>
              <a:rPr lang="en-US" sz="1600" b="1" dirty="0">
                <a:solidFill>
                  <a:srgbClr val="213652"/>
                </a:solidFill>
              </a:rPr>
              <a:t>cost function </a:t>
            </a:r>
            <a:r>
              <a:rPr lang="en-US" sz="1600" dirty="0"/>
              <a:t>evaluates the performance by dynamically changing the weights of each component: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665DA1-C692-CF75-CD09-FD908619AB89}"/>
                  </a:ext>
                </a:extLst>
              </p:cNvPr>
              <p:cNvSpPr txBox="1"/>
              <p:nvPr/>
            </p:nvSpPr>
            <p:spPr>
              <a:xfrm>
                <a:off x="1336463" y="5664720"/>
                <a:ext cx="10097729" cy="3575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1" i="1" smtClean="0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 smtClean="0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it-IT" sz="2000" b="1" i="1" smtClean="0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it-IT" sz="2000" b="1" i="1" smtClean="0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it-IT" sz="2000" b="1" i="1" smtClean="0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𝒎𝒆𝒂𝒏</m:t>
                            </m:r>
                          </m:sub>
                        </m:sSub>
                      </m:e>
                    </m:d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𝒎𝒆𝒂𝒏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𝒑𝒐𝒔</m:t>
                        </m:r>
                      </m:sub>
                    </m:sSub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it-IT" sz="2000" b="1" i="1" smtClean="0">
                                    <a:solidFill>
                                      <a:srgbClr val="102B5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sz="2000" b="1" i="1" smtClean="0">
                                    <a:solidFill>
                                      <a:srgbClr val="102B5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</m:acc>
                            <m:r>
                              <a:rPr lang="it-IT" sz="2000" b="1" i="1" smtClean="0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2000" b="1" i="1">
                                <a:solidFill>
                                  <a:srgbClr val="102B51"/>
                                </a:solidFill>
                                <a:latin typeface="Cambria Math" panose="02040503050406030204" pitchFamily="18" charset="0"/>
                              </a:rPr>
                              <m:t>𝒎𝒆𝒂𝒏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𝒎𝒆𝒂𝒏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𝒗𝒆𝒍</m:t>
                        </m:r>
                      </m:sub>
                    </m:sSub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  <m:r>
                      <a:rPr lang="it-IT" sz="2000" b="1" i="1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sSub>
                      <m:sSubPr>
                        <m:ctrlP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𝒑𝒆𝒂𝒌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𝒑𝒐𝒔</m:t>
                        </m:r>
                      </m:sub>
                    </m:sSub>
                    <m:r>
                      <a:rPr lang="it-IT" sz="2000" b="1" i="1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2000" b="1" dirty="0">
                    <a:solidFill>
                      <a:srgbClr val="102B5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it-IT" sz="2000" b="1" i="1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1" i="1" smtClean="0">
                        <a:solidFill>
                          <a:srgbClr val="102B5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it-IT" sz="2000" b="1" i="1">
                        <a:solidFill>
                          <a:srgbClr val="102B5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sSub>
                      <m:sSubPr>
                        <m:ctrlP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it-IT" sz="20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</a:rPr>
                          <m:t>𝒕𝒐𝒓𝒒𝒖𝒆</m:t>
                        </m:r>
                      </m:sub>
                    </m:sSub>
                  </m:oMath>
                </a14:m>
                <a:endParaRPr lang="en-GB" sz="2000" b="1" dirty="0">
                  <a:solidFill>
                    <a:srgbClr val="102B5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665DA1-C692-CF75-CD09-FD908619A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463" y="5664720"/>
                <a:ext cx="10097729" cy="357534"/>
              </a:xfrm>
              <a:prstGeom prst="rect">
                <a:avLst/>
              </a:prstGeom>
              <a:blipFill>
                <a:blip r:embed="rId4"/>
                <a:stretch>
                  <a:fillRect l="-1086" b="-237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07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34E9C-6CCE-8F0D-4AB3-D88729E9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90F4ECE-A17F-FD08-1DDF-EAFEF2F4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A85E63A8-6912-5BC6-9765-36CDBA66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BDB73BE-E506-99BE-884A-7C58DED532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BDEBBB-F3E1-7230-A01D-D136BB5BF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783709"/>
              </p:ext>
            </p:extLst>
          </p:nvPr>
        </p:nvGraphicFramePr>
        <p:xfrm>
          <a:off x="601359" y="1699135"/>
          <a:ext cx="10989281" cy="2514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049">
                  <a:extLst>
                    <a:ext uri="{9D8B030D-6E8A-4147-A177-3AD203B41FA5}">
                      <a16:colId xmlns:a16="http://schemas.microsoft.com/office/drawing/2014/main" val="2049266148"/>
                    </a:ext>
                  </a:extLst>
                </a:gridCol>
                <a:gridCol w="4394622">
                  <a:extLst>
                    <a:ext uri="{9D8B030D-6E8A-4147-A177-3AD203B41FA5}">
                      <a16:colId xmlns:a16="http://schemas.microsoft.com/office/drawing/2014/main" val="2095846118"/>
                    </a:ext>
                  </a:extLst>
                </a:gridCol>
                <a:gridCol w="1727978">
                  <a:extLst>
                    <a:ext uri="{9D8B030D-6E8A-4147-A177-3AD203B41FA5}">
                      <a16:colId xmlns:a16="http://schemas.microsoft.com/office/drawing/2014/main" val="1468648619"/>
                    </a:ext>
                  </a:extLst>
                </a:gridCol>
                <a:gridCol w="2919632">
                  <a:extLst>
                    <a:ext uri="{9D8B030D-6E8A-4147-A177-3AD203B41FA5}">
                      <a16:colId xmlns:a16="http://schemas.microsoft.com/office/drawing/2014/main" val="1898609241"/>
                    </a:ext>
                  </a:extLst>
                </a:gridCol>
              </a:tblGrid>
              <a:tr h="643356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Number of evaluation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Aquisition function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Best objective</a:t>
                      </a:r>
                      <a:endParaRPr lang="en-GB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Best objective at iteration</a:t>
                      </a:r>
                      <a:endParaRPr lang="en-GB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823056"/>
                  </a:ext>
                </a:extLst>
              </a:tr>
              <a:tr h="375190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700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‘expected_improvemnt_plus’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74.677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582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43720"/>
                  </a:ext>
                </a:extLst>
              </a:tr>
              <a:tr h="370051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700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‘expecxted_improvement’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84.5222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277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100841"/>
                  </a:ext>
                </a:extLst>
              </a:tr>
              <a:tr h="375190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700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‘lower_confidence_bound’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67.8735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109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222973"/>
                  </a:ext>
                </a:extLst>
              </a:tr>
              <a:tr h="375190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700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‘expected_improvement_per_second’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55.7645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274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86919"/>
                  </a:ext>
                </a:extLst>
              </a:tr>
              <a:tr h="375190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700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‘probability_of_improvement’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73.2984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589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376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746642B6-9C5D-2BCB-52EA-0D0BE5296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519" y="4490506"/>
                <a:ext cx="11605245" cy="1588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/>
                  <a:t>This table summarizes the preliminary results of PID gain optimization for the Franka Emika Panda robotic arm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/>
                  <a:t>All </a:t>
                </a:r>
                <a:r>
                  <a:rPr lang="en-US" sz="1600" b="1">
                    <a:solidFill>
                      <a:srgbClr val="102B51"/>
                    </a:solidFill>
                  </a:rPr>
                  <a:t>21 parameters</a:t>
                </a:r>
                <a:r>
                  <a:rPr lang="en-US" sz="1600">
                    <a:solidFill>
                      <a:srgbClr val="102B51"/>
                    </a:solidFill>
                  </a:rPr>
                  <a:t> </a:t>
                </a:r>
                <a:r>
                  <a:rPr lang="en-US" sz="160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600"/>
                  <a:t> for each of the 7 joints) were </a:t>
                </a:r>
                <a:r>
                  <a:rPr lang="en-US" sz="1600" b="1">
                    <a:solidFill>
                      <a:srgbClr val="102B51"/>
                    </a:solidFill>
                  </a:rPr>
                  <a:t>jointly optimized</a:t>
                </a:r>
                <a:r>
                  <a:rPr lang="en-US" sz="1600">
                    <a:solidFill>
                      <a:srgbClr val="102B51"/>
                    </a:solidFill>
                  </a:rPr>
                  <a:t> </a:t>
                </a:r>
                <a:r>
                  <a:rPr lang="en-US" sz="1600"/>
                  <a:t>in a single Bayesian optimization run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/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/>
                  <a:t>The </a:t>
                </a:r>
                <a:r>
                  <a:rPr lang="en-US" sz="1600" b="1">
                    <a:solidFill>
                      <a:srgbClr val="102B51"/>
                    </a:solidFill>
                  </a:rPr>
                  <a:t>acquisition function was varied</a:t>
                </a:r>
                <a:r>
                  <a:rPr lang="en-US" sz="1600">
                    <a:solidFill>
                      <a:srgbClr val="102B51"/>
                    </a:solidFill>
                  </a:rPr>
                  <a:t> </a:t>
                </a:r>
                <a:r>
                  <a:rPr lang="en-US" sz="1600"/>
                  <a:t>across experiments, while the </a:t>
                </a:r>
                <a:r>
                  <a:rPr lang="en-US" sz="1600" b="1">
                    <a:solidFill>
                      <a:srgbClr val="102B51"/>
                    </a:solidFill>
                  </a:rPr>
                  <a:t>kernel remained fixed</a:t>
                </a:r>
                <a:r>
                  <a:rPr lang="en-US" sz="1600"/>
                  <a:t>, due to MATLAB's limitation in allowing direct kernel customization within the </a:t>
                </a:r>
                <a:r>
                  <a:rPr lang="en-US" sz="1600" err="1">
                    <a:latin typeface="Arial" panose="020B0604020202020204" pitchFamily="34" charset="0"/>
                    <a:cs typeface="Arial" panose="020B0604020202020204" pitchFamily="34" charset="0"/>
                  </a:rPr>
                  <a:t>bayesopt</a:t>
                </a:r>
                <a:r>
                  <a:rPr lang="en-US" sz="1600"/>
                  <a:t> environment</a:t>
                </a:r>
                <a:endParaRPr kumimoji="0" lang="en-US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746642B6-9C5D-2BCB-52EA-0D0BE52965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19" y="4490506"/>
                <a:ext cx="11605245" cy="1588640"/>
              </a:xfrm>
              <a:prstGeom prst="rect">
                <a:avLst/>
              </a:prstGeom>
              <a:blipFill>
                <a:blip r:embed="rId4"/>
                <a:stretch>
                  <a:fillRect l="-315" t="-769" b="-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olo 2">
            <a:extLst>
              <a:ext uri="{FF2B5EF4-FFF2-40B4-BE49-F238E27FC236}">
                <a16:creationId xmlns:a16="http://schemas.microsoft.com/office/drawing/2014/main" id="{AC95CE04-F15D-1C64-CF3F-D63AB95D19DA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10461774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02B51"/>
                </a:solidFill>
                <a:latin typeface="Aptos"/>
              </a:rPr>
              <a:t>Acquisition</a:t>
            </a:r>
            <a:r>
              <a:rPr lang="it-IT">
                <a:solidFill>
                  <a:srgbClr val="102B51"/>
                </a:solidFill>
                <a:latin typeface="Aptos"/>
              </a:rPr>
              <a:t> </a:t>
            </a:r>
            <a:r>
              <a:rPr lang="it-IT" err="1">
                <a:solidFill>
                  <a:srgbClr val="102B51"/>
                </a:solidFill>
                <a:latin typeface="Aptos"/>
              </a:rPr>
              <a:t>Function</a:t>
            </a:r>
            <a:r>
              <a:rPr lang="it-IT">
                <a:solidFill>
                  <a:srgbClr val="102B51"/>
                </a:solidFill>
                <a:latin typeface="Aptos"/>
              </a:rPr>
              <a:t> </a:t>
            </a:r>
            <a:r>
              <a:rPr lang="it-IT" err="1">
                <a:solidFill>
                  <a:srgbClr val="102B51"/>
                </a:solidFill>
                <a:latin typeface="Aptos"/>
              </a:rPr>
              <a:t>Comparison</a:t>
            </a:r>
            <a:r>
              <a:rPr lang="it-IT">
                <a:solidFill>
                  <a:srgbClr val="102B51"/>
                </a:solidFill>
                <a:latin typeface="Aptos"/>
              </a:rPr>
              <a:t> </a:t>
            </a:r>
            <a:endParaRPr lang="en-US">
              <a:solidFill>
                <a:srgbClr val="102B51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B6B467F-EBB6-AA14-4A64-E0BCBD54F41E}"/>
              </a:ext>
            </a:extLst>
          </p:cNvPr>
          <p:cNvSpPr txBox="1"/>
          <p:nvPr/>
        </p:nvSpPr>
        <p:spPr>
          <a:xfrm>
            <a:off x="364519" y="1185206"/>
            <a:ext cx="8540941" cy="375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/>
              <a:t> </a:t>
            </a:r>
            <a:r>
              <a:rPr lang="en-US" sz="1600"/>
              <a:t>Evaluation of Bayesian Optimization </a:t>
            </a:r>
            <a:r>
              <a:rPr lang="en-US" sz="1600" b="1">
                <a:solidFill>
                  <a:srgbClr val="102B51"/>
                </a:solidFill>
              </a:rPr>
              <a:t>Acquisition Functions</a:t>
            </a:r>
            <a:endParaRPr lang="it-IT" b="1">
              <a:solidFill>
                <a:srgbClr val="102B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271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76D58-3B33-CD6F-7B0E-CC6F03D61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56521689-EEA7-C98A-34CA-474E5DBB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C31F5681-5980-F6D6-150D-CBECD5746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A7BFE368-E7B2-09A5-DD9F-452C828032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31C90F-AD01-BBEF-5526-F0331D24787C}"/>
              </a:ext>
            </a:extLst>
          </p:cNvPr>
          <p:cNvSpPr txBox="1"/>
          <p:nvPr/>
        </p:nvSpPr>
        <p:spPr>
          <a:xfrm>
            <a:off x="366899" y="4905592"/>
            <a:ext cx="115733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With the best-performing acquisition function, the optimized controller achieved </a:t>
            </a:r>
            <a:r>
              <a:rPr lang="en-US" sz="1600" b="1">
                <a:solidFill>
                  <a:srgbClr val="102B51"/>
                </a:solidFill>
              </a:rPr>
              <a:t>satisfactory performance</a:t>
            </a:r>
            <a:r>
              <a:rPr lang="en-US" sz="1600"/>
              <a:t>, maintaining joint position errors </a:t>
            </a:r>
            <a:r>
              <a:rPr lang="en-US" sz="1600" b="1">
                <a:solidFill>
                  <a:srgbClr val="102B51"/>
                </a:solidFill>
              </a:rPr>
              <a:t>below 3°</a:t>
            </a:r>
            <a:r>
              <a:rPr lang="en-US" sz="1600"/>
              <a:t> throughout the entire simulation</a:t>
            </a:r>
          </a:p>
          <a:p>
            <a:br>
              <a:rPr lang="en-GB" sz="1600"/>
            </a:br>
            <a:r>
              <a:rPr lang="en-US" sz="1600"/>
              <a:t>The torque profiles exhibit an </a:t>
            </a:r>
            <a:r>
              <a:rPr lang="en-US" sz="1600" b="1">
                <a:solidFill>
                  <a:srgbClr val="102B51"/>
                </a:solidFill>
              </a:rPr>
              <a:t>initial peak </a:t>
            </a:r>
            <a:r>
              <a:rPr lang="en-US" sz="1600"/>
              <a:t>due to the controller’s response to non-zero initial velocities, but </a:t>
            </a:r>
            <a:r>
              <a:rPr lang="en-US" sz="1600" b="1">
                <a:solidFill>
                  <a:srgbClr val="102B51"/>
                </a:solidFill>
              </a:rPr>
              <a:t>quickly stabilize</a:t>
            </a:r>
            <a:r>
              <a:rPr lang="en-US" sz="1600"/>
              <a:t> as the system converges toward the desired trajectory</a:t>
            </a:r>
            <a:endParaRPr lang="en-GB" sz="1600"/>
          </a:p>
        </p:txBody>
      </p:sp>
      <p:sp>
        <p:nvSpPr>
          <p:cNvPr id="7" name="Titolo 2">
            <a:extLst>
              <a:ext uri="{FF2B5EF4-FFF2-40B4-BE49-F238E27FC236}">
                <a16:creationId xmlns:a16="http://schemas.microsoft.com/office/drawing/2014/main" id="{8DCF667F-5FB8-2107-5B4D-F895E9E7E885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10461774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02B51"/>
                </a:solidFill>
                <a:latin typeface="Aptos"/>
              </a:rPr>
              <a:t>Solution 1: 21 </a:t>
            </a:r>
            <a:r>
              <a:rPr lang="it-IT" err="1">
                <a:solidFill>
                  <a:srgbClr val="102B51"/>
                </a:solidFill>
                <a:latin typeface="Aptos"/>
              </a:rPr>
              <a:t>Parameters</a:t>
            </a:r>
            <a:r>
              <a:rPr lang="it-IT">
                <a:solidFill>
                  <a:srgbClr val="102B51"/>
                </a:solidFill>
                <a:latin typeface="Aptos"/>
              </a:rPr>
              <a:t> </a:t>
            </a:r>
            <a:r>
              <a:rPr lang="it-IT" err="1">
                <a:solidFill>
                  <a:srgbClr val="102B51"/>
                </a:solidFill>
                <a:latin typeface="Aptos"/>
              </a:rPr>
              <a:t>Optimization</a:t>
            </a:r>
            <a:endParaRPr lang="en-US">
              <a:solidFill>
                <a:srgbClr val="102B51"/>
              </a:solidFill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D237E685-138E-4E7C-5301-0EB7B569B943}"/>
              </a:ext>
            </a:extLst>
          </p:cNvPr>
          <p:cNvSpPr txBox="1"/>
          <p:nvPr/>
        </p:nvSpPr>
        <p:spPr>
          <a:xfrm>
            <a:off x="364520" y="1125545"/>
            <a:ext cx="77931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Validation results for the </a:t>
            </a:r>
            <a:r>
              <a:rPr lang="en-US" sz="1600" b="1">
                <a:solidFill>
                  <a:srgbClr val="102B51"/>
                </a:solidFill>
              </a:rPr>
              <a:t>best acquisition function </a:t>
            </a:r>
            <a:r>
              <a:rPr lang="en-US" sz="1600"/>
              <a:t>setting:</a:t>
            </a:r>
            <a:endParaRPr lang="en-GB" sz="160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E7836AE-A795-B68A-0BF0-24B761431ADF}"/>
              </a:ext>
            </a:extLst>
          </p:cNvPr>
          <p:cNvSpPr txBox="1"/>
          <p:nvPr/>
        </p:nvSpPr>
        <p:spPr>
          <a:xfrm>
            <a:off x="364520" y="4585998"/>
            <a:ext cx="7374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02B51"/>
                </a:solidFill>
              </a:rPr>
              <a:t>Best </a:t>
            </a:r>
            <a:r>
              <a:rPr lang="it-IT" sz="1600" b="1" dirty="0" err="1">
                <a:solidFill>
                  <a:srgbClr val="102B51"/>
                </a:solidFill>
              </a:rPr>
              <a:t>acquisition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function</a:t>
            </a:r>
            <a:r>
              <a:rPr lang="it-IT" sz="1600" b="1" dirty="0">
                <a:solidFill>
                  <a:srgbClr val="102B51"/>
                </a:solidFill>
              </a:rPr>
              <a:t>: </a:t>
            </a:r>
            <a:r>
              <a:rPr lang="it-IT" sz="1600" err="1">
                <a:latin typeface="Arial" panose="020B0604020202020204" pitchFamily="34" charset="0"/>
                <a:cs typeface="Arial" panose="020B0604020202020204" pitchFamily="34" charset="0"/>
              </a:rPr>
              <a:t>expected_improvement_per_second</a:t>
            </a:r>
            <a:endParaRPr lang="it-IT" sz="1600" b="1">
              <a:solidFill>
                <a:srgbClr val="102B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Immagine 42" descr="Immagine che contiene testo, diagramm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25686CC4-E493-B686-9554-A4F54092D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153" y="1437304"/>
            <a:ext cx="4022234" cy="3082146"/>
          </a:xfrm>
          <a:prstGeom prst="rect">
            <a:avLst/>
          </a:prstGeom>
        </p:spPr>
      </p:pic>
      <p:pic>
        <p:nvPicPr>
          <p:cNvPr id="45" name="Immagine 44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0393A60-096E-B598-079E-FB4AEB4A10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489" y="1437304"/>
            <a:ext cx="3759607" cy="3082146"/>
          </a:xfrm>
          <a:prstGeom prst="rect">
            <a:avLst/>
          </a:prstGeom>
        </p:spPr>
      </p:pic>
      <p:pic>
        <p:nvPicPr>
          <p:cNvPr id="47" name="Immagine 46" descr="Immagine che contiene Diagramm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4AA5AD07-DC30-FE93-F3E8-1F3C413E1D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46" y="1437304"/>
            <a:ext cx="3587786" cy="308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6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908A8-230C-DA11-3E4D-172DAD81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F09E4D6-D971-E64D-4F0F-1CFFFF36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11A92DE5-4C6C-FE88-0C25-6E8507D8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32B6B6A-38BF-233D-A12D-9EE5CE7F61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D5AE52DF-544A-238F-7F58-5815F603E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1124223"/>
            <a:ext cx="2520069" cy="2191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7C2F65-0809-4066-A103-5C4E09F16742}"/>
              </a:ext>
            </a:extLst>
          </p:cNvPr>
          <p:cNvSpPr txBox="1"/>
          <p:nvPr/>
        </p:nvSpPr>
        <p:spPr>
          <a:xfrm>
            <a:off x="3027244" y="1429609"/>
            <a:ext cx="8168051" cy="11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/>
              <a:t>Reference motion started with maximum speed, requiring </a:t>
            </a:r>
            <a:r>
              <a:rPr lang="en-US" sz="1600" b="1">
                <a:solidFill>
                  <a:srgbClr val="102B51"/>
                </a:solidFill>
              </a:rPr>
              <a:t>aggressive control effort</a:t>
            </a:r>
          </a:p>
          <a:p>
            <a:pPr>
              <a:lnSpc>
                <a:spcPct val="150000"/>
              </a:lnSpc>
            </a:pPr>
            <a:r>
              <a:rPr lang="en-US" sz="1600"/>
              <a:t>Robot starts from rest → large torque spikes to catch up with </a:t>
            </a:r>
            <a:r>
              <a:rPr lang="en-US" sz="1600" b="1">
                <a:solidFill>
                  <a:srgbClr val="102B51"/>
                </a:solidFill>
              </a:rPr>
              <a:t>fast-moving reference</a:t>
            </a:r>
            <a:endParaRPr lang="en-US" sz="1600"/>
          </a:p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102B51"/>
                </a:solidFill>
              </a:rPr>
              <a:t>Smoother initialization → better control efficiency</a:t>
            </a:r>
            <a:r>
              <a:rPr lang="en-US" sz="1600"/>
              <a:t>, no compromise on accuracy</a:t>
            </a:r>
            <a:endParaRPr lang="en-GB" sz="1600"/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AE36C45A-7E67-FA6E-5701-DC5D03E7CF94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10461774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02B51"/>
                </a:solidFill>
                <a:latin typeface="Aptos"/>
              </a:rPr>
              <a:t>Solution 2: Off-set</a:t>
            </a:r>
            <a:endParaRPr lang="en-US">
              <a:solidFill>
                <a:srgbClr val="102B5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7A1E302-2486-1156-3D28-744A803E86B0}"/>
              </a:ext>
            </a:extLst>
          </p:cNvPr>
          <p:cNvSpPr txBox="1"/>
          <p:nvPr/>
        </p:nvSpPr>
        <p:spPr>
          <a:xfrm>
            <a:off x="3027244" y="1124779"/>
            <a:ext cx="6427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err="1">
                <a:solidFill>
                  <a:srgbClr val="102B51"/>
                </a:solidFill>
              </a:rPr>
              <a:t>Optimization</a:t>
            </a:r>
            <a:r>
              <a:rPr lang="it-IT" b="1">
                <a:solidFill>
                  <a:srgbClr val="102B51"/>
                </a:solidFill>
              </a:rPr>
              <a:t> setup: </a:t>
            </a:r>
            <a:r>
              <a:rPr lang="it-IT" sz="1600"/>
              <a:t>21 PID gains + (-0.25 s) Off-set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7B4C54-2B8B-AB0F-E83B-D450595FCB0F}"/>
              </a:ext>
            </a:extLst>
          </p:cNvPr>
          <p:cNvSpPr txBox="1"/>
          <p:nvPr/>
        </p:nvSpPr>
        <p:spPr>
          <a:xfrm>
            <a:off x="3027244" y="2684548"/>
            <a:ext cx="8787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Despite using the same dynamics and optimization setup, introducing the time </a:t>
            </a:r>
            <a:r>
              <a:rPr lang="en-US" sz="1600" b="1">
                <a:solidFill>
                  <a:srgbClr val="102B51"/>
                </a:solidFill>
              </a:rPr>
              <a:t>offset </a:t>
            </a:r>
            <a:r>
              <a:rPr lang="en-US" sz="1600"/>
              <a:t>significantly </a:t>
            </a:r>
            <a:r>
              <a:rPr lang="en-US" sz="1600" b="1">
                <a:solidFill>
                  <a:srgbClr val="102B51"/>
                </a:solidFill>
              </a:rPr>
              <a:t>improved results</a:t>
            </a:r>
            <a:r>
              <a:rPr lang="en-US" sz="1600"/>
              <a:t>:</a:t>
            </a:r>
            <a:br>
              <a:rPr lang="en-US" sz="1600"/>
            </a:br>
            <a:r>
              <a:rPr lang="en-US" sz="1600"/>
              <a:t>Max position error dropped from </a:t>
            </a:r>
            <a:r>
              <a:rPr lang="en-US" sz="1600" b="1">
                <a:solidFill>
                  <a:srgbClr val="102B51"/>
                </a:solidFill>
              </a:rPr>
              <a:t>~3°</a:t>
            </a:r>
            <a:r>
              <a:rPr lang="en-US" sz="1600"/>
              <a:t> to </a:t>
            </a:r>
            <a:r>
              <a:rPr lang="en-US" sz="1600" b="1">
                <a:solidFill>
                  <a:srgbClr val="102B51"/>
                </a:solidFill>
              </a:rPr>
              <a:t>&lt;1.5°</a:t>
            </a:r>
            <a:r>
              <a:rPr lang="en-US" sz="1600"/>
              <a:t>, and peak torque reduced from </a:t>
            </a:r>
            <a:r>
              <a:rPr lang="en-US" sz="1600" b="1">
                <a:solidFill>
                  <a:srgbClr val="102B51"/>
                </a:solidFill>
              </a:rPr>
              <a:t>~70 Nm </a:t>
            </a:r>
            <a:r>
              <a:rPr lang="en-US" sz="1600"/>
              <a:t>to </a:t>
            </a:r>
            <a:r>
              <a:rPr lang="en-US" sz="1600" b="1">
                <a:solidFill>
                  <a:srgbClr val="102B51"/>
                </a:solidFill>
              </a:rPr>
              <a:t>~20 Nm</a:t>
            </a:r>
            <a:endParaRPr lang="it-IT" sz="1600" b="1">
              <a:solidFill>
                <a:srgbClr val="102B51"/>
              </a:solidFill>
            </a:endParaRPr>
          </a:p>
        </p:txBody>
      </p:sp>
      <p:pic>
        <p:nvPicPr>
          <p:cNvPr id="8" name="Immagine 7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6998230-C32C-ECD1-9CFD-0EEA62F75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45" y="3495413"/>
            <a:ext cx="3375303" cy="2763598"/>
          </a:xfrm>
          <a:prstGeom prst="rect">
            <a:avLst/>
          </a:prstGeom>
        </p:spPr>
      </p:pic>
      <p:pic>
        <p:nvPicPr>
          <p:cNvPr id="14" name="Immagine 13" descr="Immagine che contiene diagramma, Diagramma, linea, testo&#10;&#10;Il contenuto generato dall'IA potrebbe non essere corretto.">
            <a:extLst>
              <a:ext uri="{FF2B5EF4-FFF2-40B4-BE49-F238E27FC236}">
                <a16:creationId xmlns:a16="http://schemas.microsoft.com/office/drawing/2014/main" id="{A0EA30F5-CAEE-D533-2C42-6A776A7E63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45" y="3461907"/>
            <a:ext cx="3375303" cy="281640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8601D2A-EC4C-9654-1A33-971EC07865E1}"/>
              </a:ext>
            </a:extLst>
          </p:cNvPr>
          <p:cNvSpPr txBox="1"/>
          <p:nvPr/>
        </p:nvSpPr>
        <p:spPr>
          <a:xfrm>
            <a:off x="8212394" y="4428116"/>
            <a:ext cx="3480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02B51"/>
                </a:solidFill>
              </a:rPr>
              <a:t>Best </a:t>
            </a:r>
            <a:r>
              <a:rPr lang="it-IT" sz="1600" b="1" dirty="0" err="1">
                <a:solidFill>
                  <a:srgbClr val="102B51"/>
                </a:solidFill>
              </a:rPr>
              <a:t>Objective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at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iteration</a:t>
            </a:r>
            <a:r>
              <a:rPr lang="it-IT" sz="1600" dirty="0"/>
              <a:t>: 426</a:t>
            </a:r>
          </a:p>
        </p:txBody>
      </p:sp>
    </p:spTree>
    <p:extLst>
      <p:ext uri="{BB962C8B-B14F-4D97-AF65-F5344CB8AC3E}">
        <p14:creationId xmlns:p14="http://schemas.microsoft.com/office/powerpoint/2010/main" val="217879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EF3A1-9FCB-AB4A-B2BF-82A429BB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C7E0642-F597-BFC9-7860-4FE77353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8A0EB31E-B918-EC99-FE2C-CE5D0595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B29356EF-F46C-8C51-BB07-6AD2A7736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118F39-524E-143C-3949-E95000482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02830"/>
              </p:ext>
            </p:extLst>
          </p:nvPr>
        </p:nvGraphicFramePr>
        <p:xfrm>
          <a:off x="7344696" y="1136501"/>
          <a:ext cx="4149212" cy="171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4147">
                  <a:extLst>
                    <a:ext uri="{9D8B030D-6E8A-4147-A177-3AD203B41FA5}">
                      <a16:colId xmlns:a16="http://schemas.microsoft.com/office/drawing/2014/main" val="3486069942"/>
                    </a:ext>
                  </a:extLst>
                </a:gridCol>
                <a:gridCol w="985065">
                  <a:extLst>
                    <a:ext uri="{9D8B030D-6E8A-4147-A177-3AD203B41FA5}">
                      <a16:colId xmlns:a16="http://schemas.microsoft.com/office/drawing/2014/main" val="507211180"/>
                    </a:ext>
                  </a:extLst>
                </a:gridCol>
              </a:tblGrid>
              <a:tr h="315479"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28 parameters optimization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980337"/>
                  </a:ext>
                </a:extLst>
              </a:tr>
              <a:tr h="315479">
                <a:tc>
                  <a:txBody>
                    <a:bodyPr/>
                    <a:lstStyle/>
                    <a:p>
                      <a:r>
                        <a:rPr lang="it-IT" sz="1600"/>
                        <a:t>Number of evaluations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600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349024"/>
                  </a:ext>
                </a:extLst>
              </a:tr>
              <a:tr h="315479">
                <a:tc>
                  <a:txBody>
                    <a:bodyPr/>
                    <a:lstStyle/>
                    <a:p>
                      <a:r>
                        <a:rPr lang="it-IT" sz="1600"/>
                        <a:t>Mass bound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0-5 kg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103352"/>
                  </a:ext>
                </a:extLst>
              </a:tr>
              <a:tr h="315479">
                <a:tc>
                  <a:txBody>
                    <a:bodyPr/>
                    <a:lstStyle/>
                    <a:p>
                      <a:r>
                        <a:rPr lang="it-IT" sz="1600"/>
                        <a:t>Best Objective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54.6648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47405"/>
                  </a:ext>
                </a:extLst>
              </a:tr>
              <a:tr h="3742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/>
                        <a:t>Best </a:t>
                      </a:r>
                      <a:r>
                        <a:rPr lang="it-IT" sz="1600" err="1"/>
                        <a:t>Objective</a:t>
                      </a:r>
                      <a:r>
                        <a:rPr lang="it-IT" sz="1600"/>
                        <a:t> </a:t>
                      </a:r>
                      <a:r>
                        <a:rPr lang="it-IT" sz="1600" err="1"/>
                        <a:t>at</a:t>
                      </a:r>
                      <a:r>
                        <a:rPr lang="it-IT" sz="1600"/>
                        <a:t> iter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98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86789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4DF4B7-991F-F871-3A2D-1E23CDE67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006890"/>
              </p:ext>
            </p:extLst>
          </p:nvPr>
        </p:nvGraphicFramePr>
        <p:xfrm>
          <a:off x="7344696" y="3040774"/>
          <a:ext cx="4149212" cy="313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421">
                  <a:extLst>
                    <a:ext uri="{9D8B030D-6E8A-4147-A177-3AD203B41FA5}">
                      <a16:colId xmlns:a16="http://schemas.microsoft.com/office/drawing/2014/main" val="3743203837"/>
                    </a:ext>
                  </a:extLst>
                </a:gridCol>
                <a:gridCol w="1135791">
                  <a:extLst>
                    <a:ext uri="{9D8B030D-6E8A-4147-A177-3AD203B41FA5}">
                      <a16:colId xmlns:a16="http://schemas.microsoft.com/office/drawing/2014/main" val="527536647"/>
                    </a:ext>
                  </a:extLst>
                </a:gridCol>
              </a:tblGrid>
              <a:tr h="312024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Sequence of 7 optimizations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/>
                        <a:t>k = 1 … 7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0908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it-IT" sz="1600"/>
                        <a:t>Number of evaluations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50 + k ∙50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8256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it-IT" sz="1600"/>
                        <a:t>Bound of current joint (PID)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± 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08818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/>
                        <a:t>Bound for Dowstrean joint (PID)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±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65699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/>
                        <a:t>Bound of current joint (mass)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± 2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94146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/>
                        <a:t>Bound for Dowstrean joint (mass)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± 0.2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51557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it-IT" sz="1600"/>
                        <a:t>Best Objective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/>
                        <a:t>35.5186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78226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r>
                        <a:rPr lang="it-IT" sz="1600"/>
                        <a:t>Best </a:t>
                      </a:r>
                      <a:r>
                        <a:rPr lang="it-IT" sz="1600" err="1"/>
                        <a:t>Objective</a:t>
                      </a:r>
                      <a:r>
                        <a:rPr lang="it-IT" sz="1600"/>
                        <a:t>  of </a:t>
                      </a:r>
                      <a:r>
                        <a:rPr lang="it-IT" sz="1600" err="1"/>
                        <a:t>opt</a:t>
                      </a:r>
                      <a:r>
                        <a:rPr lang="it-IT" sz="1600"/>
                        <a:t>. 7 </a:t>
                      </a:r>
                      <a:r>
                        <a:rPr lang="it-IT" sz="1600" err="1"/>
                        <a:t>at</a:t>
                      </a:r>
                      <a:r>
                        <a:rPr lang="it-IT" sz="1600"/>
                        <a:t>  iter</a:t>
                      </a:r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/>
                        <a:t>128</a:t>
                      </a:r>
                      <a:endParaRPr lang="en-GB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165111"/>
                  </a:ext>
                </a:extLst>
              </a:tr>
            </a:tbl>
          </a:graphicData>
        </a:graphic>
      </p:graphicFrame>
      <p:sp>
        <p:nvSpPr>
          <p:cNvPr id="2" name="Titolo 2">
            <a:extLst>
              <a:ext uri="{FF2B5EF4-FFF2-40B4-BE49-F238E27FC236}">
                <a16:creationId xmlns:a16="http://schemas.microsoft.com/office/drawing/2014/main" id="{B0CF35D5-F45A-DD2E-A59B-4C49C223F686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1120315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02B51"/>
                </a:solidFill>
                <a:latin typeface="Aptos"/>
              </a:rPr>
              <a:t>Solution 3.1: </a:t>
            </a:r>
            <a:r>
              <a:rPr lang="en-GB">
                <a:solidFill>
                  <a:schemeClr val="tx2"/>
                </a:solidFill>
                <a:latin typeface="Aptos"/>
              </a:rPr>
              <a:t>C</a:t>
            </a:r>
            <a:r>
              <a:rPr lang="en-GB">
                <a:solidFill>
                  <a:schemeClr val="tx2"/>
                </a:solidFill>
              </a:rPr>
              <a:t>ascade Optimization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AE05A8-51A4-4862-3F03-838C734342E3}"/>
              </a:ext>
            </a:extLst>
          </p:cNvPr>
          <p:cNvSpPr txBox="1"/>
          <p:nvPr/>
        </p:nvSpPr>
        <p:spPr>
          <a:xfrm>
            <a:off x="364520" y="1164873"/>
            <a:ext cx="77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102B51"/>
                </a:solidFill>
              </a:rPr>
              <a:t>Goal: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55564ED-CAD1-8499-512A-E2C2BA9811DB}"/>
              </a:ext>
            </a:extLst>
          </p:cNvPr>
          <p:cNvSpPr txBox="1"/>
          <p:nvPr/>
        </p:nvSpPr>
        <p:spPr>
          <a:xfrm>
            <a:off x="364520" y="1977154"/>
            <a:ext cx="92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102B51"/>
                </a:solidFill>
              </a:rPr>
              <a:t>Steps: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9D6CA51-8738-1827-9F70-A0895FD0E959}"/>
                  </a:ext>
                </a:extLst>
              </p:cNvPr>
              <p:cNvSpPr txBox="1"/>
              <p:nvPr/>
            </p:nvSpPr>
            <p:spPr>
              <a:xfrm>
                <a:off x="1141269" y="2004503"/>
                <a:ext cx="5895138" cy="3312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arenR"/>
                </a:pPr>
                <a:r>
                  <a:rPr lang="it-IT" sz="1600" dirty="0"/>
                  <a:t>Global </a:t>
                </a:r>
                <a:r>
                  <a:rPr lang="it-IT" sz="1600" dirty="0" err="1"/>
                  <a:t>optimization</a:t>
                </a:r>
                <a:endParaRPr lang="it-IT" sz="1600" dirty="0"/>
              </a:p>
              <a:p>
                <a:r>
                  <a:rPr lang="it-IT" sz="1600" dirty="0"/>
                  <a:t>         </a:t>
                </a:r>
                <a:r>
                  <a:rPr lang="it-IT" sz="1600" b="1" dirty="0">
                    <a:solidFill>
                      <a:srgbClr val="102B51"/>
                    </a:solidFill>
                  </a:rPr>
                  <a:t>28 </a:t>
                </a:r>
                <a:r>
                  <a:rPr lang="it-IT" sz="1600" b="1" dirty="0" err="1">
                    <a:solidFill>
                      <a:srgbClr val="102B51"/>
                    </a:solidFill>
                  </a:rPr>
                  <a:t>parameters</a:t>
                </a:r>
                <a:r>
                  <a:rPr lang="it-IT" sz="1600" b="1" dirty="0">
                    <a:solidFill>
                      <a:srgbClr val="102B51"/>
                    </a:solidFill>
                  </a:rPr>
                  <a:t> </a:t>
                </a:r>
                <a:r>
                  <a:rPr lang="it-IT" sz="1600" dirty="0" err="1"/>
                  <a:t>optimization</a:t>
                </a:r>
                <a:r>
                  <a:rPr lang="it-IT" sz="1600" dirty="0"/>
                  <a:t>:</a:t>
                </a:r>
              </a:p>
              <a:p>
                <a:r>
                  <a:rPr lang="it-IT" sz="1600" dirty="0"/>
                  <a:t>          </a:t>
                </a:r>
                <a:r>
                  <a:rPr lang="en-US" sz="1600" dirty="0"/>
                  <a:t>→ 21 PID gains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× 7 joints)</a:t>
                </a:r>
              </a:p>
              <a:p>
                <a:r>
                  <a:rPr lang="en-US" sz="1600" dirty="0"/>
                  <a:t>          </a:t>
                </a:r>
                <a:r>
                  <a:rPr lang="it-IT" sz="1600" dirty="0"/>
                  <a:t>→ 7 </a:t>
                </a:r>
                <a:r>
                  <a:rPr lang="it-IT" sz="1600" dirty="0" err="1"/>
                  <a:t>virtual</a:t>
                </a:r>
                <a:r>
                  <a:rPr lang="it-IT" sz="1600" dirty="0"/>
                  <a:t> masses </a:t>
                </a:r>
                <a:r>
                  <a:rPr lang="it-IT" sz="1600" dirty="0" err="1"/>
                  <a:t>used</a:t>
                </a:r>
                <a:r>
                  <a:rPr lang="it-IT" sz="1600" dirty="0"/>
                  <a:t> by the controller </a:t>
                </a:r>
                <a:r>
                  <a:rPr lang="it-IT" sz="1600" dirty="0" err="1"/>
                  <a:t>internal</a:t>
                </a:r>
                <a:r>
                  <a:rPr lang="it-IT" sz="1600" dirty="0"/>
                  <a:t> model</a:t>
                </a:r>
              </a:p>
              <a:p>
                <a:endParaRPr lang="it-IT" sz="800" dirty="0"/>
              </a:p>
              <a:p>
                <a:r>
                  <a:rPr lang="it-IT" sz="1600" dirty="0"/>
                  <a:t> </a:t>
                </a:r>
                <a:r>
                  <a:rPr lang="it-IT" sz="1600" b="1" dirty="0">
                    <a:solidFill>
                      <a:srgbClr val="102B51"/>
                    </a:solidFill>
                  </a:rPr>
                  <a:t>Virtual mass scaling</a:t>
                </a:r>
                <a:r>
                  <a:rPr lang="it-IT" sz="1600" dirty="0"/>
                  <a:t> </a:t>
                </a:r>
                <a:r>
                  <a:rPr lang="it-IT" sz="1600" dirty="0" err="1"/>
                  <a:t>affects</a:t>
                </a:r>
                <a:r>
                  <a:rPr lang="it-IT" sz="1600" dirty="0"/>
                  <a:t> </a:t>
                </a:r>
                <a:r>
                  <a:rPr lang="it-IT" sz="1600" dirty="0" err="1"/>
                  <a:t>both</a:t>
                </a:r>
                <a:r>
                  <a:rPr lang="it-IT" sz="1600" dirty="0"/>
                  <a:t> </a:t>
                </a:r>
                <a:r>
                  <a:rPr lang="it-IT" sz="1600" dirty="0" err="1"/>
                  <a:t>inertia</a:t>
                </a:r>
                <a:r>
                  <a:rPr lang="it-IT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𝑒𝑣𝑎𝑙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dirty="0"/>
                  <a:t>and   </a:t>
                </a:r>
                <a:r>
                  <a:rPr lang="it-IT" sz="1600" dirty="0" err="1"/>
                  <a:t>gravity</a:t>
                </a:r>
                <a:r>
                  <a:rPr lang="it-IT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𝑒𝑣𝑎𝑙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600" dirty="0"/>
              </a:p>
              <a:p>
                <a:endParaRPr lang="it-IT" sz="1600" dirty="0"/>
              </a:p>
              <a:p>
                <a:pPr marL="342900" indent="-342900">
                  <a:buAutoNum type="arabicParenR" startAt="2"/>
                </a:pPr>
                <a:r>
                  <a:rPr lang="it-IT" sz="1600" dirty="0" err="1"/>
                  <a:t>Hierarchical</a:t>
                </a:r>
                <a:r>
                  <a:rPr lang="it-IT" sz="1600" dirty="0"/>
                  <a:t> </a:t>
                </a:r>
                <a:r>
                  <a:rPr lang="it-IT" sz="1600" dirty="0" err="1"/>
                  <a:t>refinement</a:t>
                </a:r>
                <a:endParaRPr lang="it-IT" sz="1600" dirty="0"/>
              </a:p>
              <a:p>
                <a:r>
                  <a:rPr lang="it-IT" sz="1600" dirty="0"/>
                  <a:t>        </a:t>
                </a:r>
                <a:r>
                  <a:rPr lang="en-US" sz="1600" dirty="0"/>
                  <a:t>Use global result to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define narrower bounds</a:t>
                </a:r>
                <a:r>
                  <a:rPr lang="en-US" sz="1600" dirty="0">
                    <a:solidFill>
                      <a:srgbClr val="102B51"/>
                    </a:solidFill>
                  </a:rPr>
                  <a:t> </a:t>
                </a:r>
                <a:r>
                  <a:rPr lang="en-US" sz="1600" dirty="0"/>
                  <a:t>around optimal     </a:t>
                </a:r>
              </a:p>
              <a:p>
                <a:r>
                  <a:rPr lang="en-US" sz="1600" dirty="0"/>
                  <a:t>        PID values</a:t>
                </a:r>
              </a:p>
              <a:p>
                <a:r>
                  <a:rPr lang="en-US" sz="1600" dirty="0"/>
                  <a:t>        Perform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7 sequential optimizations</a:t>
                </a:r>
                <a:r>
                  <a:rPr lang="en-US" sz="1600" dirty="0"/>
                  <a:t>, starting from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joint 7</a:t>
                </a:r>
              </a:p>
              <a:p>
                <a:r>
                  <a:rPr lang="en-US" sz="1600" b="1" dirty="0">
                    <a:solidFill>
                      <a:srgbClr val="102B51"/>
                    </a:solidFill>
                  </a:rPr>
                  <a:t>        </a:t>
                </a:r>
                <a:r>
                  <a:rPr lang="en-US" sz="1600" dirty="0"/>
                  <a:t>(end effector) to </a:t>
                </a:r>
                <a:r>
                  <a:rPr lang="en-US" sz="1600" b="1" dirty="0">
                    <a:solidFill>
                      <a:srgbClr val="102B51"/>
                    </a:solidFill>
                  </a:rPr>
                  <a:t>joint 1</a:t>
                </a:r>
                <a:r>
                  <a:rPr lang="en-US" sz="1600" b="1" dirty="0"/>
                  <a:t> </a:t>
                </a:r>
                <a:r>
                  <a:rPr lang="en-US" sz="1600" dirty="0"/>
                  <a:t>(base)</a:t>
                </a:r>
              </a:p>
              <a:p>
                <a:r>
                  <a:rPr lang="en-US" sz="1600" dirty="0"/>
                  <a:t>        At each step:</a:t>
                </a:r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9D6CA51-8738-1827-9F70-A0895FD0E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269" y="2004503"/>
                <a:ext cx="5895138" cy="3312189"/>
              </a:xfrm>
              <a:prstGeom prst="rect">
                <a:avLst/>
              </a:prstGeom>
              <a:blipFill>
                <a:blip r:embed="rId4"/>
                <a:stretch>
                  <a:fillRect l="-517" t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sellaDiTesto 8">
            <a:extLst>
              <a:ext uri="{FF2B5EF4-FFF2-40B4-BE49-F238E27FC236}">
                <a16:creationId xmlns:a16="http://schemas.microsoft.com/office/drawing/2014/main" id="{A59DD428-D7F9-C8F0-8DDD-9C408B353150}"/>
              </a:ext>
            </a:extLst>
          </p:cNvPr>
          <p:cNvSpPr txBox="1"/>
          <p:nvPr/>
        </p:nvSpPr>
        <p:spPr>
          <a:xfrm>
            <a:off x="2739036" y="4891434"/>
            <a:ext cx="42973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Refine parameters for the current joint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Fix or constrain downstream joints based on updated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Propagate updated values upstream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EEA62D-4FA3-501C-A9E9-621A106DDB20}"/>
                  </a:ext>
                </a:extLst>
              </p:cNvPr>
              <p:cNvSpPr txBox="1"/>
              <p:nvPr/>
            </p:nvSpPr>
            <p:spPr>
              <a:xfrm>
                <a:off x="1032387" y="1180023"/>
                <a:ext cx="50636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Improve performance without modifying reference trajectories, 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𝑒𝑣𝑎𝑙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EEA62D-4FA3-501C-A9E9-621A106DD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87" y="1180023"/>
                <a:ext cx="5063613" cy="646331"/>
              </a:xfrm>
              <a:prstGeom prst="rect">
                <a:avLst/>
              </a:prstGeom>
              <a:blipFill>
                <a:blip r:embed="rId5"/>
                <a:stretch>
                  <a:fillRect l="-963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496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9ADCC-8749-F86F-656B-52BBE92C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456EEE90-7E84-07D3-F3C2-E97CDB8B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15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0462575A-1213-4113-7B09-20EED5455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93A4BC9-8E78-274B-C0EC-187BD099A8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7" name="Titolo 2">
            <a:extLst>
              <a:ext uri="{FF2B5EF4-FFF2-40B4-BE49-F238E27FC236}">
                <a16:creationId xmlns:a16="http://schemas.microsoft.com/office/drawing/2014/main" id="{17B0A435-84BA-3586-E641-D4ED72D44A01}"/>
              </a:ext>
            </a:extLst>
          </p:cNvPr>
          <p:cNvSpPr txBox="1">
            <a:spLocks/>
          </p:cNvSpPr>
          <p:nvPr/>
        </p:nvSpPr>
        <p:spPr>
          <a:xfrm>
            <a:off x="364520" y="285462"/>
            <a:ext cx="11203150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02B51"/>
                </a:solidFill>
                <a:latin typeface="Aptos"/>
              </a:rPr>
              <a:t>Solution 3.1: </a:t>
            </a:r>
            <a:r>
              <a:rPr lang="en-GB">
                <a:solidFill>
                  <a:schemeClr val="tx2"/>
                </a:solidFill>
                <a:latin typeface="Aptos"/>
              </a:rPr>
              <a:t>C</a:t>
            </a:r>
            <a:r>
              <a:rPr lang="en-GB">
                <a:solidFill>
                  <a:schemeClr val="tx2"/>
                </a:solidFill>
              </a:rPr>
              <a:t>ascade Optimization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9BFBF5-D351-3106-B97A-F1186C047A8A}"/>
              </a:ext>
            </a:extLst>
          </p:cNvPr>
          <p:cNvSpPr txBox="1"/>
          <p:nvPr/>
        </p:nvSpPr>
        <p:spPr>
          <a:xfrm>
            <a:off x="344796" y="1142721"/>
            <a:ext cx="331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rgbClr val="102B51"/>
                </a:solidFill>
              </a:rPr>
              <a:t>Results</a:t>
            </a:r>
            <a:r>
              <a:rPr lang="it-IT" b="1" dirty="0">
                <a:solidFill>
                  <a:srgbClr val="102B51"/>
                </a:solidFill>
              </a:rPr>
              <a:t>:</a:t>
            </a:r>
            <a:r>
              <a:rPr lang="it-IT" dirty="0"/>
              <a:t> </a:t>
            </a:r>
            <a:r>
              <a:rPr lang="it-IT" dirty="0" err="1"/>
              <a:t>Cascade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086C23-7125-513C-1032-CF8F28ADC9EA}"/>
              </a:ext>
            </a:extLst>
          </p:cNvPr>
          <p:cNvSpPr txBox="1"/>
          <p:nvPr/>
        </p:nvSpPr>
        <p:spPr>
          <a:xfrm>
            <a:off x="364520" y="4698512"/>
            <a:ext cx="11640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approach </a:t>
            </a:r>
            <a:r>
              <a:rPr lang="en-US" sz="1600" b="1" dirty="0">
                <a:solidFill>
                  <a:srgbClr val="102B51"/>
                </a:solidFill>
              </a:rPr>
              <a:t>outperforms</a:t>
            </a:r>
            <a:r>
              <a:rPr lang="en-US" sz="1600" dirty="0"/>
              <a:t> the 21-PID baseline, but remains </a:t>
            </a:r>
            <a:r>
              <a:rPr lang="en-US" sz="1600" b="1" dirty="0">
                <a:solidFill>
                  <a:srgbClr val="102B51"/>
                </a:solidFill>
              </a:rPr>
              <a:t>inferior to the time-offset strategy</a:t>
            </a:r>
            <a:r>
              <a:rPr lang="en-US" sz="1600" dirty="0"/>
              <a:t>, with ~2° max position error and torque peaks near 65 Nm</a:t>
            </a:r>
            <a:endParaRPr lang="it-IT" sz="16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FF23D54-1857-AE2F-272D-D0A0D02F19F3}"/>
              </a:ext>
            </a:extLst>
          </p:cNvPr>
          <p:cNvSpPr txBox="1"/>
          <p:nvPr/>
        </p:nvSpPr>
        <p:spPr>
          <a:xfrm>
            <a:off x="364521" y="5395268"/>
            <a:ext cx="11640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Despite improved optimization structure, the </a:t>
            </a:r>
            <a:r>
              <a:rPr lang="en-US" sz="1600" b="1" dirty="0">
                <a:solidFill>
                  <a:srgbClr val="102B51"/>
                </a:solidFill>
              </a:rPr>
              <a:t>initial mismatch </a:t>
            </a:r>
            <a:r>
              <a:rPr lang="en-US" sz="1600" dirty="0"/>
              <a:t>between reference and actual state </a:t>
            </a:r>
            <a:r>
              <a:rPr lang="en-US" sz="1600" b="1" dirty="0">
                <a:solidFill>
                  <a:srgbClr val="102B51"/>
                </a:solidFill>
              </a:rPr>
              <a:t>dominates performance degradation</a:t>
            </a:r>
            <a:endParaRPr lang="it-IT" sz="1600" dirty="0">
              <a:solidFill>
                <a:srgbClr val="102B51"/>
              </a:solidFill>
            </a:endParaRPr>
          </a:p>
        </p:txBody>
      </p:sp>
      <p:pic>
        <p:nvPicPr>
          <p:cNvPr id="15" name="Immagine 14" descr="Immagine che contiene testo, diagramm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2FBAC30D-AD43-9CE9-0D5E-9D57F226C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925" y="1641075"/>
            <a:ext cx="3801848" cy="2900575"/>
          </a:xfrm>
          <a:prstGeom prst="rect">
            <a:avLst/>
          </a:prstGeom>
        </p:spPr>
      </p:pic>
      <p:pic>
        <p:nvPicPr>
          <p:cNvPr id="19" name="Immagine 18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F9146E39-BC2C-C35B-5DAB-1117A04A96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402" y="1631876"/>
            <a:ext cx="3573311" cy="2906216"/>
          </a:xfrm>
          <a:prstGeom prst="rect">
            <a:avLst/>
          </a:prstGeom>
        </p:spPr>
      </p:pic>
      <p:pic>
        <p:nvPicPr>
          <p:cNvPr id="21" name="Immagine 20" descr="Immagine che contiene Diagramma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6DBECBFD-EDE7-AE0C-B935-0B4774053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44" y="1681133"/>
            <a:ext cx="3452846" cy="29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39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B48F9-5568-06F1-D22A-AAFB46319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F53BB3DB-0BAC-F5AF-AF4C-3042CDE3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16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A9F3107A-A473-D7D3-F8EC-D3091C0D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9D2A5869-116E-7E5A-B5D6-4D06700125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742C73-06CD-97BA-5473-5D173C979140}"/>
              </a:ext>
            </a:extLst>
          </p:cNvPr>
          <p:cNvSpPr txBox="1"/>
          <p:nvPr/>
        </p:nvSpPr>
        <p:spPr>
          <a:xfrm>
            <a:off x="364519" y="4278796"/>
            <a:ext cx="115889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Combining the 28-parameter optimization (PID + virtual masses) with a </a:t>
            </a:r>
            <a:r>
              <a:rPr lang="en-US" sz="1600" b="1" dirty="0">
                <a:solidFill>
                  <a:srgbClr val="102B51"/>
                </a:solidFill>
              </a:rPr>
              <a:t>time-offset </a:t>
            </a:r>
            <a:r>
              <a:rPr lang="en-US" sz="1600" dirty="0"/>
              <a:t>on the reference trajectories significantly </a:t>
            </a:r>
            <a:r>
              <a:rPr lang="en-US" sz="1600" b="1" dirty="0">
                <a:solidFill>
                  <a:srgbClr val="102B51"/>
                </a:solidFill>
              </a:rPr>
              <a:t>improves </a:t>
            </a:r>
            <a:r>
              <a:rPr lang="en-US" sz="1600" dirty="0"/>
              <a:t>both </a:t>
            </a:r>
            <a:r>
              <a:rPr lang="en-US" sz="1600" b="1" dirty="0">
                <a:solidFill>
                  <a:srgbClr val="102B51"/>
                </a:solidFill>
              </a:rPr>
              <a:t>tracking accuracy </a:t>
            </a:r>
            <a:r>
              <a:rPr lang="en-US" sz="1600" dirty="0"/>
              <a:t>and </a:t>
            </a:r>
            <a:r>
              <a:rPr lang="en-US" sz="1600" b="1" dirty="0">
                <a:solidFill>
                  <a:srgbClr val="102B51"/>
                </a:solidFill>
              </a:rPr>
              <a:t>torque efficiency</a:t>
            </a:r>
            <a:endParaRPr lang="en-GB" sz="1600" b="1" dirty="0">
              <a:solidFill>
                <a:srgbClr val="102B51"/>
              </a:solidFill>
            </a:endParaRPr>
          </a:p>
        </p:txBody>
      </p:sp>
      <p:sp>
        <p:nvSpPr>
          <p:cNvPr id="7" name="Titolo 2">
            <a:extLst>
              <a:ext uri="{FF2B5EF4-FFF2-40B4-BE49-F238E27FC236}">
                <a16:creationId xmlns:a16="http://schemas.microsoft.com/office/drawing/2014/main" id="{480F4750-B863-813C-47E5-60A1A500FBE7}"/>
              </a:ext>
            </a:extLst>
          </p:cNvPr>
          <p:cNvSpPr txBox="1">
            <a:spLocks/>
          </p:cNvSpPr>
          <p:nvPr/>
        </p:nvSpPr>
        <p:spPr>
          <a:xfrm>
            <a:off x="364519" y="285462"/>
            <a:ext cx="11756361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>
                <a:solidFill>
                  <a:srgbClr val="102B51"/>
                </a:solidFill>
                <a:latin typeface="Aptos"/>
              </a:rPr>
              <a:t>Solution 3.2</a:t>
            </a:r>
            <a:r>
              <a:rPr lang="it-IT">
                <a:solidFill>
                  <a:srgbClr val="102B51"/>
                </a:solidFill>
                <a:latin typeface="Aptos"/>
              </a:rPr>
              <a:t>: </a:t>
            </a:r>
            <a:r>
              <a:rPr lang="it-IT" err="1">
                <a:solidFill>
                  <a:srgbClr val="102B51"/>
                </a:solidFill>
                <a:latin typeface="Aptos"/>
              </a:rPr>
              <a:t>Cascade</a:t>
            </a:r>
            <a:r>
              <a:rPr lang="it-IT">
                <a:solidFill>
                  <a:srgbClr val="102B51"/>
                </a:solidFill>
                <a:latin typeface="Aptos"/>
              </a:rPr>
              <a:t> </a:t>
            </a:r>
            <a:r>
              <a:rPr lang="it-IT" err="1">
                <a:solidFill>
                  <a:srgbClr val="102B51"/>
                </a:solidFill>
                <a:latin typeface="Aptos"/>
              </a:rPr>
              <a:t>Optimization</a:t>
            </a:r>
            <a:r>
              <a:rPr lang="it-IT">
                <a:solidFill>
                  <a:srgbClr val="102B51"/>
                </a:solidFill>
                <a:latin typeface="Aptos"/>
              </a:rPr>
              <a:t>–</a:t>
            </a:r>
            <a:r>
              <a:rPr lang="it-IT" dirty="0">
                <a:solidFill>
                  <a:srgbClr val="102B51"/>
                </a:solidFill>
                <a:latin typeface="Aptos"/>
              </a:rPr>
              <a:t> Off-set</a:t>
            </a:r>
            <a:endParaRPr lang="en-US" dirty="0">
              <a:solidFill>
                <a:srgbClr val="102B5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DD642CE-B064-76B7-CD11-CFDEE7FA1E9E}"/>
              </a:ext>
            </a:extLst>
          </p:cNvPr>
          <p:cNvSpPr txBox="1"/>
          <p:nvPr/>
        </p:nvSpPr>
        <p:spPr>
          <a:xfrm>
            <a:off x="364520" y="1086217"/>
            <a:ext cx="5357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102B51"/>
                </a:solidFill>
              </a:rPr>
              <a:t>Results</a:t>
            </a:r>
            <a:r>
              <a:rPr lang="it-IT" b="1" dirty="0">
                <a:solidFill>
                  <a:srgbClr val="102B51"/>
                </a:solidFill>
              </a:rPr>
              <a:t>:</a:t>
            </a:r>
            <a:r>
              <a:rPr lang="it-IT" dirty="0"/>
              <a:t> </a:t>
            </a:r>
            <a:r>
              <a:rPr lang="it-IT" dirty="0" err="1"/>
              <a:t>Cascade</a:t>
            </a:r>
            <a:r>
              <a:rPr lang="it-IT" dirty="0"/>
              <a:t> </a:t>
            </a:r>
            <a:r>
              <a:rPr lang="it-IT" dirty="0" err="1"/>
              <a:t>Optimization</a:t>
            </a:r>
            <a:r>
              <a:rPr lang="it-IT" dirty="0"/>
              <a:t> with Off-set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AD94C2E-D64A-3EEB-0E20-6E27DC54707D}"/>
              </a:ext>
            </a:extLst>
          </p:cNvPr>
          <p:cNvSpPr txBox="1"/>
          <p:nvPr/>
        </p:nvSpPr>
        <p:spPr>
          <a:xfrm>
            <a:off x="364519" y="4898011"/>
            <a:ext cx="11588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>
                <a:solidFill>
                  <a:srgbClr val="102B51"/>
                </a:solidFill>
              </a:rPr>
              <a:t>maximum position error</a:t>
            </a:r>
            <a:r>
              <a:rPr lang="en-US" sz="1600" dirty="0">
                <a:solidFill>
                  <a:srgbClr val="102B51"/>
                </a:solidFill>
              </a:rPr>
              <a:t> </a:t>
            </a:r>
            <a:r>
              <a:rPr lang="en-US" sz="1600" dirty="0"/>
              <a:t>drops to </a:t>
            </a:r>
            <a:r>
              <a:rPr lang="en-US" sz="1600" b="1" dirty="0">
                <a:solidFill>
                  <a:srgbClr val="102B51"/>
                </a:solidFill>
              </a:rPr>
              <a:t>&lt;0.2° </a:t>
            </a:r>
            <a:r>
              <a:rPr lang="en-US" sz="1600" dirty="0"/>
              <a:t>on joint 1, and the </a:t>
            </a:r>
            <a:r>
              <a:rPr lang="en-US" sz="1600" b="1" dirty="0">
                <a:solidFill>
                  <a:srgbClr val="102B51"/>
                </a:solidFill>
              </a:rPr>
              <a:t>peak torque</a:t>
            </a:r>
            <a:r>
              <a:rPr lang="en-US" sz="1600" dirty="0">
                <a:solidFill>
                  <a:srgbClr val="102B51"/>
                </a:solidFill>
              </a:rPr>
              <a:t> </a:t>
            </a:r>
            <a:r>
              <a:rPr lang="en-US" sz="1600" dirty="0"/>
              <a:t>is reduced to </a:t>
            </a:r>
            <a:r>
              <a:rPr lang="en-US" sz="1600" b="1" dirty="0">
                <a:solidFill>
                  <a:srgbClr val="102B51"/>
                </a:solidFill>
              </a:rPr>
              <a:t>~18 Nm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The only notable effect is a </a:t>
            </a:r>
            <a:r>
              <a:rPr lang="en-US" sz="1600" b="1" dirty="0">
                <a:solidFill>
                  <a:srgbClr val="102B51"/>
                </a:solidFill>
              </a:rPr>
              <a:t>slight torque wobble at the beginning</a:t>
            </a:r>
            <a:r>
              <a:rPr lang="en-US" sz="1600" dirty="0"/>
              <a:t>, likely caused by controller sensitivity during low-speed phases</a:t>
            </a:r>
            <a:endParaRPr lang="it-IT" sz="1600" dirty="0"/>
          </a:p>
        </p:txBody>
      </p:sp>
      <p:pic>
        <p:nvPicPr>
          <p:cNvPr id="12" name="Immagine 11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CD00C2EF-168B-B0D3-1ADE-8DD2EB272B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663" y="1522362"/>
            <a:ext cx="3550548" cy="2744292"/>
          </a:xfrm>
          <a:prstGeom prst="rect">
            <a:avLst/>
          </a:prstGeom>
        </p:spPr>
      </p:pic>
      <p:pic>
        <p:nvPicPr>
          <p:cNvPr id="15" name="Immagine 14" descr="Immagine che contiene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E55BA0E0-97AC-3ABE-59CE-20AC40992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893" y="1531130"/>
            <a:ext cx="3302971" cy="2735524"/>
          </a:xfrm>
          <a:prstGeom prst="rect">
            <a:avLst/>
          </a:prstGeom>
        </p:spPr>
      </p:pic>
      <p:pic>
        <p:nvPicPr>
          <p:cNvPr id="18" name="Immagine 17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4303D35-6702-EBAD-ECD9-6DCB75A441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24" y="1525219"/>
            <a:ext cx="3302971" cy="273038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8E2F68-F705-C4A9-95A2-6DE9D5316766}"/>
              </a:ext>
            </a:extLst>
          </p:cNvPr>
          <p:cNvSpPr txBox="1"/>
          <p:nvPr/>
        </p:nvSpPr>
        <p:spPr>
          <a:xfrm>
            <a:off x="364519" y="5598366"/>
            <a:ext cx="8523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02B51"/>
                </a:solidFill>
              </a:rPr>
              <a:t>Best </a:t>
            </a:r>
            <a:r>
              <a:rPr lang="it-IT" sz="1600" b="1" dirty="0" err="1">
                <a:solidFill>
                  <a:srgbClr val="102B51"/>
                </a:solidFill>
              </a:rPr>
              <a:t>Objective</a:t>
            </a:r>
            <a:r>
              <a:rPr lang="it-IT" sz="1600" b="1" dirty="0">
                <a:solidFill>
                  <a:srgbClr val="102B51"/>
                </a:solidFill>
              </a:rPr>
              <a:t> for Global Preliminary </a:t>
            </a:r>
            <a:r>
              <a:rPr lang="it-IT" sz="1600" b="1" dirty="0" err="1">
                <a:solidFill>
                  <a:srgbClr val="102B51"/>
                </a:solidFill>
              </a:rPr>
              <a:t>Optimization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at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iteration</a:t>
            </a:r>
            <a:r>
              <a:rPr lang="it-IT" sz="1600" b="1" dirty="0">
                <a:solidFill>
                  <a:srgbClr val="102B51"/>
                </a:solidFill>
              </a:rPr>
              <a:t>:</a:t>
            </a:r>
            <a:r>
              <a:rPr lang="it-IT" sz="1600" dirty="0"/>
              <a:t> 45</a:t>
            </a:r>
            <a:br>
              <a:rPr lang="it-IT" sz="1600" dirty="0"/>
            </a:br>
            <a:r>
              <a:rPr lang="it-IT" sz="1600" b="1" dirty="0">
                <a:solidFill>
                  <a:srgbClr val="102B51"/>
                </a:solidFill>
              </a:rPr>
              <a:t>Best </a:t>
            </a:r>
            <a:r>
              <a:rPr lang="it-IT" sz="1600" b="1" dirty="0" err="1">
                <a:solidFill>
                  <a:srgbClr val="102B51"/>
                </a:solidFill>
              </a:rPr>
              <a:t>Objective</a:t>
            </a:r>
            <a:r>
              <a:rPr lang="it-IT" sz="1600" b="1" dirty="0">
                <a:solidFill>
                  <a:srgbClr val="102B51"/>
                </a:solidFill>
              </a:rPr>
              <a:t> for </a:t>
            </a:r>
            <a:r>
              <a:rPr lang="it-IT" sz="1600" b="1" dirty="0" err="1">
                <a:solidFill>
                  <a:srgbClr val="102B51"/>
                </a:solidFill>
              </a:rPr>
              <a:t>Sequential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Optimization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at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iteration</a:t>
            </a:r>
            <a:r>
              <a:rPr lang="it-IT" sz="1600" b="1" dirty="0">
                <a:solidFill>
                  <a:srgbClr val="102B51"/>
                </a:solidFill>
              </a:rPr>
              <a:t>: </a:t>
            </a:r>
            <a:r>
              <a:rPr lang="it-IT" sz="1600" dirty="0"/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269714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EBBC8-2ADE-BEFF-8F29-9C115F08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EAEFA33E-5FEA-56C9-8D96-CCE95DE5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17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EBC26454-0A4E-FAF7-9917-336CC897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755D0E-BA74-DFC5-7AE9-19F0CF6633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DE85AF-C743-1547-4A18-59B9981DBDE8}"/>
              </a:ext>
            </a:extLst>
          </p:cNvPr>
          <p:cNvSpPr txBox="1"/>
          <p:nvPr/>
        </p:nvSpPr>
        <p:spPr>
          <a:xfrm>
            <a:off x="364519" y="1085774"/>
            <a:ext cx="6508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02B51"/>
                </a:solidFill>
              </a:rPr>
              <a:t>Dynamic Model: </a:t>
            </a:r>
            <a:r>
              <a:rPr lang="en-US" sz="1600" dirty="0"/>
              <a:t>Modified dynamics</a:t>
            </a:r>
            <a:endParaRPr lang="it-IT" sz="1600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CBBD6A25-6892-2479-C7E6-D02A69BF4B1B}"/>
              </a:ext>
            </a:extLst>
          </p:cNvPr>
          <p:cNvSpPr txBox="1">
            <a:spLocks/>
          </p:cNvSpPr>
          <p:nvPr/>
        </p:nvSpPr>
        <p:spPr>
          <a:xfrm>
            <a:off x="364519" y="285462"/>
            <a:ext cx="11588941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02B51"/>
                </a:solidFill>
                <a:latin typeface="Aptos"/>
              </a:rPr>
              <a:t>Solution 4: Real Dynamics </a:t>
            </a:r>
            <a:endParaRPr lang="en-US">
              <a:solidFill>
                <a:srgbClr val="102B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BAFED58-B3F7-DB6F-E2BD-B63789608CA7}"/>
                  </a:ext>
                </a:extLst>
              </p:cNvPr>
              <p:cNvSpPr txBox="1"/>
              <p:nvPr/>
            </p:nvSpPr>
            <p:spPr>
              <a:xfrm>
                <a:off x="1917290" y="1306859"/>
                <a:ext cx="7688826" cy="361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I</a:t>
                </a:r>
                <a:r>
                  <a:rPr lang="it-IT" sz="1600" dirty="0" err="1"/>
                  <a:t>ntroduction</a:t>
                </a:r>
                <a:r>
                  <a:rPr lang="it-IT" sz="1600" dirty="0"/>
                  <a:t> of </a:t>
                </a:r>
                <a:r>
                  <a:rPr lang="it-IT" sz="1600" dirty="0" err="1"/>
                  <a:t>inertia</a:t>
                </a:r>
                <a:r>
                  <a:rPr lang="it-IT" sz="1600" dirty="0"/>
                  <a:t> feed-</a:t>
                </a:r>
                <a:r>
                  <a:rPr lang="it-IT" sz="1600" dirty="0" err="1"/>
                  <a:t>forward</a:t>
                </a:r>
                <a:r>
                  <a:rPr lang="it-IT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1" i="1" smtClean="0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it-IT" sz="1600" b="1" i="1">
                            <a:solidFill>
                              <a:srgbClr val="102B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𝒇𝒇</m:t>
                        </m:r>
                      </m:sub>
                    </m:sSub>
                    <m:r>
                      <a:rPr lang="it-IT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dirty="0"/>
                  <a:t>and </a:t>
                </a:r>
                <a:r>
                  <a:rPr lang="it-IT" sz="1600" b="1" dirty="0" err="1">
                    <a:solidFill>
                      <a:srgbClr val="102B51"/>
                    </a:solidFill>
                  </a:rPr>
                  <a:t>friction</a:t>
                </a:r>
                <a:endParaRPr lang="it-IT" sz="1600" b="1" dirty="0">
                  <a:solidFill>
                    <a:srgbClr val="102B51"/>
                  </a:solidFill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BAFED58-B3F7-DB6F-E2BD-B6378960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290" y="1306859"/>
                <a:ext cx="7688826" cy="361894"/>
              </a:xfrm>
              <a:prstGeom prst="rect">
                <a:avLst/>
              </a:prstGeom>
              <a:blipFill>
                <a:blip r:embed="rId4"/>
                <a:stretch>
                  <a:fillRect l="-476" t="-3333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0FAC22BE-EDBE-0F32-C4D4-A374CD6B323F}"/>
              </a:ext>
            </a:extLst>
          </p:cNvPr>
          <p:cNvSpPr txBox="1"/>
          <p:nvPr/>
        </p:nvSpPr>
        <p:spPr>
          <a:xfrm>
            <a:off x="364519" y="1704490"/>
            <a:ext cx="9880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rgbClr val="102B51"/>
                </a:solidFill>
              </a:rPr>
              <a:t>Optimization</a:t>
            </a:r>
            <a:r>
              <a:rPr lang="it-IT" sz="1600" b="1" dirty="0">
                <a:solidFill>
                  <a:srgbClr val="102B51"/>
                </a:solidFill>
              </a:rPr>
              <a:t> strategy: </a:t>
            </a:r>
            <a:r>
              <a:rPr lang="en-GB" sz="1600" dirty="0"/>
              <a:t>Initial 28-parameter optimization  + 7 sequential joint-level refinements</a:t>
            </a:r>
            <a:endParaRPr lang="it-IT" sz="16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7A5AD26-4B65-C5E9-268B-789921EC6E7E}"/>
              </a:ext>
            </a:extLst>
          </p:cNvPr>
          <p:cNvSpPr txBox="1"/>
          <p:nvPr/>
        </p:nvSpPr>
        <p:spPr>
          <a:xfrm>
            <a:off x="329735" y="4784751"/>
            <a:ext cx="11588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More </a:t>
            </a:r>
            <a:r>
              <a:rPr lang="en-US" sz="1600" b="1" dirty="0">
                <a:solidFill>
                  <a:srgbClr val="102B51"/>
                </a:solidFill>
              </a:rPr>
              <a:t>realistic</a:t>
            </a:r>
            <a:r>
              <a:rPr lang="en-US" sz="1600" dirty="0"/>
              <a:t> evaluation of the control strategy</a:t>
            </a:r>
          </a:p>
          <a:p>
            <a:r>
              <a:rPr lang="en-US" sz="1600" b="1" dirty="0">
                <a:solidFill>
                  <a:srgbClr val="102B51"/>
                </a:solidFill>
              </a:rPr>
              <a:t>Main goal: </a:t>
            </a:r>
            <a:r>
              <a:rPr lang="en-US" sz="1600" dirty="0"/>
              <a:t> Evaluate the </a:t>
            </a:r>
            <a:r>
              <a:rPr lang="en-US" sz="1600" b="1" dirty="0">
                <a:solidFill>
                  <a:srgbClr val="102B51"/>
                </a:solidFill>
              </a:rPr>
              <a:t>robustness and generalization</a:t>
            </a:r>
            <a:r>
              <a:rPr lang="en-US" sz="1600" dirty="0">
                <a:solidFill>
                  <a:srgbClr val="102B51"/>
                </a:solidFill>
              </a:rPr>
              <a:t> </a:t>
            </a:r>
            <a:r>
              <a:rPr lang="en-US" sz="1600" dirty="0"/>
              <a:t>of the optimized controller under </a:t>
            </a:r>
            <a:r>
              <a:rPr lang="en-US" sz="1600" b="1" dirty="0">
                <a:solidFill>
                  <a:srgbClr val="102B51"/>
                </a:solidFill>
              </a:rPr>
              <a:t>realistic, time-varying dynamics</a:t>
            </a:r>
            <a:endParaRPr lang="it-IT" sz="1600" dirty="0">
              <a:solidFill>
                <a:srgbClr val="102B51"/>
              </a:solidFill>
            </a:endParaRPr>
          </a:p>
          <a:p>
            <a:r>
              <a:rPr lang="en-US" sz="1600" dirty="0"/>
              <a:t>Result: </a:t>
            </a:r>
            <a:r>
              <a:rPr lang="en-US" sz="1600" b="1" dirty="0">
                <a:solidFill>
                  <a:srgbClr val="102B51"/>
                </a:solidFill>
              </a:rPr>
              <a:t>~0.6° max error</a:t>
            </a:r>
            <a:r>
              <a:rPr lang="en-US" sz="1600" dirty="0"/>
              <a:t>, </a:t>
            </a:r>
            <a:r>
              <a:rPr lang="en-US" sz="1600" b="1" dirty="0">
                <a:solidFill>
                  <a:srgbClr val="102B51"/>
                </a:solidFill>
              </a:rPr>
              <a:t>~20 Nm peak torque</a:t>
            </a:r>
            <a:endParaRPr lang="it-IT" sz="1600" b="1" dirty="0">
              <a:solidFill>
                <a:srgbClr val="102B51"/>
              </a:solidFill>
            </a:endParaRPr>
          </a:p>
        </p:txBody>
      </p:sp>
      <p:pic>
        <p:nvPicPr>
          <p:cNvPr id="16" name="Immagine 15" descr="Immagine che contiene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03251AA3-2DFC-8FFA-6534-B4D35306E6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700" y="2086324"/>
            <a:ext cx="3189980" cy="2581874"/>
          </a:xfrm>
          <a:prstGeom prst="rect">
            <a:avLst/>
          </a:prstGeom>
        </p:spPr>
      </p:pic>
      <p:pic>
        <p:nvPicPr>
          <p:cNvPr id="18" name="Immagine 17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56457D29-A2F7-57A7-99AA-4FB926DC9B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53" y="2086324"/>
            <a:ext cx="3351185" cy="2569616"/>
          </a:xfrm>
          <a:prstGeom prst="rect">
            <a:avLst/>
          </a:prstGeom>
        </p:spPr>
      </p:pic>
      <p:pic>
        <p:nvPicPr>
          <p:cNvPr id="20" name="Immagine 19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1465BA70-2BD8-B31D-C440-3E4EF7AB33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10" y="2098338"/>
            <a:ext cx="3009317" cy="254406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B6260E8-89BC-C7CC-CA2C-02C907F10879}"/>
              </a:ext>
            </a:extLst>
          </p:cNvPr>
          <p:cNvSpPr txBox="1"/>
          <p:nvPr/>
        </p:nvSpPr>
        <p:spPr>
          <a:xfrm>
            <a:off x="364519" y="5598366"/>
            <a:ext cx="8523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02B51"/>
                </a:solidFill>
              </a:rPr>
              <a:t>Best </a:t>
            </a:r>
            <a:r>
              <a:rPr lang="it-IT" sz="1600" b="1" dirty="0" err="1">
                <a:solidFill>
                  <a:srgbClr val="102B51"/>
                </a:solidFill>
              </a:rPr>
              <a:t>Objective</a:t>
            </a:r>
            <a:r>
              <a:rPr lang="it-IT" sz="1600" b="1" dirty="0">
                <a:solidFill>
                  <a:srgbClr val="102B51"/>
                </a:solidFill>
              </a:rPr>
              <a:t> for Global Preliminary </a:t>
            </a:r>
            <a:r>
              <a:rPr lang="it-IT" sz="1600" b="1" dirty="0" err="1">
                <a:solidFill>
                  <a:srgbClr val="102B51"/>
                </a:solidFill>
              </a:rPr>
              <a:t>Optimization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at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iteration</a:t>
            </a:r>
            <a:r>
              <a:rPr lang="it-IT" sz="1600" b="1" dirty="0">
                <a:solidFill>
                  <a:srgbClr val="102B51"/>
                </a:solidFill>
              </a:rPr>
              <a:t>:</a:t>
            </a:r>
            <a:r>
              <a:rPr lang="it-IT" sz="1600" dirty="0"/>
              <a:t> 255</a:t>
            </a:r>
            <a:br>
              <a:rPr lang="it-IT" sz="1600" dirty="0"/>
            </a:br>
            <a:r>
              <a:rPr lang="it-IT" sz="1600" b="1" dirty="0">
                <a:solidFill>
                  <a:srgbClr val="102B51"/>
                </a:solidFill>
              </a:rPr>
              <a:t>Best </a:t>
            </a:r>
            <a:r>
              <a:rPr lang="it-IT" sz="1600" b="1" dirty="0" err="1">
                <a:solidFill>
                  <a:srgbClr val="102B51"/>
                </a:solidFill>
              </a:rPr>
              <a:t>Objective</a:t>
            </a:r>
            <a:r>
              <a:rPr lang="it-IT" sz="1600" b="1" dirty="0">
                <a:solidFill>
                  <a:srgbClr val="102B51"/>
                </a:solidFill>
              </a:rPr>
              <a:t> for </a:t>
            </a:r>
            <a:r>
              <a:rPr lang="it-IT" sz="1600" b="1" dirty="0" err="1">
                <a:solidFill>
                  <a:srgbClr val="102B51"/>
                </a:solidFill>
              </a:rPr>
              <a:t>Sequential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Optimization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at</a:t>
            </a:r>
            <a:r>
              <a:rPr lang="it-IT" sz="1600" b="1" dirty="0">
                <a:solidFill>
                  <a:srgbClr val="102B51"/>
                </a:solidFill>
              </a:rPr>
              <a:t> </a:t>
            </a:r>
            <a:r>
              <a:rPr lang="it-IT" sz="1600" b="1" dirty="0" err="1">
                <a:solidFill>
                  <a:srgbClr val="102B51"/>
                </a:solidFill>
              </a:rPr>
              <a:t>iteration</a:t>
            </a:r>
            <a:r>
              <a:rPr lang="it-IT" sz="1600" b="1" dirty="0">
                <a:solidFill>
                  <a:srgbClr val="102B51"/>
                </a:solidFill>
              </a:rPr>
              <a:t>: </a:t>
            </a:r>
            <a:r>
              <a:rPr lang="it-IT" sz="1600" dirty="0"/>
              <a:t>237</a:t>
            </a:r>
          </a:p>
        </p:txBody>
      </p:sp>
    </p:spTree>
    <p:extLst>
      <p:ext uri="{BB962C8B-B14F-4D97-AF65-F5344CB8AC3E}">
        <p14:creationId xmlns:p14="http://schemas.microsoft.com/office/powerpoint/2010/main" val="3669015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15E13-74B4-9BB8-E6B6-050CEC69A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97255D4-0350-4F61-03E0-2601C081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18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8C527079-DA41-4014-2A9F-27EC2646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F249D96-0865-5348-0280-74F404FB6D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4B8A36-AA10-B37D-6F68-53E2590D2FD9}"/>
              </a:ext>
            </a:extLst>
          </p:cNvPr>
          <p:cNvSpPr txBox="1"/>
          <p:nvPr/>
        </p:nvSpPr>
        <p:spPr>
          <a:xfrm>
            <a:off x="364518" y="5477255"/>
            <a:ext cx="115889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perturbation has </a:t>
            </a:r>
            <a:r>
              <a:rPr lang="en-US" sz="1600" b="1" dirty="0">
                <a:solidFill>
                  <a:srgbClr val="102B51"/>
                </a:solidFill>
              </a:rPr>
              <a:t>minimal impact on performance</a:t>
            </a:r>
            <a:r>
              <a:rPr lang="en-US" sz="1600" dirty="0"/>
              <a:t>, confirming the controller’s robustness to moderate friction estimation errors</a:t>
            </a:r>
            <a:endParaRPr lang="en-GB" sz="1600" dirty="0"/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4C64F8FD-A8E6-E84F-AF8B-75B8258AC585}"/>
              </a:ext>
            </a:extLst>
          </p:cNvPr>
          <p:cNvSpPr txBox="1">
            <a:spLocks/>
          </p:cNvSpPr>
          <p:nvPr/>
        </p:nvSpPr>
        <p:spPr>
          <a:xfrm>
            <a:off x="364519" y="285462"/>
            <a:ext cx="11588941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02B51"/>
                </a:solidFill>
                <a:latin typeface="Aptos"/>
              </a:rPr>
              <a:t>Perturbation</a:t>
            </a:r>
            <a:r>
              <a:rPr lang="it-IT">
                <a:solidFill>
                  <a:srgbClr val="102B51"/>
                </a:solidFill>
                <a:latin typeface="Aptos"/>
              </a:rPr>
              <a:t> Analysis</a:t>
            </a:r>
            <a:endParaRPr lang="en-US">
              <a:solidFill>
                <a:srgbClr val="102B5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0D2D102-FB70-EE6F-A472-4C917E07AAA4}"/>
              </a:ext>
            </a:extLst>
          </p:cNvPr>
          <p:cNvSpPr txBox="1"/>
          <p:nvPr/>
        </p:nvSpPr>
        <p:spPr>
          <a:xfrm>
            <a:off x="364519" y="1147728"/>
            <a:ext cx="6508229" cy="450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02B51"/>
                </a:solidFill>
              </a:rPr>
              <a:t>Dynamic Model: </a:t>
            </a:r>
            <a:r>
              <a:rPr lang="en-US" sz="1600"/>
              <a:t>Modified dynamics</a:t>
            </a:r>
            <a:endParaRPr lang="it-IT" sz="160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AAEC561-298A-25C5-537C-21080F2373CF}"/>
              </a:ext>
            </a:extLst>
          </p:cNvPr>
          <p:cNvSpPr txBox="1"/>
          <p:nvPr/>
        </p:nvSpPr>
        <p:spPr>
          <a:xfrm>
            <a:off x="364519" y="1488045"/>
            <a:ext cx="9880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02B51"/>
                </a:solidFill>
              </a:rPr>
              <a:t>Solution </a:t>
            </a:r>
            <a:r>
              <a:rPr lang="it-IT" sz="1600" b="1" dirty="0" err="1">
                <a:solidFill>
                  <a:srgbClr val="102B51"/>
                </a:solidFill>
              </a:rPr>
              <a:t>considered</a:t>
            </a:r>
            <a:r>
              <a:rPr lang="it-IT" sz="1600" b="1" dirty="0">
                <a:solidFill>
                  <a:srgbClr val="102B51"/>
                </a:solidFill>
              </a:rPr>
              <a:t>: </a:t>
            </a:r>
            <a:r>
              <a:rPr lang="en-GB" sz="1600" dirty="0"/>
              <a:t>Initial 28-parameter optimization  + 7 sequential joint-level refinements</a:t>
            </a:r>
            <a:endParaRPr lang="it-IT" sz="16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A31CCDE-8F17-4B93-5EAD-CD5F66E20CC8}"/>
              </a:ext>
            </a:extLst>
          </p:cNvPr>
          <p:cNvSpPr txBox="1"/>
          <p:nvPr/>
        </p:nvSpPr>
        <p:spPr>
          <a:xfrm>
            <a:off x="364518" y="1819605"/>
            <a:ext cx="11588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>
                <a:solidFill>
                  <a:srgbClr val="102B51"/>
                </a:solidFill>
              </a:rPr>
              <a:t>Maximum </a:t>
            </a:r>
            <a:r>
              <a:rPr lang="it-IT" sz="1600" b="1" err="1">
                <a:solidFill>
                  <a:srgbClr val="102B51"/>
                </a:solidFill>
              </a:rPr>
              <a:t>uncertainty</a:t>
            </a:r>
            <a:r>
              <a:rPr lang="it-IT" sz="1600" b="1">
                <a:solidFill>
                  <a:srgbClr val="102B51"/>
                </a:solidFill>
              </a:rPr>
              <a:t> on </a:t>
            </a:r>
            <a:r>
              <a:rPr lang="it-IT" sz="1600" b="1" err="1">
                <a:solidFill>
                  <a:srgbClr val="102B51"/>
                </a:solidFill>
              </a:rPr>
              <a:t>all</a:t>
            </a:r>
            <a:r>
              <a:rPr lang="it-IT" sz="1600" b="1">
                <a:solidFill>
                  <a:srgbClr val="102B51"/>
                </a:solidFill>
              </a:rPr>
              <a:t> joints </a:t>
            </a:r>
            <a:r>
              <a:rPr lang="it-IT" sz="1600" b="1" err="1">
                <a:solidFill>
                  <a:srgbClr val="102B51"/>
                </a:solidFill>
              </a:rPr>
              <a:t>viscous</a:t>
            </a:r>
            <a:r>
              <a:rPr lang="it-IT" sz="1600" b="1">
                <a:solidFill>
                  <a:srgbClr val="102B51"/>
                </a:solidFill>
              </a:rPr>
              <a:t> </a:t>
            </a:r>
            <a:r>
              <a:rPr lang="it-IT" sz="1600" b="1" err="1">
                <a:solidFill>
                  <a:srgbClr val="102B51"/>
                </a:solidFill>
              </a:rPr>
              <a:t>coefficient</a:t>
            </a:r>
            <a:r>
              <a:rPr lang="it-IT" sz="1600" b="1">
                <a:solidFill>
                  <a:srgbClr val="102B51"/>
                </a:solidFill>
              </a:rPr>
              <a:t>: </a:t>
            </a:r>
            <a:r>
              <a:rPr lang="en-GB" sz="1600"/>
              <a:t>± 50% </a:t>
            </a:r>
            <a:endParaRPr lang="it-IT" sz="1600"/>
          </a:p>
        </p:txBody>
      </p:sp>
      <p:pic>
        <p:nvPicPr>
          <p:cNvPr id="12" name="Picture 11" descr="A graph of a waveform">
            <a:extLst>
              <a:ext uri="{FF2B5EF4-FFF2-40B4-BE49-F238E27FC236}">
                <a16:creationId xmlns:a16="http://schemas.microsoft.com/office/drawing/2014/main" id="{797388FF-FD03-2258-1AC5-3028B7CA5D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8" t="2825" r="9069" b="5096"/>
          <a:stretch>
            <a:fillRect/>
          </a:stretch>
        </p:blipFill>
        <p:spPr>
          <a:xfrm>
            <a:off x="456283" y="2316915"/>
            <a:ext cx="5545393" cy="3031919"/>
          </a:xfrm>
          <a:prstGeom prst="rect">
            <a:avLst/>
          </a:prstGeom>
        </p:spPr>
      </p:pic>
      <p:pic>
        <p:nvPicPr>
          <p:cNvPr id="7" name="Picture 14" descr="A graph of a wave">
            <a:extLst>
              <a:ext uri="{FF2B5EF4-FFF2-40B4-BE49-F238E27FC236}">
                <a16:creationId xmlns:a16="http://schemas.microsoft.com/office/drawing/2014/main" id="{83BF90EA-C55C-27D0-60D6-83EB5A2DBB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8" t="3830" r="9113" b="3987"/>
          <a:stretch>
            <a:fillRect/>
          </a:stretch>
        </p:blipFill>
        <p:spPr>
          <a:xfrm>
            <a:off x="6214067" y="2319233"/>
            <a:ext cx="5545393" cy="302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8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E5C8A-0D5F-544D-3F3C-D5C70D3A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D4886C4-785E-FE99-7B7B-162403CE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en-US" noProof="0" smtClean="0"/>
              <a:pPr/>
              <a:t>19</a:t>
            </a:fld>
            <a:endParaRPr lang="en-US" noProof="0"/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CCB4877E-C066-F24B-7A50-5509D956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7024" y="6346147"/>
            <a:ext cx="4688711" cy="365125"/>
          </a:xfrm>
        </p:spPr>
        <p:txBody>
          <a:bodyPr/>
          <a:lstStyle/>
          <a:p>
            <a:r>
              <a:rPr lang="en-US" noProof="0" err="1"/>
              <a:t>Politecnico</a:t>
            </a:r>
            <a:r>
              <a:rPr lang="en-US" noProof="0"/>
              <a:t> di Milano – Machine Learning for Mechanical Systems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3B2E0DC-CF82-47BC-B8A6-B99CD539D2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4" y="6346147"/>
            <a:ext cx="3009317" cy="375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9561E-4FE8-A81A-06BD-43CFD22335FF}"/>
              </a:ext>
            </a:extLst>
          </p:cNvPr>
          <p:cNvSpPr txBox="1"/>
          <p:nvPr/>
        </p:nvSpPr>
        <p:spPr>
          <a:xfrm>
            <a:off x="412893" y="5849743"/>
            <a:ext cx="11540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tracking performance remained unchanged, confirming the </a:t>
            </a:r>
            <a:r>
              <a:rPr lang="en-US" sz="1600" b="1" dirty="0">
                <a:solidFill>
                  <a:srgbClr val="102B51"/>
                </a:solidFill>
              </a:rPr>
              <a:t>robustness of the control strategy to initial condition variations</a:t>
            </a:r>
            <a:endParaRPr lang="en-GB" sz="1600" dirty="0">
              <a:solidFill>
                <a:srgbClr val="102B51"/>
              </a:solidFill>
            </a:endParaRPr>
          </a:p>
        </p:txBody>
      </p:sp>
      <p:sp>
        <p:nvSpPr>
          <p:cNvPr id="2" name="Titolo 2">
            <a:extLst>
              <a:ext uri="{FF2B5EF4-FFF2-40B4-BE49-F238E27FC236}">
                <a16:creationId xmlns:a16="http://schemas.microsoft.com/office/drawing/2014/main" id="{009DD606-87B6-206A-E2A2-76703C35043E}"/>
              </a:ext>
            </a:extLst>
          </p:cNvPr>
          <p:cNvSpPr txBox="1">
            <a:spLocks/>
          </p:cNvSpPr>
          <p:nvPr/>
        </p:nvSpPr>
        <p:spPr>
          <a:xfrm>
            <a:off x="364519" y="285462"/>
            <a:ext cx="11588941" cy="840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02B51"/>
                </a:solidFill>
                <a:latin typeface="Aptos"/>
              </a:rPr>
              <a:t>Perturbation</a:t>
            </a:r>
            <a:r>
              <a:rPr lang="it-IT">
                <a:solidFill>
                  <a:srgbClr val="102B51"/>
                </a:solidFill>
                <a:latin typeface="Aptos"/>
              </a:rPr>
              <a:t> Analysis</a:t>
            </a:r>
            <a:endParaRPr lang="en-US">
              <a:solidFill>
                <a:srgbClr val="102B51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FF8B50E-366D-B571-8F09-A479B8B20060}"/>
              </a:ext>
            </a:extLst>
          </p:cNvPr>
          <p:cNvSpPr txBox="1"/>
          <p:nvPr/>
        </p:nvSpPr>
        <p:spPr>
          <a:xfrm>
            <a:off x="364519" y="1144110"/>
            <a:ext cx="6508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02B51"/>
                </a:solidFill>
              </a:rPr>
              <a:t>Dynamic Model: </a:t>
            </a:r>
            <a:r>
              <a:rPr lang="en-US" sz="1600" dirty="0"/>
              <a:t>Modified dynamics</a:t>
            </a:r>
            <a:endParaRPr lang="it-IT" sz="16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0FF434A-48AD-E9F4-B8D2-115FC15B0F46}"/>
              </a:ext>
            </a:extLst>
          </p:cNvPr>
          <p:cNvSpPr txBox="1"/>
          <p:nvPr/>
        </p:nvSpPr>
        <p:spPr>
          <a:xfrm>
            <a:off x="364519" y="1478213"/>
            <a:ext cx="9880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102B51"/>
                </a:solidFill>
              </a:rPr>
              <a:t>Solution </a:t>
            </a:r>
            <a:r>
              <a:rPr lang="it-IT" sz="1600" b="1" dirty="0" err="1">
                <a:solidFill>
                  <a:srgbClr val="102B51"/>
                </a:solidFill>
              </a:rPr>
              <a:t>considered</a:t>
            </a:r>
            <a:r>
              <a:rPr lang="it-IT" sz="1600" b="1" dirty="0">
                <a:solidFill>
                  <a:srgbClr val="102B51"/>
                </a:solidFill>
              </a:rPr>
              <a:t>: </a:t>
            </a:r>
            <a:r>
              <a:rPr lang="en-GB" sz="1600" dirty="0"/>
              <a:t>Initial 28-parameter optimization  + 7 sequential joint-level refinements</a:t>
            </a:r>
            <a:endParaRPr lang="it-IT" sz="16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5E71318-777F-72F6-51F1-BE18B5CDA83E}"/>
              </a:ext>
            </a:extLst>
          </p:cNvPr>
          <p:cNvSpPr txBox="1"/>
          <p:nvPr/>
        </p:nvSpPr>
        <p:spPr>
          <a:xfrm>
            <a:off x="364519" y="1820606"/>
            <a:ext cx="115889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rgbClr val="102B51"/>
                </a:solidFill>
              </a:rPr>
              <a:t>Initial</a:t>
            </a:r>
            <a:r>
              <a:rPr lang="it-IT" sz="1600" b="1" dirty="0">
                <a:solidFill>
                  <a:srgbClr val="102B51"/>
                </a:solidFill>
              </a:rPr>
              <a:t> joint position </a:t>
            </a:r>
            <a:r>
              <a:rPr lang="it-IT" sz="1600" b="1" dirty="0" err="1">
                <a:solidFill>
                  <a:srgbClr val="102B51"/>
                </a:solidFill>
              </a:rPr>
              <a:t>perturbation</a:t>
            </a:r>
            <a:r>
              <a:rPr lang="it-IT" sz="1600" b="1" dirty="0">
                <a:solidFill>
                  <a:srgbClr val="102B51"/>
                </a:solidFill>
              </a:rPr>
              <a:t>: </a:t>
            </a:r>
            <a:r>
              <a:rPr lang="en-GB" sz="1600" dirty="0"/>
              <a:t>± 20% </a:t>
            </a:r>
            <a:endParaRPr lang="it-IT" sz="1600" dirty="0"/>
          </a:p>
        </p:txBody>
      </p:sp>
      <p:pic>
        <p:nvPicPr>
          <p:cNvPr id="7" name="Picture 6" descr="A graph of a waveform">
            <a:extLst>
              <a:ext uri="{FF2B5EF4-FFF2-40B4-BE49-F238E27FC236}">
                <a16:creationId xmlns:a16="http://schemas.microsoft.com/office/drawing/2014/main" id="{185FDBFD-54D2-DEC0-6EF8-521017288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0" t="3965" r="8608" b="4648"/>
          <a:stretch>
            <a:fillRect/>
          </a:stretch>
        </p:blipFill>
        <p:spPr>
          <a:xfrm>
            <a:off x="412893" y="2194037"/>
            <a:ext cx="5518494" cy="3586684"/>
          </a:xfrm>
          <a:prstGeom prst="rect">
            <a:avLst/>
          </a:prstGeom>
        </p:spPr>
      </p:pic>
      <p:pic>
        <p:nvPicPr>
          <p:cNvPr id="13" name="Picture 12" descr="A graph of a wave">
            <a:extLst>
              <a:ext uri="{FF2B5EF4-FFF2-40B4-BE49-F238E27FC236}">
                <a16:creationId xmlns:a16="http://schemas.microsoft.com/office/drawing/2014/main" id="{4D664B87-5415-76E2-6EE9-259D151D4C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1" t="5001" r="8901" b="4923"/>
          <a:stretch>
            <a:fillRect/>
          </a:stretch>
        </p:blipFill>
        <p:spPr>
          <a:xfrm>
            <a:off x="6154469" y="2194037"/>
            <a:ext cx="5575908" cy="358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62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915F-45EF-8627-FD9C-0AE2D25B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901C330-7939-CD08-9926-5831CFD2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5" y="3989527"/>
            <a:ext cx="10297220" cy="1979441"/>
          </a:xfrm>
        </p:spPr>
        <p:txBody>
          <a:bodyPr>
            <a:normAutofit/>
          </a:bodyPr>
          <a:lstStyle/>
          <a:p>
            <a:r>
              <a:rPr lang="en-US" sz="2400" noProof="0"/>
              <a:t>Machine Learning for Mechanical Systems</a:t>
            </a:r>
            <a:br>
              <a:rPr lang="en-US" noProof="0"/>
            </a:br>
            <a:r>
              <a:rPr lang="en-US" sz="2400" noProof="0"/>
              <a:t>Professor: Loris </a:t>
            </a:r>
            <a:r>
              <a:rPr lang="en-US" sz="2400" noProof="0" err="1"/>
              <a:t>Roveda</a:t>
            </a:r>
            <a:br>
              <a:rPr lang="en-US" noProof="0"/>
            </a:br>
            <a:endParaRPr lang="en-US" noProof="0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FDDD251-6D02-97AC-0B84-4FC2188CB5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3375" y="5929933"/>
            <a:ext cx="4568933" cy="389844"/>
          </a:xfrm>
        </p:spPr>
        <p:txBody>
          <a:bodyPr vert="horz" lIns="45719" tIns="45719" rIns="45719" bIns="45719" rtlCol="0" anchor="t">
            <a:noAutofit/>
          </a:bodyPr>
          <a:lstStyle/>
          <a:p>
            <a:r>
              <a:rPr lang="en-US" sz="2400" noProof="0">
                <a:latin typeface="Manrope"/>
              </a:rPr>
              <a:t>09.06.2025 | Bellini, Biraghi, Boccia</a:t>
            </a:r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71E367E1-04DF-7FBD-4FD0-A4DEBE80DB65}"/>
              </a:ext>
            </a:extLst>
          </p:cNvPr>
          <p:cNvSpPr txBox="1">
            <a:spLocks/>
          </p:cNvSpPr>
          <p:nvPr/>
        </p:nvSpPr>
        <p:spPr>
          <a:xfrm>
            <a:off x="2030609" y="991508"/>
            <a:ext cx="10297220" cy="1979441"/>
          </a:xfrm>
          <a:prstGeom prst="rect">
            <a:avLst/>
          </a:prstGeom>
        </p:spPr>
        <p:txBody>
          <a:bodyPr vert="horz" lIns="0" tIns="360000" rIns="0" bIns="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endParaRPr lang="en-US" noProof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450FDBBA-7A2C-9205-1098-147093D4643F}"/>
              </a:ext>
            </a:extLst>
          </p:cNvPr>
          <p:cNvSpPr txBox="1">
            <a:spLocks/>
          </p:cNvSpPr>
          <p:nvPr/>
        </p:nvSpPr>
        <p:spPr>
          <a:xfrm>
            <a:off x="1601164" y="1449559"/>
            <a:ext cx="8560227" cy="1979441"/>
          </a:xfrm>
          <a:prstGeom prst="rect">
            <a:avLst/>
          </a:prstGeom>
        </p:spPr>
        <p:txBody>
          <a:bodyPr vert="horz" lIns="0" tIns="360000" rIns="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noProof="0"/>
              <a:t>Thanks for your attention</a:t>
            </a:r>
            <a:endParaRPr lang="en-US" sz="4300" noProof="0"/>
          </a:p>
        </p:txBody>
      </p:sp>
    </p:spTree>
    <p:extLst>
      <p:ext uri="{BB962C8B-B14F-4D97-AF65-F5344CB8AC3E}">
        <p14:creationId xmlns:p14="http://schemas.microsoft.com/office/powerpoint/2010/main" val="4019491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1965</Words>
  <Application>Microsoft Office PowerPoint</Application>
  <PresentationFormat>Widescreen</PresentationFormat>
  <Paragraphs>289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 Math</vt:lpstr>
      <vt:lpstr>Manrope</vt:lpstr>
      <vt:lpstr>Times New Roman</vt:lpstr>
      <vt:lpstr>Wingdings</vt:lpstr>
      <vt:lpstr>Tema di Office</vt:lpstr>
      <vt:lpstr>Machine Learning for Mechanical Systems Professor: Loris Roveda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for Mechanical Systems Professor: Loris Roveda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bellini</dc:creator>
  <cp:lastModifiedBy>Davide Bellini</cp:lastModifiedBy>
  <cp:revision>1</cp:revision>
  <dcterms:created xsi:type="dcterms:W3CDTF">2025-05-30T14:35:22Z</dcterms:created>
  <dcterms:modified xsi:type="dcterms:W3CDTF">2025-06-08T19:13:02Z</dcterms:modified>
</cp:coreProperties>
</file>