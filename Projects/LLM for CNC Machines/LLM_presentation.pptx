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34"/>
  </p:notesMasterIdLst>
  <p:handoutMasterIdLst>
    <p:handoutMasterId r:id="rId35"/>
  </p:handoutMasterIdLst>
  <p:sldIdLst>
    <p:sldId id="270" r:id="rId3"/>
    <p:sldId id="340" r:id="rId4"/>
    <p:sldId id="333" r:id="rId5"/>
    <p:sldId id="351" r:id="rId6"/>
    <p:sldId id="355" r:id="rId7"/>
    <p:sldId id="369" r:id="rId8"/>
    <p:sldId id="368" r:id="rId9"/>
    <p:sldId id="367" r:id="rId10"/>
    <p:sldId id="361" r:id="rId11"/>
    <p:sldId id="350" r:id="rId12"/>
    <p:sldId id="345" r:id="rId13"/>
    <p:sldId id="356" r:id="rId14"/>
    <p:sldId id="344" r:id="rId15"/>
    <p:sldId id="352" r:id="rId16"/>
    <p:sldId id="353" r:id="rId17"/>
    <p:sldId id="357" r:id="rId18"/>
    <p:sldId id="354" r:id="rId19"/>
    <p:sldId id="358" r:id="rId20"/>
    <p:sldId id="342" r:id="rId21"/>
    <p:sldId id="339" r:id="rId22"/>
    <p:sldId id="362" r:id="rId23"/>
    <p:sldId id="360" r:id="rId24"/>
    <p:sldId id="370" r:id="rId25"/>
    <p:sldId id="364" r:id="rId26"/>
    <p:sldId id="366" r:id="rId27"/>
    <p:sldId id="372" r:id="rId28"/>
    <p:sldId id="373" r:id="rId29"/>
    <p:sldId id="377" r:id="rId30"/>
    <p:sldId id="374" r:id="rId31"/>
    <p:sldId id="375" r:id="rId32"/>
    <p:sldId id="376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B51"/>
    <a:srgbClr val="E7E9FF"/>
    <a:srgbClr val="F3F3F3"/>
    <a:srgbClr val="DDDEFF"/>
    <a:srgbClr val="03080F"/>
    <a:srgbClr val="0D2444"/>
    <a:srgbClr val="0A1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769AE-14FA-4382-8FEB-98575020A7BA}" v="677" dt="2025-06-06T14:34:56.538"/>
    <p1510:client id="{3B7E9BE2-3CB0-4F45-A819-ABE0D1FAAFA2}" v="14" dt="2025-06-07T08:12:10.280"/>
    <p1510:client id="{793F9365-CA4A-40F9-B2F6-D3C94162F60B}" v="2450" dt="2025-06-07T09:37:42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DD48FD-C5D9-75B0-26AE-AD2A01F0DF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B0CC6-CC6B-A66C-8E03-DFF92246EE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9F0F1-9C4F-4004-B0F9-39E19F0E0FFF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9C459-5B77-4031-D079-091BE4A247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C1401-D788-21B6-0965-97696A1B62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BE1F2-9703-48F3-BD42-FC6093320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956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C0A9C-8ED5-4F4A-8B22-7194D78A25C0}" type="datetimeFigureOut">
              <a:t>6/8/2025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9BC7E-B757-4FF3-8521-3E48E026615B}" type="slidenum"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739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1784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8FDC-6CBC-8B2F-CD37-EB0D75A1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4719BED-2C21-0E17-A44D-863D0B343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0BB5E51-E91E-D9B1-6E75-06E5122E1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5665BD7-CE07-D32C-F9AE-171CD939E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37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75D81-3B76-7730-FEA2-186AEC9C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251D564-2B90-34E8-6FAB-30F1BB5FE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B19F6B3-1183-527E-B511-041D073D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endParaRPr lang="en-US" sz="1600">
              <a:ea typeface="Calibri"/>
              <a:cs typeface="Calibri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8B8E07-5B1A-5BE4-0BA2-16C330739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70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D53A6-2F19-3116-6AF9-27FF3975A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D05854-5779-64CF-C25E-CCB3FA75F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3ABA531-7422-E7B1-F266-2F4F6F208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531DCBB-B808-0691-225A-D6233A6D5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3762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7DE4-E327-F27E-154D-35009E12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D2BA721-A173-07FF-49BF-470C10225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D3CBB41-2768-E453-6076-78BF16B3A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90CC7F-2083-081D-5111-2C5375EBB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6446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E65D3-584E-4ACA-00F6-3877414F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E3E1AB-F98D-11AC-552C-6EB69352C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91A629-640F-49EA-AE1B-A8F105EF5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8E7F53B-C2C5-F806-DA30-352F7FB97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675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E8097-FAFE-F38D-BC00-9F604C94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EC616C-8D26-64EF-C426-56AB7B3BE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640909-5B63-02B2-0C75-F9AD675CD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1F38CD-3F15-E821-CE24-C049BC2DF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9967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681DE-C5F1-4EF9-3A3C-9BC5538D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57E5DFF-32F2-D356-5339-6159CEA7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DCD525-2EF1-273D-A675-0F70D50FB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752C6A-ED41-4BCA-F6F2-F43E029CE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9794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C7FC-1CBE-63A2-04ED-DC2286D5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257A5F-729A-3F40-8727-D19E47D0B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03DC15E-A296-50EB-A2FB-20D4D7386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EFF4910-979D-31BE-7850-D5F8C2BEB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4431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CADCB-898D-14DC-E735-45D14053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71A24FB-81C7-78EE-15FE-91A95FF4C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265BB7D-D978-2318-6D82-2A9AA5A67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4FA502F-C241-5767-E64F-B5A12ADEE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694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4BB1D-51C1-47F5-608D-0F8C4583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FAD631-CD40-E17A-29BC-4016A1261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808BA9-AC16-6AD6-EF12-907770557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D80EED-B819-256F-701F-68682563B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840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B1674-EAB8-3DDA-3DEC-222EEDBC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374671E-9D6A-4D9D-0B46-A79C3023C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73A2AC-DC48-2F59-D3BA-C5DAB5E77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EC31A2-9328-1822-0A08-09F3F2550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8813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635C2-FFF8-1DA6-98C6-3FAF89286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33C9AA3-8D04-92C8-7CA1-EFC6A26C5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86BE04-A7BA-2547-E866-0B9588DCB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C532E48-F7D7-3C9D-A409-B979AB0CF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6317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645C-B994-FF52-B637-E7368A47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2DFAE99-DE85-8EB9-AE1D-41F587A00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D1AA33F-4219-65DF-94D8-8F552277E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DA19A8-9575-4045-1DD3-CCBF120D6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0237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0562-CAF5-D379-8C15-8B09CC0C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393FF48-1764-CACC-3A50-C975DEEBD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095CA0-5CC5-D9F3-6A2A-D9E7AE15F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F7721D2-A6ED-2401-1E77-295DD2627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143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D0BE8-F4B5-DB3A-BDA3-EB5CCE9B5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C533849-9C1E-49DE-C5E4-A5D2EA3A8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06EF87D-396F-6C54-02DA-BB5F670EF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B1F84E-9BAF-CE97-D532-CFF5F56B2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48263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4059-5742-258B-A4BF-38E04FB9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A7755E-1C1B-DB6D-16D6-B7677D717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C96AE72-1667-EEFB-74B0-FE3500331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ADAA049-8EFC-16C0-780B-E95E639C16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4394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452E-37E8-C77E-999A-7E12E36C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4BAB27-F743-75A4-7DF4-771DD26B9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131F912-70EC-2FBB-000D-DF2312097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8B068AC-42BB-0D81-24EA-A56D6080E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9803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70C22-7AF4-1759-5946-443624048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1C14C57-7F6E-549D-D315-5901A0CFB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E0550E-53C0-0FDE-BE66-08896D44C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5754FE-6389-ADE6-5CD3-E2B3151F9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8694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AAEB8-E849-EA72-B1F9-1431B523A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607944A-4327-4D0D-2D9D-80D76E4A8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6A98813-5A51-A6AF-7258-AC4811E26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DE9D27-CA45-A065-2512-FDFE847C0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43843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D508D-2C8E-5079-8813-8DFE488A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1DF9321-DC9D-02AD-574E-C76999038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1BF336-CF11-E8D6-AF4D-464878BA4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8BD103-D24B-B2BC-704F-ECA1422BE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417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3802-817A-11FD-C31C-D651B92C5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D041AC-0713-AFB5-A2F1-FF4248829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C4C37CC-DF5F-074B-A58D-155326E6E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EA710E-EA12-9CDB-145A-23193061C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01704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4A48-EB82-00C7-E58D-F1B9E83B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E6E8D61-D941-E203-1968-B3420D52C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7A27E79-B5D2-CFE1-C42E-435D93AC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1979FA-AE8C-4143-2DBB-BC09B73F5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4834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7FE37-59B5-4FBA-E35B-58CE549B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0F0D6F0-65B9-65E6-7E90-A58CD22C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818E7AE-C1C1-E6AE-0BF9-94840863A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4DDC5C-93B2-6D4A-E1D9-C15FF114F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9169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BA78-5180-1E98-097C-90F39BF3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A81C80D-BB0A-3873-7F5D-A9BCA3C0C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285C9C-7524-48B9-42D2-1D21E648B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16A36E-2BE7-09D3-7F22-A7BF1D524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7416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6C356-E4F1-A51A-E4B8-69676BD59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BD69657-6F31-E0BC-F9D7-40D8396BE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06736AE-351E-D6AD-FCE1-B59A933F4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D0E3CA-103E-D2BB-F1E5-4E06CCF08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5599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B3201-97C6-CB2D-C793-AB6631396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CF91AF-311E-F559-9D6D-6A716B6EB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5E514F-C788-F418-65F2-B9A2067BE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8DC70B-AF68-A192-7C1E-812D097B6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77093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DDBBE-3741-E7D1-0717-D384D983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58A2027-F409-1F61-3954-BEB04DF5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7BC480C-734D-8439-1176-0226AA83D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B225D4-9A1E-5F1E-DC41-8E5BA4744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33393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8791B-399F-186B-1A64-36161E2B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A14928C-D5AD-3DE0-134B-358D88441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63D627C-F983-C7FD-0BCC-DC2608E1C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96015D3-F6CE-AA83-A29D-841B97218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81163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0053-1116-2D80-3095-B8AE7BF5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C40EC43-2AC7-8ECB-E1F3-39FA85322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3905280-FC32-7F9A-63A8-EB138493F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752426-1C03-6A8F-CD77-0A0D558FC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74250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0053-1116-2D80-3095-B8AE7BF5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C40EC43-2AC7-8ECB-E1F3-39FA85322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3905280-FC32-7F9A-63A8-EB138493F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752426-1C03-6A8F-CD77-0A0D558FC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742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e 35">
            <a:extLst>
              <a:ext uri="{FF2B5EF4-FFF2-40B4-BE49-F238E27FC236}">
                <a16:creationId xmlns:a16="http://schemas.microsoft.com/office/drawing/2014/main" id="{51B3AA80-97EC-50CB-4FE0-29FF43A159AF}"/>
              </a:ext>
            </a:extLst>
          </p:cNvPr>
          <p:cNvSpPr/>
          <p:nvPr userDrawn="1"/>
        </p:nvSpPr>
        <p:spPr>
          <a:xfrm>
            <a:off x="2609" y="-5443635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1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F01AAD3-5366-6929-C4BA-2E51CD3F31D4}"/>
              </a:ext>
            </a:extLst>
          </p:cNvPr>
          <p:cNvSpPr/>
          <p:nvPr userDrawn="1"/>
        </p:nvSpPr>
        <p:spPr>
          <a:xfrm rot="19314398">
            <a:off x="2609" y="5468773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0301"/>
                </a:schemeClr>
              </a:gs>
              <a:gs pos="82000">
                <a:schemeClr val="accent3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Linea">
            <a:extLst>
              <a:ext uri="{FF2B5EF4-FFF2-40B4-BE49-F238E27FC236}">
                <a16:creationId xmlns:a16="http://schemas.microsoft.com/office/drawing/2014/main" id="{2889EA06-D03D-AD37-B610-762B18DC9D96}"/>
              </a:ext>
            </a:extLst>
          </p:cNvPr>
          <p:cNvSpPr/>
          <p:nvPr userDrawn="1"/>
        </p:nvSpPr>
        <p:spPr>
          <a:xfrm rot="10800000" flipH="1">
            <a:off x="10895557" y="1057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11" name="Linea">
            <a:extLst>
              <a:ext uri="{FF2B5EF4-FFF2-40B4-BE49-F238E27FC236}">
                <a16:creationId xmlns:a16="http://schemas.microsoft.com/office/drawing/2014/main" id="{1C01A8D5-245E-26D8-2ECA-82D4764647AF}"/>
              </a:ext>
            </a:extLst>
          </p:cNvPr>
          <p:cNvSpPr/>
          <p:nvPr userDrawn="1"/>
        </p:nvSpPr>
        <p:spPr>
          <a:xfrm rot="10800000">
            <a:off x="-3064" y="5436688"/>
            <a:ext cx="12198128" cy="1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24" name="Titolo 5">
            <a:extLst>
              <a:ext uri="{FF2B5EF4-FFF2-40B4-BE49-F238E27FC236}">
                <a16:creationId xmlns:a16="http://schemas.microsoft.com/office/drawing/2014/main" id="{7A3C36CA-9D5D-490C-3E31-571AF7EC5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2970949"/>
            <a:ext cx="10297220" cy="1979441"/>
          </a:xfrm>
          <a:prstGeom prst="rect">
            <a:avLst/>
          </a:prstGeom>
        </p:spPr>
        <p:txBody>
          <a:bodyPr lIns="0" tIns="360000" rIns="0" bIns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25" name="Tema / Titolo / Docente  |  00. 00. 0000">
            <a:extLst>
              <a:ext uri="{FF2B5EF4-FFF2-40B4-BE49-F238E27FC236}">
                <a16:creationId xmlns:a16="http://schemas.microsoft.com/office/drawing/2014/main" id="{A4A528BE-7AD2-13B5-15DC-484153FDCFB1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606C5E15-79D3-4DBA-B886-216D082B12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1830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356349"/>
            <a:ext cx="4572000" cy="365125"/>
          </a:xfrm>
        </p:spPr>
        <p:txBody>
          <a:bodyPr/>
          <a:lstStyle/>
          <a:p>
            <a:r>
              <a:rPr lang="it-IT"/>
              <a:t>Politecnico di Milano – Machine Learning for </a:t>
            </a:r>
            <a:r>
              <a:rPr lang="it-IT" err="1"/>
              <a:t>Mechanical</a:t>
            </a:r>
            <a:r>
              <a:rPr lang="it-IT"/>
              <a:t> Systems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8640000" cy="4429125"/>
          </a:xfrm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300121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863617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386A7-CE49-971E-16B3-AC4955C99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F039B-DC26-13E7-F040-93AAD26C6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8D18E-4F36-FAAC-BCAE-66E2B3EE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74733-AE16-10AF-16B2-D641A2BD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CBFA3-E99D-AE47-384A-061F0C33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796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760D-58FE-3FD4-162D-90EFA2E6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01B38-2CCC-D5B4-CED1-45933C295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F23C5-2544-ABAA-E28C-A6E3A8C7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3EA26-2CC2-2D44-3FF5-5FB8761E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327B-0C3A-2844-1BB1-F32C8E06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601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DBA9-6204-35F0-9FBB-3EBB79F3C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577D5-B1C0-57E4-2B8A-C4C99109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D0E9F-6DC4-A944-FD16-671DFE8C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37D92-0E98-5C9B-C993-631AC899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90F62-6710-E876-6605-0718D7AFD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732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AC09E-F619-E441-23BF-EEC4B550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437E-14A6-E652-2DAF-092078F81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BB3AC-F75F-E727-7224-0332B994F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AB5C6-6758-3EC2-F629-0DC3342D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3F530-B012-FB74-DDDE-07B6848E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4B4B3-8C97-1403-06C7-94B642C3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688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61C0-ADA7-AEDC-07EB-97A4A30A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85FD-0DC7-46B2-222C-F498C5EA9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37319-AF82-FB98-52DC-2EAC2700D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CE974-CB85-FB92-B70B-C0A4CF456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6D2F3-034E-06E4-BF50-0202CA31B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8217A-CFA0-5CE7-1433-7C566786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0A22E-37E5-ABB5-8B0E-606EBB5F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23AC9-5EFC-35C8-0CBA-34DA49E3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177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8E22-870D-409E-E287-CAC50A47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AA4C1-C492-5A76-D23B-64D44B4A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4F7B5-3CB4-FBF4-5A16-C529B134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DF9B1-3348-0C08-6B72-41446EAD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593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343FD-C5F3-F624-C587-10E26608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2A306B-77A3-66E7-B479-D24E42E1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C2B86-AFD3-0622-5FF6-1C78A3C6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117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2871-1294-D5E9-9FE5-1ACB71EE6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74A8-E99B-6888-50DE-9E890A38F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139A6-04BC-7802-2B2E-168CF270F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1336A-EFE6-3C59-D4B5-D4DBE463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EE321-4607-FB1D-CD44-771CECFE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6338F-8B89-FD50-E20E-3ABBD45B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8661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B619-BEC1-CA44-AC64-9E28F941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2E2D4-C25A-6909-38B7-B9E18A624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41B52-2260-1B5D-979D-156902121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6C785-C945-5AFE-71D9-B8BB0381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D32C3-E93C-5094-F5A7-B62992B2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33C1C-49B7-75DA-6647-AF3F4A76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157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FD5F-9099-6003-719A-F7D409208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254A5-F34D-9D94-C100-BA668B6B7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F7A5C-AF1B-66DD-4D38-698A7BB91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1C280-48B9-A316-9D60-7D6A219B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D549C-67AC-35DA-7200-58B5B23D6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988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36205-EEB5-D399-6479-602D49185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9EAC0-9423-FBD9-75C7-1BE2EDF16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4603B-CE24-A562-2597-56F5D8C8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1DAE1-60FC-8FBE-BD8C-6D86C545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B9E9-0AC6-942E-0A65-8CE80274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74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09.06.2025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Politecnico di Milano – </a:t>
            </a:r>
            <a:r>
              <a:rPr lang="de-DE" err="1"/>
              <a:t>Machine</a:t>
            </a:r>
            <a:r>
              <a:rPr lang="de-DE"/>
              <a:t> Learning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Mechanical</a:t>
            </a:r>
            <a:r>
              <a:rPr lang="de-DE"/>
              <a:t> Systems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8F35-8ECB-1F0A-8894-344F771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1129-3DFE-C772-98E1-541FF7F05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A5905-32A7-7EE5-4B48-FEF85E74D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ACE05-3D47-4353-B11A-F533AB1D4B56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8400F-1D21-B993-D51A-04F7DE741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289F1-33D2-B475-BA57-E801F0FF4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75306-395D-48C5-ACE0-E2AA6D227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81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3.pn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39C8332-124C-4AAA-8F96-961CED6E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75" y="3989527"/>
            <a:ext cx="10297220" cy="1979441"/>
          </a:xfrm>
        </p:spPr>
        <p:txBody>
          <a:bodyPr>
            <a:normAutofit/>
          </a:bodyPr>
          <a:lstStyle/>
          <a:p>
            <a:r>
              <a:rPr lang="en-US" sz="2400" noProof="0"/>
              <a:t>Machine Learning for Mechanical Systems</a:t>
            </a:r>
            <a:br>
              <a:rPr lang="en-US" noProof="0"/>
            </a:br>
            <a:r>
              <a:rPr lang="en-US" sz="2400" noProof="0"/>
              <a:t>Professor: Loris </a:t>
            </a:r>
            <a:r>
              <a:rPr lang="en-US" sz="2400" noProof="0" err="1"/>
              <a:t>Roveda</a:t>
            </a:r>
            <a:br>
              <a:rPr lang="en-US" noProof="0"/>
            </a:br>
            <a:endParaRPr lang="en-US" noProof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26BBB7E-2B72-48A5-B8AC-092CE1F3CB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3375" y="5929933"/>
            <a:ext cx="4568933" cy="389844"/>
          </a:xfrm>
        </p:spPr>
        <p:txBody>
          <a:bodyPr vert="horz" lIns="45719" tIns="45719" rIns="45719" bIns="45719" rtlCol="0" anchor="t">
            <a:noAutofit/>
          </a:bodyPr>
          <a:lstStyle/>
          <a:p>
            <a:r>
              <a:rPr lang="en-US" sz="2400" noProof="0">
                <a:latin typeface="Manrope"/>
              </a:rPr>
              <a:t>09.06.2025 | Bellini, Biraghi, Boccia</a:t>
            </a:r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F21C847B-9A53-DFC3-11DC-41311577AB57}"/>
              </a:ext>
            </a:extLst>
          </p:cNvPr>
          <p:cNvSpPr txBox="1">
            <a:spLocks/>
          </p:cNvSpPr>
          <p:nvPr/>
        </p:nvSpPr>
        <p:spPr>
          <a:xfrm>
            <a:off x="2030609" y="991508"/>
            <a:ext cx="10297220" cy="1979441"/>
          </a:xfrm>
          <a:prstGeom prst="rect">
            <a:avLst/>
          </a:prstGeom>
        </p:spPr>
        <p:txBody>
          <a:bodyPr vert="horz" lIns="0" tIns="360000" rIns="0" bIns="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endParaRPr lang="en-US" noProof="0"/>
          </a:p>
        </p:txBody>
      </p:sp>
      <p:sp>
        <p:nvSpPr>
          <p:cNvPr id="5" name="Titolo 2">
            <a:extLst>
              <a:ext uri="{FF2B5EF4-FFF2-40B4-BE49-F238E27FC236}">
                <a16:creationId xmlns:a16="http://schemas.microsoft.com/office/drawing/2014/main" id="{9A79FAA3-056D-A426-0418-3EA471CAE70E}"/>
              </a:ext>
            </a:extLst>
          </p:cNvPr>
          <p:cNvSpPr txBox="1">
            <a:spLocks/>
          </p:cNvSpPr>
          <p:nvPr/>
        </p:nvSpPr>
        <p:spPr>
          <a:xfrm>
            <a:off x="1601164" y="1709136"/>
            <a:ext cx="8560227" cy="1979441"/>
          </a:xfrm>
          <a:prstGeom prst="rect">
            <a:avLst/>
          </a:prstGeom>
        </p:spPr>
        <p:txBody>
          <a:bodyPr vert="horz" lIns="0" tIns="36000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noProof="0"/>
              <a:t>LLM-based</a:t>
            </a:r>
            <a:r>
              <a:rPr lang="en-US" sz="5400" noProof="0">
                <a:solidFill>
                  <a:srgbClr val="0A1B33"/>
                </a:solidFill>
              </a:rPr>
              <a:t> </a:t>
            </a:r>
            <a:r>
              <a:rPr lang="en-US" sz="5400" noProof="0"/>
              <a:t>Process Planning for CNC Machines</a:t>
            </a:r>
            <a:endParaRPr lang="en-US" sz="4300" noProof="0"/>
          </a:p>
        </p:txBody>
      </p:sp>
    </p:spTree>
    <p:extLst>
      <p:ext uri="{BB962C8B-B14F-4D97-AF65-F5344CB8AC3E}">
        <p14:creationId xmlns:p14="http://schemas.microsoft.com/office/powerpoint/2010/main" val="155453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D38E2-80D9-1E25-F66B-80BB0AE2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FBDF5522-C4B4-FDB1-1CEC-D4001AB5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C75A4BD4-E46F-D903-B8C0-E3172B49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1095FED-89EA-ECB2-327F-F400FAC7F1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FC8E4F-E15A-90FC-0AAF-D3C06416073D}"/>
              </a:ext>
            </a:extLst>
          </p:cNvPr>
          <p:cNvSpPr txBox="1"/>
          <p:nvPr/>
        </p:nvSpPr>
        <p:spPr>
          <a:xfrm>
            <a:off x="537240" y="942665"/>
            <a:ext cx="10506764" cy="52008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/>
              <a:t> </a:t>
            </a:r>
            <a:r>
              <a:rPr lang="it-IT" sz="2800" b="1" err="1">
                <a:solidFill>
                  <a:srgbClr val="102B51"/>
                </a:solidFill>
              </a:rPr>
              <a:t>Introduction</a:t>
            </a:r>
            <a:endParaRPr lang="it-IT" sz="2800" b="1">
              <a:solidFill>
                <a:srgbClr val="102B51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 b="1">
                <a:solidFill>
                  <a:srgbClr val="102B51"/>
                </a:solidFill>
              </a:rPr>
              <a:t> Input</a:t>
            </a: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 b="1">
                <a:solidFill>
                  <a:srgbClr val="102B51"/>
                </a:solidFill>
              </a:rPr>
              <a:t> API calls</a:t>
            </a: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 b="1">
                <a:solidFill>
                  <a:srgbClr val="102B51"/>
                </a:solidFill>
              </a:rPr>
              <a:t> </a:t>
            </a:r>
            <a:r>
              <a:rPr lang="it-IT" sz="2800" b="1" err="1">
                <a:solidFill>
                  <a:srgbClr val="102B51"/>
                </a:solidFill>
              </a:rPr>
              <a:t>Validation</a:t>
            </a:r>
            <a:endParaRPr lang="it-IT" sz="2800" b="1">
              <a:solidFill>
                <a:srgbClr val="102B51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 b="1">
                <a:solidFill>
                  <a:srgbClr val="102B51"/>
                </a:solidFill>
              </a:rPr>
              <a:t> Post-Processing and G-code</a:t>
            </a: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 b="1">
                <a:solidFill>
                  <a:srgbClr val="102B51"/>
                </a:solidFill>
              </a:rPr>
              <a:t> </a:t>
            </a:r>
            <a:r>
              <a:rPr lang="it-IT" sz="2800" b="1" err="1">
                <a:solidFill>
                  <a:srgbClr val="102B51"/>
                </a:solidFill>
              </a:rPr>
              <a:t>Automatic</a:t>
            </a:r>
            <a:r>
              <a:rPr lang="it-IT" sz="2800" b="1">
                <a:solidFill>
                  <a:srgbClr val="102B51"/>
                </a:solidFill>
              </a:rPr>
              <a:t> </a:t>
            </a:r>
            <a:r>
              <a:rPr lang="it-IT" sz="2800" b="1" err="1">
                <a:solidFill>
                  <a:srgbClr val="102B51"/>
                </a:solidFill>
              </a:rPr>
              <a:t>documentaion</a:t>
            </a:r>
            <a:endParaRPr lang="it-IT" sz="2800" b="1">
              <a:solidFill>
                <a:srgbClr val="102B51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 b="1">
                <a:solidFill>
                  <a:srgbClr val="102B51"/>
                </a:solidFill>
              </a:rPr>
              <a:t> </a:t>
            </a:r>
            <a:r>
              <a:rPr lang="it-IT" sz="2800" b="1" err="1">
                <a:solidFill>
                  <a:srgbClr val="102B51"/>
                </a:solidFill>
              </a:rPr>
              <a:t>Results</a:t>
            </a:r>
            <a:endParaRPr lang="it-IT" sz="2800" b="1">
              <a:solidFill>
                <a:srgbClr val="102B51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 b="1" err="1">
                <a:solidFill>
                  <a:srgbClr val="102B51"/>
                </a:solidFill>
              </a:rPr>
              <a:t>Comments</a:t>
            </a:r>
            <a:endParaRPr lang="it-IT" sz="2800" b="1">
              <a:solidFill>
                <a:srgbClr val="102B51"/>
              </a:solidFill>
            </a:endParaRPr>
          </a:p>
        </p:txBody>
      </p:sp>
      <p:sp>
        <p:nvSpPr>
          <p:cNvPr id="7" name="Titolo 2">
            <a:extLst>
              <a:ext uri="{FF2B5EF4-FFF2-40B4-BE49-F238E27FC236}">
                <a16:creationId xmlns:a16="http://schemas.microsoft.com/office/drawing/2014/main" id="{314188EB-0402-046A-93F0-FE62E4AC8370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2B51"/>
                </a:solidFill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132095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7BA96-F5CE-8F94-8333-604DC46CA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95E235-796E-8580-A68F-4397F17C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3</a:t>
            </a:fld>
            <a:endParaRPr lang="en-US" noProof="0"/>
          </a:p>
        </p:txBody>
      </p:sp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A7BC8813-FBD2-A2C9-C544-794AB453C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1C658B4D-A93C-9202-5DEC-C506BD24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C3E739D-457B-98E5-2AD4-033018EE9804}"/>
              </a:ext>
            </a:extLst>
          </p:cNvPr>
          <p:cNvSpPr txBox="1"/>
          <p:nvPr/>
        </p:nvSpPr>
        <p:spPr>
          <a:xfrm>
            <a:off x="364520" y="1041908"/>
            <a:ext cx="6807516" cy="55707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 err="1">
                <a:solidFill>
                  <a:srgbClr val="102B51"/>
                </a:solidFill>
                <a:ea typeface="+mn-lt"/>
                <a:cs typeface="+mn-lt"/>
              </a:rPr>
              <a:t>Objective</a:t>
            </a:r>
            <a:r>
              <a:rPr lang="it-IT" b="1">
                <a:solidFill>
                  <a:srgbClr val="102B51"/>
                </a:solidFill>
                <a:ea typeface="+mn-lt"/>
                <a:cs typeface="+mn-lt"/>
              </a:rPr>
              <a:t>:</a:t>
            </a:r>
            <a:endParaRPr lang="it-IT">
              <a:solidFill>
                <a:srgbClr val="102B5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it-IT" sz="1600">
                <a:ea typeface="+mn-lt"/>
                <a:cs typeface="+mn-lt"/>
              </a:rPr>
              <a:t>Create a Python-</a:t>
            </a:r>
            <a:r>
              <a:rPr lang="it-IT" sz="1600" err="1">
                <a:ea typeface="+mn-lt"/>
                <a:cs typeface="+mn-lt"/>
              </a:rPr>
              <a:t>based</a:t>
            </a:r>
            <a:r>
              <a:rPr lang="it-IT" sz="1600">
                <a:ea typeface="+mn-lt"/>
                <a:cs typeface="+mn-lt"/>
              </a:rPr>
              <a:t> pipeline </a:t>
            </a:r>
            <a:r>
              <a:rPr lang="it-IT" sz="1600" err="1">
                <a:ea typeface="+mn-lt"/>
                <a:cs typeface="+mn-lt"/>
              </a:rPr>
              <a:t>leveraging</a:t>
            </a:r>
            <a:r>
              <a:rPr lang="it-IT" sz="1600">
                <a:ea typeface="+mn-lt"/>
                <a:cs typeface="+mn-lt"/>
              </a:rPr>
              <a:t> Large Language Models (</a:t>
            </a:r>
            <a:r>
              <a:rPr lang="it-IT" sz="1600" err="1">
                <a:ea typeface="+mn-lt"/>
                <a:cs typeface="+mn-lt"/>
              </a:rPr>
              <a:t>LLMs</a:t>
            </a:r>
            <a:r>
              <a:rPr lang="it-IT" sz="1600">
                <a:ea typeface="+mn-lt"/>
                <a:cs typeface="+mn-lt"/>
              </a:rPr>
              <a:t>) to support </a:t>
            </a:r>
            <a:r>
              <a:rPr lang="it-IT" sz="1600" err="1">
                <a:ea typeface="+mn-lt"/>
                <a:cs typeface="+mn-lt"/>
              </a:rPr>
              <a:t>mechanical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process</a:t>
            </a:r>
            <a:r>
              <a:rPr lang="it-IT" sz="1600">
                <a:ea typeface="+mn-lt"/>
                <a:cs typeface="+mn-lt"/>
              </a:rPr>
              <a:t> planning for CNC.</a:t>
            </a:r>
          </a:p>
          <a:p>
            <a:pPr marL="285750" indent="-285750">
              <a:buFont typeface="Arial"/>
              <a:buChar char="•"/>
            </a:pPr>
            <a:endParaRPr lang="it-IT" sz="1200" b="1">
              <a:solidFill>
                <a:srgbClr val="102B51"/>
              </a:solidFill>
            </a:endParaRPr>
          </a:p>
          <a:p>
            <a:r>
              <a:rPr lang="it-IT" b="1" err="1">
                <a:solidFill>
                  <a:srgbClr val="102B51"/>
                </a:solidFill>
                <a:ea typeface="+mn-lt"/>
                <a:cs typeface="+mn-lt"/>
              </a:rPr>
              <a:t>What</a:t>
            </a:r>
            <a:r>
              <a:rPr lang="it-IT" b="1">
                <a:solidFill>
                  <a:srgbClr val="102B51"/>
                </a:solidFill>
                <a:ea typeface="+mn-lt"/>
                <a:cs typeface="+mn-lt"/>
              </a:rPr>
              <a:t> </a:t>
            </a:r>
            <a:r>
              <a:rPr lang="it-IT" b="1" err="1">
                <a:solidFill>
                  <a:srgbClr val="102B51"/>
                </a:solidFill>
                <a:ea typeface="+mn-lt"/>
                <a:cs typeface="+mn-lt"/>
              </a:rPr>
              <a:t>was</a:t>
            </a:r>
            <a:r>
              <a:rPr lang="it-IT" b="1">
                <a:solidFill>
                  <a:srgbClr val="102B51"/>
                </a:solidFill>
                <a:ea typeface="+mn-lt"/>
                <a:cs typeface="+mn-lt"/>
              </a:rPr>
              <a:t> </a:t>
            </a:r>
            <a:r>
              <a:rPr lang="it-IT" b="1" err="1">
                <a:solidFill>
                  <a:srgbClr val="102B51"/>
                </a:solidFill>
                <a:ea typeface="+mn-lt"/>
                <a:cs typeface="+mn-lt"/>
              </a:rPr>
              <a:t>asked</a:t>
            </a:r>
            <a:r>
              <a:rPr lang="it-IT" b="1">
                <a:solidFill>
                  <a:srgbClr val="102B51"/>
                </a:solidFill>
                <a:ea typeface="+mn-lt"/>
                <a:cs typeface="+mn-lt"/>
              </a:rPr>
              <a:t>:</a:t>
            </a:r>
          </a:p>
          <a:p>
            <a:endParaRPr lang="it-IT" sz="800" b="1">
              <a:solidFill>
                <a:srgbClr val="102B5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it-IT" sz="1600" b="1" err="1">
                <a:solidFill>
                  <a:srgbClr val="102B51"/>
                </a:solidFill>
                <a:ea typeface="+mn-lt"/>
                <a:cs typeface="+mn-lt"/>
              </a:rPr>
              <a:t>Interpretation</a:t>
            </a: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: </a:t>
            </a:r>
            <a:r>
              <a:rPr lang="it-IT" sz="1600">
                <a:ea typeface="+mn-lt"/>
                <a:cs typeface="+mn-lt"/>
              </a:rPr>
              <a:t>Natural-</a:t>
            </a:r>
            <a:r>
              <a:rPr lang="it-IT" sz="1600" err="1">
                <a:ea typeface="+mn-lt"/>
                <a:cs typeface="+mn-lt"/>
              </a:rPr>
              <a:t>language</a:t>
            </a:r>
            <a:r>
              <a:rPr lang="it-IT" sz="1600">
                <a:ea typeface="+mn-lt"/>
                <a:cs typeface="+mn-lt"/>
              </a:rPr>
              <a:t> or </a:t>
            </a:r>
            <a:r>
              <a:rPr lang="it-IT" sz="1600" err="1">
                <a:ea typeface="+mn-lt"/>
                <a:cs typeface="+mn-lt"/>
              </a:rPr>
              <a:t>basic</a:t>
            </a:r>
            <a:r>
              <a:rPr lang="it-IT" sz="1600">
                <a:ea typeface="+mn-lt"/>
                <a:cs typeface="+mn-lt"/>
              </a:rPr>
              <a:t> CAD </a:t>
            </a:r>
            <a:r>
              <a:rPr lang="it-IT" sz="1600" err="1">
                <a:ea typeface="+mn-lt"/>
                <a:cs typeface="+mn-lt"/>
              </a:rPr>
              <a:t>descriptions</a:t>
            </a:r>
            <a:r>
              <a:rPr lang="it-IT" sz="1600">
                <a:ea typeface="+mn-lt"/>
                <a:cs typeface="+mn-lt"/>
              </a:rPr>
              <a:t> of               	  	                   </a:t>
            </a:r>
            <a:r>
              <a:rPr lang="it-IT" sz="1600" err="1">
                <a:ea typeface="+mn-lt"/>
                <a:cs typeface="+mn-lt"/>
              </a:rPr>
              <a:t>mechanical</a:t>
            </a:r>
            <a:r>
              <a:rPr lang="it-IT" sz="1600">
                <a:ea typeface="+mn-lt"/>
                <a:cs typeface="+mn-lt"/>
              </a:rPr>
              <a:t> parts.</a:t>
            </a:r>
          </a:p>
          <a:p>
            <a:pPr marL="285750" indent="-285750">
              <a:buFont typeface="Arial"/>
              <a:buChar char="•"/>
            </a:pPr>
            <a:endParaRPr lang="it-IT" sz="800"/>
          </a:p>
          <a:p>
            <a:pPr marL="285750" indent="-285750">
              <a:buFont typeface="Arial"/>
              <a:buChar char="•"/>
            </a:pPr>
            <a:r>
              <a:rPr lang="it-IT" sz="1600" b="1" err="1">
                <a:solidFill>
                  <a:srgbClr val="102B51"/>
                </a:solidFill>
                <a:ea typeface="+mn-lt"/>
                <a:cs typeface="+mn-lt"/>
              </a:rPr>
              <a:t>Process</a:t>
            </a: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 Planning</a:t>
            </a:r>
            <a:r>
              <a:rPr lang="it-IT" sz="1600">
                <a:solidFill>
                  <a:srgbClr val="102B51"/>
                </a:solidFill>
                <a:ea typeface="+mn-lt"/>
                <a:cs typeface="+mn-lt"/>
              </a:rPr>
              <a:t>:  </a:t>
            </a:r>
            <a:r>
              <a:rPr lang="it-IT" sz="1600" err="1">
                <a:ea typeface="+mn-lt"/>
                <a:cs typeface="+mn-lt"/>
              </a:rPr>
              <a:t>Suggest</a:t>
            </a:r>
            <a:r>
              <a:rPr lang="it-IT" sz="1600">
                <a:ea typeface="+mn-lt"/>
                <a:cs typeface="+mn-lt"/>
              </a:rPr>
              <a:t> manufacturing steps</a:t>
            </a:r>
          </a:p>
          <a:p>
            <a:pPr marL="285750" indent="-285750">
              <a:buFont typeface="Arial"/>
              <a:buChar char="•"/>
            </a:pPr>
            <a:endParaRPr lang="it-IT" sz="800"/>
          </a:p>
          <a:p>
            <a:pPr marL="285750" indent="-285750">
              <a:buFont typeface="Arial"/>
              <a:buChar char="•"/>
            </a:pP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Setup Definition</a:t>
            </a:r>
            <a:r>
              <a:rPr lang="it-IT" sz="1600">
                <a:solidFill>
                  <a:srgbClr val="102B51"/>
                </a:solidFill>
                <a:ea typeface="+mn-lt"/>
                <a:cs typeface="+mn-lt"/>
              </a:rPr>
              <a:t>: </a:t>
            </a:r>
            <a:r>
              <a:rPr lang="it-IT" sz="1600">
                <a:ea typeface="+mn-lt"/>
                <a:cs typeface="+mn-lt"/>
              </a:rPr>
              <a:t>Propose </a:t>
            </a:r>
            <a:r>
              <a:rPr lang="it-IT" sz="1600" err="1">
                <a:ea typeface="+mn-lt"/>
                <a:cs typeface="+mn-lt"/>
              </a:rPr>
              <a:t>how</a:t>
            </a:r>
            <a:r>
              <a:rPr lang="it-IT" sz="1600">
                <a:ea typeface="+mn-lt"/>
                <a:cs typeface="+mn-lt"/>
              </a:rPr>
              <a:t> parts can be </a:t>
            </a:r>
            <a:r>
              <a:rPr lang="it-IT" sz="1600" err="1">
                <a:ea typeface="+mn-lt"/>
                <a:cs typeface="+mn-lt"/>
              </a:rPr>
              <a:t>fixed</a:t>
            </a:r>
            <a:r>
              <a:rPr lang="it-IT" sz="1600">
                <a:ea typeface="+mn-lt"/>
                <a:cs typeface="+mn-lt"/>
              </a:rPr>
              <a:t> and </a:t>
            </a:r>
            <a:r>
              <a:rPr lang="it-IT" sz="1600" err="1">
                <a:ea typeface="+mn-lt"/>
                <a:cs typeface="+mn-lt"/>
              </a:rPr>
              <a:t>oriented</a:t>
            </a:r>
            <a:r>
              <a:rPr lang="it-IT" sz="16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it-IT" sz="800"/>
          </a:p>
          <a:p>
            <a:pPr marL="285750" indent="-285750">
              <a:buFont typeface="Arial"/>
              <a:buChar char="•"/>
            </a:pP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Tool </a:t>
            </a:r>
            <a:r>
              <a:rPr lang="it-IT" sz="1600" b="1" err="1">
                <a:solidFill>
                  <a:srgbClr val="102B51"/>
                </a:solidFill>
                <a:ea typeface="+mn-lt"/>
                <a:cs typeface="+mn-lt"/>
              </a:rPr>
              <a:t>Selection</a:t>
            </a:r>
            <a:r>
              <a:rPr lang="it-IT" sz="1600">
                <a:solidFill>
                  <a:srgbClr val="102B51"/>
                </a:solidFill>
                <a:ea typeface="+mn-lt"/>
                <a:cs typeface="+mn-lt"/>
              </a:rPr>
              <a:t>: </a:t>
            </a:r>
            <a:r>
              <a:rPr lang="it-IT" sz="1600" err="1">
                <a:ea typeface="+mn-lt"/>
                <a:cs typeface="+mn-lt"/>
              </a:rPr>
              <a:t>Automatically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identify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suitable</a:t>
            </a:r>
            <a:r>
              <a:rPr lang="it-IT" sz="1600">
                <a:ea typeface="+mn-lt"/>
                <a:cs typeface="+mn-lt"/>
              </a:rPr>
              <a:t> tools for </a:t>
            </a:r>
            <a:r>
              <a:rPr lang="it-IT" sz="1600" err="1">
                <a:ea typeface="+mn-lt"/>
                <a:cs typeface="+mn-lt"/>
              </a:rPr>
              <a:t>each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operation</a:t>
            </a:r>
            <a:r>
              <a:rPr lang="it-IT" sz="16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it-IT" sz="800"/>
          </a:p>
          <a:p>
            <a:pPr marL="285750" indent="-285750">
              <a:buFont typeface="Arial"/>
              <a:buChar char="•"/>
            </a:pPr>
            <a:r>
              <a:rPr lang="it-IT" sz="1600" b="1" err="1">
                <a:solidFill>
                  <a:srgbClr val="102B51"/>
                </a:solidFill>
                <a:ea typeface="+mn-lt"/>
                <a:cs typeface="+mn-lt"/>
              </a:rPr>
              <a:t>Parameter</a:t>
            </a: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 </a:t>
            </a:r>
            <a:r>
              <a:rPr lang="it-IT" sz="1600" b="1" err="1">
                <a:solidFill>
                  <a:srgbClr val="102B51"/>
                </a:solidFill>
                <a:ea typeface="+mn-lt"/>
                <a:cs typeface="+mn-lt"/>
              </a:rPr>
              <a:t>Estimation</a:t>
            </a:r>
            <a:r>
              <a:rPr lang="it-IT" sz="1600">
                <a:solidFill>
                  <a:srgbClr val="102B51"/>
                </a:solidFill>
                <a:ea typeface="+mn-lt"/>
                <a:cs typeface="+mn-lt"/>
              </a:rPr>
              <a:t>: </a:t>
            </a:r>
            <a:r>
              <a:rPr lang="it-IT" sz="1600" err="1">
                <a:ea typeface="+mn-lt"/>
                <a:cs typeface="+mn-lt"/>
              </a:rPr>
              <a:t>Provide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realistic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machining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parameters</a:t>
            </a:r>
            <a:endParaRPr lang="it-IT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it-IT" sz="800"/>
          </a:p>
          <a:p>
            <a:r>
              <a:rPr lang="it-IT" b="1" err="1">
                <a:solidFill>
                  <a:srgbClr val="102B51"/>
                </a:solidFill>
                <a:ea typeface="+mn-lt"/>
                <a:cs typeface="+mn-lt"/>
              </a:rPr>
              <a:t>Constraints</a:t>
            </a:r>
            <a:r>
              <a:rPr lang="it-IT" b="1">
                <a:solidFill>
                  <a:srgbClr val="102B51"/>
                </a:solidFill>
                <a:ea typeface="+mn-lt"/>
                <a:cs typeface="+mn-lt"/>
              </a:rPr>
              <a:t>:</a:t>
            </a:r>
          </a:p>
          <a:p>
            <a:endParaRPr lang="it-IT" sz="800">
              <a:solidFill>
                <a:srgbClr val="102B5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it-IT" sz="1600" err="1">
                <a:ea typeface="+mn-lt"/>
                <a:cs typeface="+mn-lt"/>
              </a:rPr>
              <a:t>Utilize</a:t>
            </a:r>
            <a:r>
              <a:rPr lang="it-IT" sz="1600">
                <a:ea typeface="+mn-lt"/>
                <a:cs typeface="+mn-lt"/>
              </a:rPr>
              <a:t> an </a:t>
            </a:r>
            <a:r>
              <a:rPr lang="it-IT" sz="1600" err="1">
                <a:ea typeface="+mn-lt"/>
                <a:cs typeface="+mn-lt"/>
              </a:rPr>
              <a:t>existing</a:t>
            </a:r>
            <a:r>
              <a:rPr lang="it-IT" sz="1600">
                <a:ea typeface="+mn-lt"/>
                <a:cs typeface="+mn-lt"/>
              </a:rPr>
              <a:t> LLM API </a:t>
            </a:r>
            <a:r>
              <a:rPr lang="it-IT" sz="1600" err="1">
                <a:ea typeface="+mn-lt"/>
                <a:cs typeface="+mn-lt"/>
              </a:rPr>
              <a:t>strictly</a:t>
            </a:r>
            <a:r>
              <a:rPr lang="it-IT" sz="1600">
                <a:ea typeface="+mn-lt"/>
                <a:cs typeface="+mn-lt"/>
              </a:rPr>
              <a:t> for </a:t>
            </a:r>
            <a:r>
              <a:rPr lang="it-IT" sz="1600" err="1">
                <a:ea typeface="+mn-lt"/>
                <a:cs typeface="+mn-lt"/>
              </a:rPr>
              <a:t>inference</a:t>
            </a:r>
            <a:r>
              <a:rPr lang="it-IT" sz="1600">
                <a:ea typeface="+mn-lt"/>
                <a:cs typeface="+mn-lt"/>
              </a:rPr>
              <a:t> (no fine-tuning).</a:t>
            </a:r>
          </a:p>
          <a:p>
            <a:pPr marL="285750" indent="-285750">
              <a:buFont typeface="Arial"/>
              <a:buChar char="•"/>
            </a:pPr>
            <a:endParaRPr lang="it-IT" sz="800"/>
          </a:p>
          <a:p>
            <a:pPr marL="285750" indent="-285750">
              <a:buFont typeface="Arial"/>
              <a:buChar char="•"/>
            </a:pPr>
            <a:r>
              <a:rPr lang="it-IT" sz="1600" err="1">
                <a:ea typeface="+mn-lt"/>
                <a:cs typeface="+mn-lt"/>
              </a:rPr>
              <a:t>Perform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sanity</a:t>
            </a:r>
            <a:r>
              <a:rPr lang="it-IT" sz="1600">
                <a:ea typeface="+mn-lt"/>
                <a:cs typeface="+mn-lt"/>
              </a:rPr>
              <a:t> checks and validate </a:t>
            </a:r>
            <a:r>
              <a:rPr lang="it-IT" sz="1600" err="1">
                <a:ea typeface="+mn-lt"/>
                <a:cs typeface="+mn-lt"/>
              </a:rPr>
              <a:t>mechanical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feasibility</a:t>
            </a:r>
            <a:r>
              <a:rPr lang="it-IT" sz="1600">
                <a:ea typeface="+mn-lt"/>
                <a:cs typeface="+mn-lt"/>
              </a:rPr>
              <a:t> (e.g., max </a:t>
            </a:r>
            <a:r>
              <a:rPr lang="it-IT" sz="1600" err="1">
                <a:ea typeface="+mn-lt"/>
                <a:cs typeface="+mn-lt"/>
              </a:rPr>
              <a:t>spindle</a:t>
            </a:r>
            <a:r>
              <a:rPr lang="it-IT" sz="1600">
                <a:ea typeface="+mn-lt"/>
                <a:cs typeface="+mn-lt"/>
              </a:rPr>
              <a:t> speed, appropriate tool </a:t>
            </a:r>
            <a:r>
              <a:rPr lang="it-IT" sz="1600" err="1">
                <a:ea typeface="+mn-lt"/>
                <a:cs typeface="+mn-lt"/>
              </a:rPr>
              <a:t>choices</a:t>
            </a:r>
            <a:r>
              <a:rPr lang="it-IT" sz="1600">
                <a:ea typeface="+mn-lt"/>
                <a:cs typeface="+mn-lt"/>
              </a:rPr>
              <a:t>).</a:t>
            </a:r>
          </a:p>
          <a:p>
            <a:pPr marL="285750" indent="-285750">
              <a:buFont typeface="Arial"/>
              <a:buChar char="•"/>
            </a:pPr>
            <a:endParaRPr lang="it-IT" sz="800"/>
          </a:p>
          <a:p>
            <a:pPr marL="285750" indent="-285750">
              <a:buFont typeface="Arial"/>
              <a:buChar char="•"/>
            </a:pPr>
            <a:r>
              <a:rPr lang="it-IT" sz="1600" err="1">
                <a:ea typeface="+mn-lt"/>
                <a:cs typeface="+mn-lt"/>
              </a:rPr>
              <a:t>Clearly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structured</a:t>
            </a:r>
            <a:r>
              <a:rPr lang="it-IT" sz="1600">
                <a:ea typeface="+mn-lt"/>
                <a:cs typeface="+mn-lt"/>
              </a:rPr>
              <a:t>, human-</a:t>
            </a:r>
            <a:r>
              <a:rPr lang="it-IT" sz="1600" err="1">
                <a:ea typeface="+mn-lt"/>
                <a:cs typeface="+mn-lt"/>
              </a:rPr>
              <a:t>readable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final</a:t>
            </a:r>
            <a:r>
              <a:rPr lang="it-IT" sz="1600">
                <a:ea typeface="+mn-lt"/>
                <a:cs typeface="+mn-lt"/>
              </a:rPr>
              <a:t> outputs (</a:t>
            </a:r>
            <a:r>
              <a:rPr lang="it-IT" sz="1600" err="1">
                <a:ea typeface="+mn-lt"/>
                <a:cs typeface="+mn-lt"/>
              </a:rPr>
              <a:t>structured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tables</a:t>
            </a:r>
            <a:r>
              <a:rPr lang="it-IT" sz="1600">
                <a:ea typeface="+mn-lt"/>
                <a:cs typeface="+mn-lt"/>
              </a:rPr>
              <a:t>).</a:t>
            </a:r>
            <a:endParaRPr lang="it-IT" sz="1600"/>
          </a:p>
          <a:p>
            <a:endParaRPr lang="it-IT" sz="1600"/>
          </a:p>
        </p:txBody>
      </p:sp>
      <p:pic>
        <p:nvPicPr>
          <p:cNvPr id="2" name="Immagine 1" descr="Immagine che contiene testo, cartone animato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F4AD7B38-92BC-FA24-D6BA-234C19866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305" y="1165412"/>
            <a:ext cx="4538383" cy="4538383"/>
          </a:xfrm>
          <a:prstGeom prst="rect">
            <a:avLst/>
          </a:prstGeom>
        </p:spPr>
      </p:pic>
      <p:sp>
        <p:nvSpPr>
          <p:cNvPr id="10" name="Titolo 2">
            <a:extLst>
              <a:ext uri="{FF2B5EF4-FFF2-40B4-BE49-F238E27FC236}">
                <a16:creationId xmlns:a16="http://schemas.microsoft.com/office/drawing/2014/main" id="{D81D9951-DFAE-64CB-EDF4-072F6231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2823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B901D-A829-3BC7-36D5-75917939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ABF3271-0698-9B43-0293-B975C47E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Introduction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0D8349-C4FA-D0B4-1FC2-4600308156F5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4B3F59-BAAC-8EA4-DF6C-555056AE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4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681CDE54-479A-8F71-0E78-003CBDD521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4DAD4964-7E6A-6876-FB8E-C87E4422E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FED6B-9A24-A791-7496-75BC9CB1F011}"/>
              </a:ext>
            </a:extLst>
          </p:cNvPr>
          <p:cNvSpPr txBox="1"/>
          <p:nvPr/>
        </p:nvSpPr>
        <p:spPr>
          <a:xfrm>
            <a:off x="3048000" y="32467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  <a:p>
            <a:endParaRPr lang="en-GB"/>
          </a:p>
        </p:txBody>
      </p:sp>
      <p:pic>
        <p:nvPicPr>
          <p:cNvPr id="17" name="Picture 16" descr="A diagram of a process&#10;&#10;AI-generated content may be incorrect.">
            <a:extLst>
              <a:ext uri="{FF2B5EF4-FFF2-40B4-BE49-F238E27FC236}">
                <a16:creationId xmlns:a16="http://schemas.microsoft.com/office/drawing/2014/main" id="{F80EDC5E-84B0-28FF-4281-499498745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0" b="39111"/>
          <a:stretch/>
        </p:blipFill>
        <p:spPr>
          <a:xfrm>
            <a:off x="341370" y="1273451"/>
            <a:ext cx="11577788" cy="407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9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EBA72-AE2D-954F-425A-AC7B7502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DEBB285-F3A1-6668-C72E-62A5EB58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>
                <a:solidFill>
                  <a:srgbClr val="102B51"/>
                </a:solidFill>
              </a:rPr>
              <a:t>Inputs to the LLM Pipeline</a:t>
            </a:r>
            <a:endParaRPr lang="en-US" noProof="0">
              <a:solidFill>
                <a:srgbClr val="102B5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87C9A7E-89ED-CF31-AD62-DFC24C53118F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80C9E9-6841-EC33-0096-EE76B592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5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CF20150-B216-D7C1-089B-7FA8A7179F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951A8366-EBDE-ED19-03DD-CA8F659C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9" name="Picture 8" descr="A diagram of a process&#10;&#10;AI-generated content may be incorrect.">
            <a:extLst>
              <a:ext uri="{FF2B5EF4-FFF2-40B4-BE49-F238E27FC236}">
                <a16:creationId xmlns:a16="http://schemas.microsoft.com/office/drawing/2014/main" id="{BEE2FDE8-A250-7DA6-E1A1-EED052649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67" b="38462"/>
          <a:stretch>
            <a:fillRect/>
          </a:stretch>
        </p:blipFill>
        <p:spPr>
          <a:xfrm>
            <a:off x="331458" y="1325496"/>
            <a:ext cx="11598534" cy="407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7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B8C6C-55B8-0387-AE29-0FB964AFC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3A2D4F-6F98-879F-B165-4253404A9F54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EBB7AD-DDF4-9C89-27BA-0ADF11E8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6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9ED68D64-68F3-3BA6-3D1A-94D70D2650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33B2BD88-745A-10C3-1E1E-F84DA2D9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48B602B-C9A6-C288-7757-C855DF6A1CF2}"/>
              </a:ext>
            </a:extLst>
          </p:cNvPr>
          <p:cNvSpPr txBox="1"/>
          <p:nvPr/>
        </p:nvSpPr>
        <p:spPr>
          <a:xfrm>
            <a:off x="364518" y="1077993"/>
            <a:ext cx="115325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/>
              <a:t>Defining a </a:t>
            </a:r>
            <a:r>
              <a:rPr lang="en-GB" sz="1600" b="1">
                <a:solidFill>
                  <a:srgbClr val="102B51"/>
                </a:solidFill>
              </a:rPr>
              <a:t>structured environment </a:t>
            </a:r>
            <a:r>
              <a:rPr lang="en-GB" sz="1600"/>
              <a:t>is essential to </a:t>
            </a:r>
            <a:r>
              <a:rPr lang="en-GB" sz="1600" b="1">
                <a:solidFill>
                  <a:srgbClr val="102B51"/>
                </a:solidFill>
              </a:rPr>
              <a:t>guide the LLM</a:t>
            </a:r>
            <a:r>
              <a:rPr lang="en-GB" sz="1600"/>
              <a:t>, </a:t>
            </a:r>
            <a:r>
              <a:rPr lang="en-GB" sz="1600" b="1">
                <a:solidFill>
                  <a:srgbClr val="102B51"/>
                </a:solidFill>
              </a:rPr>
              <a:t>reduce errors</a:t>
            </a:r>
            <a:r>
              <a:rPr lang="en-GB" sz="1600"/>
              <a:t>, and </a:t>
            </a:r>
            <a:r>
              <a:rPr lang="en-GB" sz="1600" b="1">
                <a:solidFill>
                  <a:srgbClr val="102B51"/>
                </a:solidFill>
              </a:rPr>
              <a:t>ensure alignment </a:t>
            </a:r>
            <a:r>
              <a:rPr lang="en-GB" sz="1600"/>
              <a:t>between CNC machine capabilities and the generated output. This foundation enables </a:t>
            </a:r>
            <a:r>
              <a:rPr lang="en-GB" sz="1600" b="1">
                <a:solidFill>
                  <a:srgbClr val="102B51"/>
                </a:solidFill>
              </a:rPr>
              <a:t>consistent</a:t>
            </a:r>
            <a:r>
              <a:rPr lang="en-GB" sz="1600"/>
              <a:t>, realistic, and </a:t>
            </a:r>
            <a:r>
              <a:rPr lang="en-GB" sz="1600" b="1">
                <a:solidFill>
                  <a:srgbClr val="102B51"/>
                </a:solidFill>
              </a:rPr>
              <a:t>executable</a:t>
            </a:r>
            <a:r>
              <a:rPr lang="en-GB" sz="1600"/>
              <a:t> machining plans.</a:t>
            </a:r>
            <a:endParaRPr lang="it-IT" sz="1600"/>
          </a:p>
        </p:txBody>
      </p:sp>
      <p:sp>
        <p:nvSpPr>
          <p:cNvPr id="11" name="Titolo 2">
            <a:extLst>
              <a:ext uri="{FF2B5EF4-FFF2-40B4-BE49-F238E27FC236}">
                <a16:creationId xmlns:a16="http://schemas.microsoft.com/office/drawing/2014/main" id="{97D09448-45E2-05EB-3C18-B4F4AE8A6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19" y="285462"/>
            <a:ext cx="11458397" cy="840083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02B51"/>
                </a:solidFill>
              </a:rPr>
              <a:t>Inputs to the LLM Pipeline – Environment</a:t>
            </a:r>
            <a:endParaRPr lang="en-US" noProof="0">
              <a:solidFill>
                <a:srgbClr val="102B51"/>
              </a:solidFill>
            </a:endParaRPr>
          </a:p>
        </p:txBody>
      </p:sp>
      <p:sp>
        <p:nvSpPr>
          <p:cNvPr id="5" name="CasellaDiTesto 2">
            <a:extLst>
              <a:ext uri="{FF2B5EF4-FFF2-40B4-BE49-F238E27FC236}">
                <a16:creationId xmlns:a16="http://schemas.microsoft.com/office/drawing/2014/main" id="{C3D2C330-0767-14E5-DB5D-E324BB4A2D63}"/>
              </a:ext>
            </a:extLst>
          </p:cNvPr>
          <p:cNvSpPr txBox="1"/>
          <p:nvPr/>
        </p:nvSpPr>
        <p:spPr>
          <a:xfrm>
            <a:off x="373567" y="1862719"/>
            <a:ext cx="10872081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>
                <a:solidFill>
                  <a:srgbClr val="102B51"/>
                </a:solidFill>
              </a:rPr>
              <a:t>Supported Operations</a:t>
            </a:r>
            <a:br>
              <a:rPr lang="en-GB"/>
            </a:br>
            <a:r>
              <a:rPr lang="en-GB" sz="1600"/>
              <a:t>A predefined set of operations is stored, each with technical constraints: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>
                <a:solidFill>
                  <a:srgbClr val="102B51"/>
                </a:solidFill>
              </a:rPr>
              <a:t>▪  </a:t>
            </a:r>
            <a:r>
              <a:rPr lang="en-GB" sz="1600"/>
              <a:t>Max </a:t>
            </a:r>
            <a:r>
              <a:rPr lang="en-GB" sz="1600" b="1">
                <a:solidFill>
                  <a:srgbClr val="102B51"/>
                </a:solidFill>
              </a:rPr>
              <a:t>RPM</a:t>
            </a:r>
            <a:r>
              <a:rPr lang="en-GB" sz="1600"/>
              <a:t>, max </a:t>
            </a:r>
            <a:r>
              <a:rPr lang="en-GB" sz="1600" b="1">
                <a:solidFill>
                  <a:srgbClr val="102B51"/>
                </a:solidFill>
              </a:rPr>
              <a:t>depth</a:t>
            </a:r>
            <a:r>
              <a:rPr lang="en-GB" sz="1600"/>
              <a:t>, max tool </a:t>
            </a:r>
            <a:r>
              <a:rPr lang="en-GB" sz="1600" b="1">
                <a:solidFill>
                  <a:srgbClr val="102B51"/>
                </a:solidFill>
              </a:rPr>
              <a:t>diameter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>
                <a:solidFill>
                  <a:srgbClr val="102B51"/>
                </a:solidFill>
              </a:rPr>
              <a:t>▪</a:t>
            </a:r>
            <a:r>
              <a:rPr lang="en-GB" sz="1600"/>
              <a:t>  Notes for safety, fixturing, or process-specific guidance</a:t>
            </a:r>
            <a:br>
              <a:rPr lang="en-GB" sz="1600"/>
            </a:br>
            <a:endParaRPr lang="en-GB" sz="800" b="1">
              <a:solidFill>
                <a:srgbClr val="102B5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>
                <a:solidFill>
                  <a:srgbClr val="102B51"/>
                </a:solidFill>
              </a:rPr>
              <a:t>Toolbox</a:t>
            </a:r>
            <a:br>
              <a:rPr lang="en-GB"/>
            </a:br>
            <a:r>
              <a:rPr lang="en-GB" sz="1600"/>
              <a:t>A </a:t>
            </a:r>
            <a:r>
              <a:rPr lang="en-GB" sz="1600" b="1">
                <a:solidFill>
                  <a:srgbClr val="102B51"/>
                </a:solidFill>
              </a:rPr>
              <a:t>digital tool library</a:t>
            </a:r>
            <a:r>
              <a:rPr lang="en-GB" sz="1600"/>
              <a:t> maps each tool type to available diameters: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>
                <a:solidFill>
                  <a:srgbClr val="102B51"/>
                </a:solidFill>
              </a:rPr>
              <a:t>▪  </a:t>
            </a:r>
            <a:r>
              <a:rPr lang="en-GB" sz="1600"/>
              <a:t>Tools like Twist Drill, End Mill, Reamer, etc.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>
                <a:solidFill>
                  <a:srgbClr val="102B51"/>
                </a:solidFill>
              </a:rPr>
              <a:t>▪</a:t>
            </a:r>
            <a:r>
              <a:rPr lang="en-GB" sz="1600"/>
              <a:t>  Used to </a:t>
            </a:r>
            <a:r>
              <a:rPr lang="en-GB" sz="1600" b="1">
                <a:solidFill>
                  <a:srgbClr val="102B51"/>
                </a:solidFill>
              </a:rPr>
              <a:t>verify compatibility </a:t>
            </a:r>
            <a:r>
              <a:rPr lang="en-GB" sz="1600"/>
              <a:t>and assign correct </a:t>
            </a:r>
            <a:r>
              <a:rPr lang="en-GB" sz="1600" b="1">
                <a:solidFill>
                  <a:srgbClr val="102B51"/>
                </a:solidFill>
              </a:rPr>
              <a:t>T-codes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>
                <a:solidFill>
                  <a:srgbClr val="102B51"/>
                </a:solidFill>
              </a:rPr>
              <a:t>▪</a:t>
            </a:r>
            <a:r>
              <a:rPr lang="en-GB" sz="1600"/>
              <a:t>  Enables automatic selection during process planning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GB" sz="8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>
                <a:solidFill>
                  <a:srgbClr val="102B51"/>
                </a:solidFill>
              </a:rPr>
              <a:t>Machining Rules</a:t>
            </a:r>
            <a:br>
              <a:rPr lang="en-GB"/>
            </a:br>
            <a:r>
              <a:rPr lang="en-GB" sz="1600" b="1">
                <a:solidFill>
                  <a:srgbClr val="102B51"/>
                </a:solidFill>
              </a:rPr>
              <a:t>Logical rules</a:t>
            </a:r>
            <a:r>
              <a:rPr lang="en-GB" sz="1600"/>
              <a:t> enforce the </a:t>
            </a:r>
            <a:r>
              <a:rPr lang="en-GB" sz="1600" b="1">
                <a:solidFill>
                  <a:srgbClr val="102B51"/>
                </a:solidFill>
              </a:rPr>
              <a:t>correct order </a:t>
            </a:r>
            <a:r>
              <a:rPr lang="en-GB" sz="1600"/>
              <a:t>of operations: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>
                <a:solidFill>
                  <a:srgbClr val="102B51"/>
                </a:solidFill>
              </a:rPr>
              <a:t>▪</a:t>
            </a:r>
            <a:r>
              <a:rPr lang="en-GB" sz="1600"/>
              <a:t>  Rough → Finish sequencing (e.g., Drill before Tap)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>
                <a:solidFill>
                  <a:srgbClr val="102B51"/>
                </a:solidFill>
              </a:rPr>
              <a:t>▪</a:t>
            </a:r>
            <a:r>
              <a:rPr lang="en-GB" sz="1600"/>
              <a:t>  Planar logic (e.g., Face Mill before Chamfer)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>
                <a:solidFill>
                  <a:srgbClr val="102B51"/>
                </a:solidFill>
              </a:rPr>
              <a:t>▪  </a:t>
            </a:r>
            <a:r>
              <a:rPr lang="en-GB" sz="1600"/>
              <a:t>Additional logic rules to refine specific constraints</a:t>
            </a:r>
          </a:p>
        </p:txBody>
      </p:sp>
      <p:pic>
        <p:nvPicPr>
          <p:cNvPr id="21" name="Picture 20" descr="A diagram of a machine&#10;&#10;AI-generated content may be incorrect.">
            <a:extLst>
              <a:ext uri="{FF2B5EF4-FFF2-40B4-BE49-F238E27FC236}">
                <a16:creationId xmlns:a16="http://schemas.microsoft.com/office/drawing/2014/main" id="{C6D28382-3C37-46AD-9332-73A32D0E5D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399" y="1831079"/>
            <a:ext cx="4089401" cy="408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6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46706-CDB2-63E7-B7DD-159F85B6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0B4DD37-2DDF-4730-83D8-B166507E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>
                <a:solidFill>
                  <a:srgbClr val="102B51"/>
                </a:solidFill>
              </a:rPr>
              <a:t>Inputs to the LLM Pipeline</a:t>
            </a:r>
            <a:endParaRPr lang="en-US" noProof="0">
              <a:solidFill>
                <a:srgbClr val="102B5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0F9E04-64D5-5332-5725-44222902C31B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F279D4-034E-0A1A-91C9-BF6CDBF2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7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A9A79C25-A3A3-90FC-5A30-25A09038ED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24E3464D-AE25-CEDD-17E5-4F2C466C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5B1865-8925-BB4E-C8F3-95F38BB147CE}"/>
              </a:ext>
            </a:extLst>
          </p:cNvPr>
          <p:cNvSpPr txBox="1"/>
          <p:nvPr/>
        </p:nvSpPr>
        <p:spPr>
          <a:xfrm>
            <a:off x="364520" y="1073650"/>
            <a:ext cx="7102221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The developed pipeline supports </a:t>
            </a:r>
            <a:r>
              <a:rPr lang="en-US" b="1">
                <a:solidFill>
                  <a:srgbClr val="102B51"/>
                </a:solidFill>
                <a:ea typeface="+mn-lt"/>
                <a:cs typeface="+mn-lt"/>
              </a:rPr>
              <a:t>three</a:t>
            </a:r>
            <a:r>
              <a:rPr lang="en-US" sz="1600">
                <a:ea typeface="+mn-lt"/>
                <a:cs typeface="+mn-lt"/>
              </a:rPr>
              <a:t> distinct input methods to feed the LLM:</a:t>
            </a:r>
          </a:p>
          <a:p>
            <a:endParaRPr lang="it-IT" sz="1600"/>
          </a:p>
          <a:p>
            <a:r>
              <a:rPr lang="en-US" b="1">
                <a:solidFill>
                  <a:srgbClr val="102B51"/>
                </a:solidFill>
                <a:ea typeface="+mn-lt"/>
                <a:cs typeface="+mn-lt"/>
              </a:rPr>
              <a:t>1. Natural Language Text</a:t>
            </a:r>
            <a:endParaRPr lang="en-US">
              <a:solidFill>
                <a:srgbClr val="102B5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User provides a simple textual description of the mechanical part.</a:t>
            </a:r>
            <a:endParaRPr lang="en-US" sz="1600"/>
          </a:p>
          <a:p>
            <a:endParaRPr lang="en-US" b="1"/>
          </a:p>
          <a:p>
            <a:endParaRPr lang="en-US" noProof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8446955-B958-0D76-9162-BE0F2A2AD315}"/>
              </a:ext>
            </a:extLst>
          </p:cNvPr>
          <p:cNvSpPr txBox="1"/>
          <p:nvPr/>
        </p:nvSpPr>
        <p:spPr>
          <a:xfrm>
            <a:off x="4925684" y="5784706"/>
            <a:ext cx="234063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i="1" err="1"/>
              <a:t>Example</a:t>
            </a:r>
            <a:r>
              <a:rPr lang="it-IT" sz="1200" i="1"/>
              <a:t> of a </a:t>
            </a:r>
            <a:r>
              <a:rPr lang="it-IT" sz="1200" i="1" err="1"/>
              <a:t>textual</a:t>
            </a:r>
            <a:r>
              <a:rPr lang="it-IT" sz="1200" i="1"/>
              <a:t> </a:t>
            </a:r>
            <a:r>
              <a:rPr lang="it-IT" sz="1200" i="1" err="1"/>
              <a:t>description</a:t>
            </a:r>
            <a:endParaRPr lang="it-IT" sz="1200" i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62EDC-46C7-BC95-DB14-670774F91702}"/>
              </a:ext>
            </a:extLst>
          </p:cNvPr>
          <p:cNvSpPr txBox="1"/>
          <p:nvPr/>
        </p:nvSpPr>
        <p:spPr>
          <a:xfrm>
            <a:off x="450407" y="2363507"/>
            <a:ext cx="11291186" cy="3354765"/>
          </a:xfrm>
          <a:prstGeom prst="rect">
            <a:avLst/>
          </a:prstGeom>
          <a:noFill/>
          <a:ln w="19050">
            <a:solidFill>
              <a:srgbClr val="102B51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0 w 11291186"/>
                      <a:gd name="connsiteY0" fmla="*/ 0 h 3785652"/>
                      <a:gd name="connsiteX1" fmla="*/ 255537 w 11291186"/>
                      <a:gd name="connsiteY1" fmla="*/ 0 h 3785652"/>
                      <a:gd name="connsiteX2" fmla="*/ 623987 w 11291186"/>
                      <a:gd name="connsiteY2" fmla="*/ 0 h 3785652"/>
                      <a:gd name="connsiteX3" fmla="*/ 1444083 w 11291186"/>
                      <a:gd name="connsiteY3" fmla="*/ 0 h 3785652"/>
                      <a:gd name="connsiteX4" fmla="*/ 2038356 w 11291186"/>
                      <a:gd name="connsiteY4" fmla="*/ 0 h 3785652"/>
                      <a:gd name="connsiteX5" fmla="*/ 2632629 w 11291186"/>
                      <a:gd name="connsiteY5" fmla="*/ 0 h 3785652"/>
                      <a:gd name="connsiteX6" fmla="*/ 3001078 w 11291186"/>
                      <a:gd name="connsiteY6" fmla="*/ 0 h 3785652"/>
                      <a:gd name="connsiteX7" fmla="*/ 3256616 w 11291186"/>
                      <a:gd name="connsiteY7" fmla="*/ 0 h 3785652"/>
                      <a:gd name="connsiteX8" fmla="*/ 3625065 w 11291186"/>
                      <a:gd name="connsiteY8" fmla="*/ 0 h 3785652"/>
                      <a:gd name="connsiteX9" fmla="*/ 3993514 w 11291186"/>
                      <a:gd name="connsiteY9" fmla="*/ 0 h 3785652"/>
                      <a:gd name="connsiteX10" fmla="*/ 4474875 w 11291186"/>
                      <a:gd name="connsiteY10" fmla="*/ 0 h 3785652"/>
                      <a:gd name="connsiteX11" fmla="*/ 5069148 w 11291186"/>
                      <a:gd name="connsiteY11" fmla="*/ 0 h 3785652"/>
                      <a:gd name="connsiteX12" fmla="*/ 5889245 w 11291186"/>
                      <a:gd name="connsiteY12" fmla="*/ 0 h 3785652"/>
                      <a:gd name="connsiteX13" fmla="*/ 6709342 w 11291186"/>
                      <a:gd name="connsiteY13" fmla="*/ 0 h 3785652"/>
                      <a:gd name="connsiteX14" fmla="*/ 7529438 w 11291186"/>
                      <a:gd name="connsiteY14" fmla="*/ 0 h 3785652"/>
                      <a:gd name="connsiteX15" fmla="*/ 8123711 w 11291186"/>
                      <a:gd name="connsiteY15" fmla="*/ 0 h 3785652"/>
                      <a:gd name="connsiteX16" fmla="*/ 8717984 w 11291186"/>
                      <a:gd name="connsiteY16" fmla="*/ 0 h 3785652"/>
                      <a:gd name="connsiteX17" fmla="*/ 9086433 w 11291186"/>
                      <a:gd name="connsiteY17" fmla="*/ 0 h 3785652"/>
                      <a:gd name="connsiteX18" fmla="*/ 9906530 w 11291186"/>
                      <a:gd name="connsiteY18" fmla="*/ 0 h 3785652"/>
                      <a:gd name="connsiteX19" fmla="*/ 10613715 w 11291186"/>
                      <a:gd name="connsiteY19" fmla="*/ 0 h 3785652"/>
                      <a:gd name="connsiteX20" fmla="*/ 11291186 w 11291186"/>
                      <a:gd name="connsiteY20" fmla="*/ 0 h 3785652"/>
                      <a:gd name="connsiteX21" fmla="*/ 11291186 w 11291186"/>
                      <a:gd name="connsiteY21" fmla="*/ 502951 h 3785652"/>
                      <a:gd name="connsiteX22" fmla="*/ 11291186 w 11291186"/>
                      <a:gd name="connsiteY22" fmla="*/ 1081615 h 3785652"/>
                      <a:gd name="connsiteX23" fmla="*/ 11291186 w 11291186"/>
                      <a:gd name="connsiteY23" fmla="*/ 1660279 h 3785652"/>
                      <a:gd name="connsiteX24" fmla="*/ 11291186 w 11291186"/>
                      <a:gd name="connsiteY24" fmla="*/ 2201086 h 3785652"/>
                      <a:gd name="connsiteX25" fmla="*/ 11291186 w 11291186"/>
                      <a:gd name="connsiteY25" fmla="*/ 2666181 h 3785652"/>
                      <a:gd name="connsiteX26" fmla="*/ 11291186 w 11291186"/>
                      <a:gd name="connsiteY26" fmla="*/ 3169132 h 3785652"/>
                      <a:gd name="connsiteX27" fmla="*/ 11291186 w 11291186"/>
                      <a:gd name="connsiteY27" fmla="*/ 3785652 h 3785652"/>
                      <a:gd name="connsiteX28" fmla="*/ 10471089 w 11291186"/>
                      <a:gd name="connsiteY28" fmla="*/ 3785652 h 3785652"/>
                      <a:gd name="connsiteX29" fmla="*/ 9989728 w 11291186"/>
                      <a:gd name="connsiteY29" fmla="*/ 3785652 h 3785652"/>
                      <a:gd name="connsiteX30" fmla="*/ 9508367 w 11291186"/>
                      <a:gd name="connsiteY30" fmla="*/ 3785652 h 3785652"/>
                      <a:gd name="connsiteX31" fmla="*/ 8914094 w 11291186"/>
                      <a:gd name="connsiteY31" fmla="*/ 3785652 h 3785652"/>
                      <a:gd name="connsiteX32" fmla="*/ 8093998 w 11291186"/>
                      <a:gd name="connsiteY32" fmla="*/ 3785652 h 3785652"/>
                      <a:gd name="connsiteX33" fmla="*/ 7725548 w 11291186"/>
                      <a:gd name="connsiteY33" fmla="*/ 3785652 h 3785652"/>
                      <a:gd name="connsiteX34" fmla="*/ 7131275 w 11291186"/>
                      <a:gd name="connsiteY34" fmla="*/ 3785652 h 3785652"/>
                      <a:gd name="connsiteX35" fmla="*/ 6762826 w 11291186"/>
                      <a:gd name="connsiteY35" fmla="*/ 3785652 h 3785652"/>
                      <a:gd name="connsiteX36" fmla="*/ 5942729 w 11291186"/>
                      <a:gd name="connsiteY36" fmla="*/ 3785652 h 3785652"/>
                      <a:gd name="connsiteX37" fmla="*/ 5235545 w 11291186"/>
                      <a:gd name="connsiteY37" fmla="*/ 3785652 h 3785652"/>
                      <a:gd name="connsiteX38" fmla="*/ 4415448 w 11291186"/>
                      <a:gd name="connsiteY38" fmla="*/ 3785652 h 3785652"/>
                      <a:gd name="connsiteX39" fmla="*/ 3708263 w 11291186"/>
                      <a:gd name="connsiteY39" fmla="*/ 3785652 h 3785652"/>
                      <a:gd name="connsiteX40" fmla="*/ 3226902 w 11291186"/>
                      <a:gd name="connsiteY40" fmla="*/ 3785652 h 3785652"/>
                      <a:gd name="connsiteX41" fmla="*/ 2745541 w 11291186"/>
                      <a:gd name="connsiteY41" fmla="*/ 3785652 h 3785652"/>
                      <a:gd name="connsiteX42" fmla="*/ 2264180 w 11291186"/>
                      <a:gd name="connsiteY42" fmla="*/ 3785652 h 3785652"/>
                      <a:gd name="connsiteX43" fmla="*/ 1444083 w 11291186"/>
                      <a:gd name="connsiteY43" fmla="*/ 3785652 h 3785652"/>
                      <a:gd name="connsiteX44" fmla="*/ 623987 w 11291186"/>
                      <a:gd name="connsiteY44" fmla="*/ 3785652 h 3785652"/>
                      <a:gd name="connsiteX45" fmla="*/ 0 w 11291186"/>
                      <a:gd name="connsiteY45" fmla="*/ 3785652 h 3785652"/>
                      <a:gd name="connsiteX46" fmla="*/ 0 w 11291186"/>
                      <a:gd name="connsiteY46" fmla="*/ 3244845 h 3785652"/>
                      <a:gd name="connsiteX47" fmla="*/ 0 w 11291186"/>
                      <a:gd name="connsiteY47" fmla="*/ 2779750 h 3785652"/>
                      <a:gd name="connsiteX48" fmla="*/ 0 w 11291186"/>
                      <a:gd name="connsiteY48" fmla="*/ 2238943 h 3785652"/>
                      <a:gd name="connsiteX49" fmla="*/ 0 w 11291186"/>
                      <a:gd name="connsiteY49" fmla="*/ 1735992 h 3785652"/>
                      <a:gd name="connsiteX50" fmla="*/ 0 w 11291186"/>
                      <a:gd name="connsiteY50" fmla="*/ 1308754 h 3785652"/>
                      <a:gd name="connsiteX51" fmla="*/ 0 w 11291186"/>
                      <a:gd name="connsiteY51" fmla="*/ 881516 h 3785652"/>
                      <a:gd name="connsiteX52" fmla="*/ 0 w 11291186"/>
                      <a:gd name="connsiteY52" fmla="*/ 0 h 37856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</a:cxnLst>
                    <a:rect l="l" t="t" r="r" b="b"/>
                    <a:pathLst>
                      <a:path w="11291186" h="3785652" extrusionOk="0">
                        <a:moveTo>
                          <a:pt x="0" y="0"/>
                        </a:moveTo>
                        <a:cubicBezTo>
                          <a:pt x="113607" y="-4159"/>
                          <a:pt x="153833" y="29976"/>
                          <a:pt x="255537" y="0"/>
                        </a:cubicBezTo>
                        <a:cubicBezTo>
                          <a:pt x="357241" y="-29976"/>
                          <a:pt x="498382" y="18824"/>
                          <a:pt x="623987" y="0"/>
                        </a:cubicBezTo>
                        <a:cubicBezTo>
                          <a:pt x="749592" y="-18824"/>
                          <a:pt x="1100637" y="14498"/>
                          <a:pt x="1444083" y="0"/>
                        </a:cubicBezTo>
                        <a:cubicBezTo>
                          <a:pt x="1787529" y="-14498"/>
                          <a:pt x="1902337" y="42909"/>
                          <a:pt x="2038356" y="0"/>
                        </a:cubicBezTo>
                        <a:cubicBezTo>
                          <a:pt x="2174375" y="-42909"/>
                          <a:pt x="2389129" y="70491"/>
                          <a:pt x="2632629" y="0"/>
                        </a:cubicBezTo>
                        <a:cubicBezTo>
                          <a:pt x="2876129" y="-70491"/>
                          <a:pt x="2823915" y="19463"/>
                          <a:pt x="3001078" y="0"/>
                        </a:cubicBezTo>
                        <a:cubicBezTo>
                          <a:pt x="3178241" y="-19463"/>
                          <a:pt x="3184053" y="4068"/>
                          <a:pt x="3256616" y="0"/>
                        </a:cubicBezTo>
                        <a:cubicBezTo>
                          <a:pt x="3329179" y="-4068"/>
                          <a:pt x="3493252" y="16257"/>
                          <a:pt x="3625065" y="0"/>
                        </a:cubicBezTo>
                        <a:cubicBezTo>
                          <a:pt x="3756878" y="-16257"/>
                          <a:pt x="3887150" y="23079"/>
                          <a:pt x="3993514" y="0"/>
                        </a:cubicBezTo>
                        <a:cubicBezTo>
                          <a:pt x="4099878" y="-23079"/>
                          <a:pt x="4345850" y="29388"/>
                          <a:pt x="4474875" y="0"/>
                        </a:cubicBezTo>
                        <a:cubicBezTo>
                          <a:pt x="4603900" y="-29388"/>
                          <a:pt x="4822542" y="14273"/>
                          <a:pt x="5069148" y="0"/>
                        </a:cubicBezTo>
                        <a:cubicBezTo>
                          <a:pt x="5315754" y="-14273"/>
                          <a:pt x="5613772" y="20280"/>
                          <a:pt x="5889245" y="0"/>
                        </a:cubicBezTo>
                        <a:cubicBezTo>
                          <a:pt x="6164718" y="-20280"/>
                          <a:pt x="6457290" y="2095"/>
                          <a:pt x="6709342" y="0"/>
                        </a:cubicBezTo>
                        <a:cubicBezTo>
                          <a:pt x="6961394" y="-2095"/>
                          <a:pt x="7185782" y="78317"/>
                          <a:pt x="7529438" y="0"/>
                        </a:cubicBezTo>
                        <a:cubicBezTo>
                          <a:pt x="7873094" y="-78317"/>
                          <a:pt x="7849819" y="25151"/>
                          <a:pt x="8123711" y="0"/>
                        </a:cubicBezTo>
                        <a:cubicBezTo>
                          <a:pt x="8397603" y="-25151"/>
                          <a:pt x="8438513" y="48218"/>
                          <a:pt x="8717984" y="0"/>
                        </a:cubicBezTo>
                        <a:cubicBezTo>
                          <a:pt x="8997455" y="-48218"/>
                          <a:pt x="8926443" y="335"/>
                          <a:pt x="9086433" y="0"/>
                        </a:cubicBezTo>
                        <a:cubicBezTo>
                          <a:pt x="9246423" y="-335"/>
                          <a:pt x="9740979" y="54881"/>
                          <a:pt x="9906530" y="0"/>
                        </a:cubicBezTo>
                        <a:cubicBezTo>
                          <a:pt x="10072081" y="-54881"/>
                          <a:pt x="10300239" y="9244"/>
                          <a:pt x="10613715" y="0"/>
                        </a:cubicBezTo>
                        <a:cubicBezTo>
                          <a:pt x="10927192" y="-9244"/>
                          <a:pt x="11140297" y="2379"/>
                          <a:pt x="11291186" y="0"/>
                        </a:cubicBezTo>
                        <a:cubicBezTo>
                          <a:pt x="11348478" y="159016"/>
                          <a:pt x="11257818" y="314653"/>
                          <a:pt x="11291186" y="502951"/>
                        </a:cubicBezTo>
                        <a:cubicBezTo>
                          <a:pt x="11324554" y="691249"/>
                          <a:pt x="11252623" y="847868"/>
                          <a:pt x="11291186" y="1081615"/>
                        </a:cubicBezTo>
                        <a:cubicBezTo>
                          <a:pt x="11329749" y="1315362"/>
                          <a:pt x="11245021" y="1385956"/>
                          <a:pt x="11291186" y="1660279"/>
                        </a:cubicBezTo>
                        <a:cubicBezTo>
                          <a:pt x="11337351" y="1934602"/>
                          <a:pt x="11235041" y="2088598"/>
                          <a:pt x="11291186" y="2201086"/>
                        </a:cubicBezTo>
                        <a:cubicBezTo>
                          <a:pt x="11347331" y="2313574"/>
                          <a:pt x="11287381" y="2504352"/>
                          <a:pt x="11291186" y="2666181"/>
                        </a:cubicBezTo>
                        <a:cubicBezTo>
                          <a:pt x="11294991" y="2828011"/>
                          <a:pt x="11280613" y="2964111"/>
                          <a:pt x="11291186" y="3169132"/>
                        </a:cubicBezTo>
                        <a:cubicBezTo>
                          <a:pt x="11301759" y="3374153"/>
                          <a:pt x="11238158" y="3541411"/>
                          <a:pt x="11291186" y="3785652"/>
                        </a:cubicBezTo>
                        <a:cubicBezTo>
                          <a:pt x="10973387" y="3841839"/>
                          <a:pt x="10777095" y="3760186"/>
                          <a:pt x="10471089" y="3785652"/>
                        </a:cubicBezTo>
                        <a:cubicBezTo>
                          <a:pt x="10165083" y="3811118"/>
                          <a:pt x="10122843" y="3762846"/>
                          <a:pt x="9989728" y="3785652"/>
                        </a:cubicBezTo>
                        <a:cubicBezTo>
                          <a:pt x="9856613" y="3808458"/>
                          <a:pt x="9649663" y="3750247"/>
                          <a:pt x="9508367" y="3785652"/>
                        </a:cubicBezTo>
                        <a:cubicBezTo>
                          <a:pt x="9367071" y="3821057"/>
                          <a:pt x="9133980" y="3777234"/>
                          <a:pt x="8914094" y="3785652"/>
                        </a:cubicBezTo>
                        <a:cubicBezTo>
                          <a:pt x="8694208" y="3794070"/>
                          <a:pt x="8282393" y="3743708"/>
                          <a:pt x="8093998" y="3785652"/>
                        </a:cubicBezTo>
                        <a:cubicBezTo>
                          <a:pt x="7905603" y="3827596"/>
                          <a:pt x="7815979" y="3767574"/>
                          <a:pt x="7725548" y="3785652"/>
                        </a:cubicBezTo>
                        <a:cubicBezTo>
                          <a:pt x="7635117" y="3803730"/>
                          <a:pt x="7425726" y="3757868"/>
                          <a:pt x="7131275" y="3785652"/>
                        </a:cubicBezTo>
                        <a:cubicBezTo>
                          <a:pt x="6836824" y="3813436"/>
                          <a:pt x="6837136" y="3753921"/>
                          <a:pt x="6762826" y="3785652"/>
                        </a:cubicBezTo>
                        <a:cubicBezTo>
                          <a:pt x="6688516" y="3817383"/>
                          <a:pt x="6269843" y="3708374"/>
                          <a:pt x="5942729" y="3785652"/>
                        </a:cubicBezTo>
                        <a:cubicBezTo>
                          <a:pt x="5615615" y="3862930"/>
                          <a:pt x="5520182" y="3755111"/>
                          <a:pt x="5235545" y="3785652"/>
                        </a:cubicBezTo>
                        <a:cubicBezTo>
                          <a:pt x="4950908" y="3816193"/>
                          <a:pt x="4617202" y="3774564"/>
                          <a:pt x="4415448" y="3785652"/>
                        </a:cubicBezTo>
                        <a:cubicBezTo>
                          <a:pt x="4213694" y="3796740"/>
                          <a:pt x="3905814" y="3775482"/>
                          <a:pt x="3708263" y="3785652"/>
                        </a:cubicBezTo>
                        <a:cubicBezTo>
                          <a:pt x="3510712" y="3795822"/>
                          <a:pt x="3344214" y="3768500"/>
                          <a:pt x="3226902" y="3785652"/>
                        </a:cubicBezTo>
                        <a:cubicBezTo>
                          <a:pt x="3109590" y="3802804"/>
                          <a:pt x="2868627" y="3759062"/>
                          <a:pt x="2745541" y="3785652"/>
                        </a:cubicBezTo>
                        <a:cubicBezTo>
                          <a:pt x="2622455" y="3812242"/>
                          <a:pt x="2394392" y="3739115"/>
                          <a:pt x="2264180" y="3785652"/>
                        </a:cubicBezTo>
                        <a:cubicBezTo>
                          <a:pt x="2133968" y="3832189"/>
                          <a:pt x="1618333" y="3724489"/>
                          <a:pt x="1444083" y="3785652"/>
                        </a:cubicBezTo>
                        <a:cubicBezTo>
                          <a:pt x="1269833" y="3846815"/>
                          <a:pt x="827940" y="3707332"/>
                          <a:pt x="623987" y="3785652"/>
                        </a:cubicBezTo>
                        <a:cubicBezTo>
                          <a:pt x="420034" y="3863972"/>
                          <a:pt x="260441" y="3718704"/>
                          <a:pt x="0" y="3785652"/>
                        </a:cubicBezTo>
                        <a:cubicBezTo>
                          <a:pt x="-30724" y="3618787"/>
                          <a:pt x="10338" y="3404569"/>
                          <a:pt x="0" y="3244845"/>
                        </a:cubicBezTo>
                        <a:cubicBezTo>
                          <a:pt x="-10338" y="3085121"/>
                          <a:pt x="46483" y="2880717"/>
                          <a:pt x="0" y="2779750"/>
                        </a:cubicBezTo>
                        <a:cubicBezTo>
                          <a:pt x="-46483" y="2678783"/>
                          <a:pt x="6881" y="2367281"/>
                          <a:pt x="0" y="2238943"/>
                        </a:cubicBezTo>
                        <a:cubicBezTo>
                          <a:pt x="-6881" y="2110605"/>
                          <a:pt x="17791" y="1880189"/>
                          <a:pt x="0" y="1735992"/>
                        </a:cubicBezTo>
                        <a:cubicBezTo>
                          <a:pt x="-17791" y="1591795"/>
                          <a:pt x="46590" y="1461972"/>
                          <a:pt x="0" y="1308754"/>
                        </a:cubicBezTo>
                        <a:cubicBezTo>
                          <a:pt x="-46590" y="1155536"/>
                          <a:pt x="8596" y="1047980"/>
                          <a:pt x="0" y="881516"/>
                        </a:cubicBezTo>
                        <a:cubicBezTo>
                          <a:pt x="-8596" y="715052"/>
                          <a:pt x="25467" y="2215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1600" b="1" err="1">
                <a:solidFill>
                  <a:srgbClr val="102B51"/>
                </a:solidFill>
              </a:rPr>
              <a:t>part_info</a:t>
            </a:r>
            <a:r>
              <a:rPr lang="en-GB" sz="1600" b="1">
                <a:solidFill>
                  <a:srgbClr val="102B51"/>
                </a:solidFill>
              </a:rPr>
              <a:t> = </a:t>
            </a:r>
            <a:r>
              <a:rPr lang="en-GB" sz="1600" b="1" i="1">
                <a:solidFill>
                  <a:srgbClr val="102B51"/>
                </a:solidFill>
              </a:rPr>
              <a:t>(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"You are looking at a rectangular aluminium cover plate for a small gearbox.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"The finished plate is 120 mm wide (X), 90 mm tall (Y) and 20 mm thick (Z).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"Its datum is the exact centre of the top face.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"All edges of the top face are destined for a light-cut 1 mm x 45° chamfer after other machining is complete.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"The top face needs a 0.8 </a:t>
            </a:r>
            <a:r>
              <a:rPr lang="en-GB" sz="1400" i="1" err="1">
                <a:latin typeface="Source Sans Pro" panose="020B0503030403020204" pitchFamily="34" charset="0"/>
                <a:ea typeface="Source Sans Pro" panose="020B0503030403020204" pitchFamily="34" charset="0"/>
              </a:rPr>
              <a:t>μm</a:t>
            </a:r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Ra cosmetic finish, so it will be face-milled, as will the bottom face after the part is flipped to reach final thickness. "</a:t>
            </a:r>
          </a:p>
          <a:p>
            <a:endParaRPr lang="en-GB" sz="1400" i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"Features, working from the centre outward: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"• Central bearing seat – one blind hole, pilot-drilled to 10 mm, then bored to 30 mm Ø, 15 mm deep, true position ±0.02 mm, surface finish Ra 0.8 </a:t>
            </a:r>
            <a:r>
              <a:rPr lang="en-GB" sz="1400" i="1" err="1">
                <a:latin typeface="Source Sans Pro" panose="020B0503030403020204" pitchFamily="34" charset="0"/>
                <a:ea typeface="Source Sans Pro" panose="020B0503030403020204" pitchFamily="34" charset="0"/>
              </a:rPr>
              <a:t>μm</a:t>
            </a:r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"• Alignment dowel hole – one precision reamed hole, 12 mm Ø, 20 mm deep, located 30 mm above the datum on the Y-axis, tolerance H7.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"• Threaded service port – one blind tapped hole M10 × 1.5, drill Ø 8.5 mm, 18 mm deep, positioned 35 mm below the datum on the Y-axis.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"• Rectangular relief pocket – 70 mm (X) by 50 mm (Y), 5 mm deep, centred on the datum, corner radii 3 mm.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"• Oil-feed slot – 60 mm long, 10 mm wide and 10 mm deep, centred on the datum in Y and offset -45 mm in Y, running parallel to the Y-axis. "</a:t>
            </a:r>
          </a:p>
          <a:p>
            <a:r>
              <a:rPr lang="en-GB" sz="14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"• Four corner mounting holes – through-holes 8 mm Ø, arrayed symmetrically at X ±55 mm, Y ±40 mm; depth equals plate thickness (20 mm).“</a:t>
            </a:r>
            <a:endParaRPr lang="en-GB" sz="1400" b="1" i="1">
              <a:solidFill>
                <a:srgbClr val="102B5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400" b="1" i="1">
                <a:solidFill>
                  <a:srgbClr val="102B5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endParaRPr lang="en-GB" sz="1400" i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69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4A336-2968-08E5-9518-0A266C1F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BBDFF69-D24B-FF7D-574C-F0F134DD7DE2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857328-186C-9158-835D-E297BC62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8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DBE9B73-6161-4521-8E0D-D25EF621A2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DE883975-6B9C-2EC1-E9A6-40F5069C5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3004B08-D04C-CB0B-D552-AF4F1522577E}"/>
              </a:ext>
            </a:extLst>
          </p:cNvPr>
          <p:cNvSpPr txBox="1"/>
          <p:nvPr/>
        </p:nvSpPr>
        <p:spPr>
          <a:xfrm>
            <a:off x="364520" y="1228783"/>
            <a:ext cx="6233303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102B51"/>
                </a:solidFill>
              </a:rPr>
              <a:t>2. Structured JSON Dictionary</a:t>
            </a:r>
            <a:endParaRPr lang="en-US">
              <a:solidFill>
                <a:srgbClr val="102B5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/>
              <a:t>Created through a guided </a:t>
            </a:r>
            <a:r>
              <a:rPr lang="en-US" sz="1600" b="1">
                <a:solidFill>
                  <a:srgbClr val="102B51"/>
                </a:solidFill>
              </a:rPr>
              <a:t>Python interface</a:t>
            </a:r>
            <a:r>
              <a:rPr lang="en-US" sz="1600"/>
              <a:t>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b="1">
                <a:solidFill>
                  <a:srgbClr val="102B51"/>
                </a:solidFill>
              </a:rPr>
              <a:t>Dictionary</a:t>
            </a:r>
            <a:r>
              <a:rPr lang="en-US" sz="1600"/>
              <a:t> includes structured details (geometry, dimensions, features).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/>
              <a:t>Automatically converted into </a:t>
            </a:r>
            <a:r>
              <a:rPr lang="en-US" sz="1600" b="1">
                <a:solidFill>
                  <a:srgbClr val="102B51"/>
                </a:solidFill>
              </a:rPr>
              <a:t>JSON format </a:t>
            </a:r>
            <a:r>
              <a:rPr lang="en-US" sz="1600"/>
              <a:t>to ensure clear interpretation.</a:t>
            </a:r>
          </a:p>
          <a:p>
            <a:pPr marL="285750" indent="-285750">
              <a:buFont typeface="Arial,Sans-Serif"/>
              <a:buChar char="•"/>
            </a:pPr>
            <a:endParaRPr lang="en-US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8A65A58-00F2-82B4-A389-2A7847926798}"/>
              </a:ext>
            </a:extLst>
          </p:cNvPr>
          <p:cNvSpPr txBox="1"/>
          <p:nvPr/>
        </p:nvSpPr>
        <p:spPr>
          <a:xfrm>
            <a:off x="8078743" y="5972670"/>
            <a:ext cx="306901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i="1" err="1"/>
              <a:t>Example</a:t>
            </a:r>
            <a:r>
              <a:rPr lang="it-IT" sz="1100" i="1"/>
              <a:t> of user </a:t>
            </a:r>
            <a:r>
              <a:rPr lang="it-IT" sz="1100" i="1" err="1"/>
              <a:t>interface</a:t>
            </a:r>
            <a:r>
              <a:rPr lang="it-IT" sz="1100" i="1"/>
              <a:t> for JSON Dictionary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1360E135-D56F-C8D2-BD8F-51738B43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>
                <a:solidFill>
                  <a:srgbClr val="102B51"/>
                </a:solidFill>
              </a:rPr>
              <a:t>Inputs to the LLM Pipeline</a:t>
            </a:r>
            <a:endParaRPr lang="en-US" noProof="0">
              <a:solidFill>
                <a:srgbClr val="102B5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1655A-B92B-BA58-F2DE-259B0893681E}"/>
              </a:ext>
            </a:extLst>
          </p:cNvPr>
          <p:cNvSpPr txBox="1"/>
          <p:nvPr/>
        </p:nvSpPr>
        <p:spPr>
          <a:xfrm>
            <a:off x="7194433" y="774953"/>
            <a:ext cx="4610191" cy="5124480"/>
          </a:xfrm>
          <a:prstGeom prst="rect">
            <a:avLst/>
          </a:prstGeom>
          <a:noFill/>
          <a:ln w="19050">
            <a:solidFill>
              <a:srgbClr val="102B5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Fill in the following information about the part to be machined:</a:t>
            </a:r>
          </a:p>
          <a:p>
            <a:endParaRPr lang="en-GB" sz="30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Material: Aluminium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Select the type of geometry: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1. Plate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2. Cylinder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3. Gear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4. Flange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5. Bracket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6. Block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Enter the corresponding number: 1</a:t>
            </a:r>
          </a:p>
          <a:p>
            <a:endParaRPr lang="en-GB" sz="30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Enter the dimensional parameters for geometry: Plate</a:t>
            </a:r>
          </a:p>
          <a:p>
            <a:endParaRPr lang="en-GB" sz="30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Length (mm): 100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Width (mm): 200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Thickness (mm): 10</a:t>
            </a:r>
          </a:p>
          <a:p>
            <a:endParaRPr lang="en-GB" sz="40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--- GEOMETRIC FEATURE COLLECTION ---</a:t>
            </a:r>
          </a:p>
          <a:p>
            <a:endParaRPr lang="en-GB" sz="30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Do you want to add feature #1? (y/n): y</a:t>
            </a:r>
          </a:p>
          <a:p>
            <a:endParaRPr lang="en-GB" sz="30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Select the type of feature: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1. Through hole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2. Blind hole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3. Rectangular pocket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4. Circular pocket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5. Slot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6. Chamfer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7. Fillet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8. Hole + Thread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9. Thread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10. Other (free description)</a:t>
            </a:r>
          </a:p>
          <a:p>
            <a:r>
              <a:rPr lang="en-GB" sz="1100">
                <a:latin typeface="Source Sans Pro" panose="020B0503030403020204" pitchFamily="34" charset="0"/>
                <a:ea typeface="Source Sans Pro" panose="020B0503030403020204" pitchFamily="34" charset="0"/>
              </a:rPr>
              <a:t>Number corresponding to the feature: 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A36F9B-2A75-D51B-B079-F636E6378B09}"/>
              </a:ext>
            </a:extLst>
          </p:cNvPr>
          <p:cNvGrpSpPr/>
          <p:nvPr/>
        </p:nvGrpSpPr>
        <p:grpSpPr>
          <a:xfrm>
            <a:off x="775886" y="4230692"/>
            <a:ext cx="2093604" cy="1398525"/>
            <a:chOff x="408372" y="3224981"/>
            <a:chExt cx="2093604" cy="139852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F0B877D-42A3-9B79-E55A-856522CDA919}"/>
                </a:ext>
              </a:extLst>
            </p:cNvPr>
            <p:cNvSpPr/>
            <p:nvPr/>
          </p:nvSpPr>
          <p:spPr>
            <a:xfrm>
              <a:off x="540774" y="3224981"/>
              <a:ext cx="1828799" cy="1398525"/>
            </a:xfrm>
            <a:prstGeom prst="roundRect">
              <a:avLst/>
            </a:prstGeom>
            <a:noFill/>
            <a:ln w="28575">
              <a:solidFill>
                <a:srgbClr val="102B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0D94CB-1931-B37B-35DB-0B4C33961B91}"/>
                </a:ext>
              </a:extLst>
            </p:cNvPr>
            <p:cNvSpPr txBox="1"/>
            <p:nvPr/>
          </p:nvSpPr>
          <p:spPr>
            <a:xfrm>
              <a:off x="408372" y="3601077"/>
              <a:ext cx="20936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>
                  <a:solidFill>
                    <a:srgbClr val="102B51"/>
                  </a:solidFill>
                </a:rPr>
                <a:t>User friendly Python </a:t>
              </a:r>
              <a:r>
                <a:rPr lang="it-IT" b="1" err="1">
                  <a:solidFill>
                    <a:srgbClr val="102B51"/>
                  </a:solidFill>
                </a:rPr>
                <a:t>interface</a:t>
              </a:r>
              <a:endParaRPr lang="en-GB" b="1">
                <a:solidFill>
                  <a:srgbClr val="102B5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BE7B80-82FB-EF31-8499-BD5ECF27EF9E}"/>
              </a:ext>
            </a:extLst>
          </p:cNvPr>
          <p:cNvGrpSpPr/>
          <p:nvPr/>
        </p:nvGrpSpPr>
        <p:grpSpPr>
          <a:xfrm>
            <a:off x="2170676" y="2872368"/>
            <a:ext cx="2093604" cy="1198025"/>
            <a:chOff x="2357411" y="2747336"/>
            <a:chExt cx="2093604" cy="119802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9EACE31-B114-3D8B-C25B-FC6BEF9701D4}"/>
                </a:ext>
              </a:extLst>
            </p:cNvPr>
            <p:cNvSpPr/>
            <p:nvPr/>
          </p:nvSpPr>
          <p:spPr>
            <a:xfrm>
              <a:off x="2729171" y="2747336"/>
              <a:ext cx="1364507" cy="1198025"/>
            </a:xfrm>
            <a:prstGeom prst="roundRect">
              <a:avLst/>
            </a:prstGeom>
            <a:noFill/>
            <a:ln w="28575">
              <a:solidFill>
                <a:srgbClr val="102B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15AACB-D9F7-C06F-AC62-56DD4E6E4441}"/>
                </a:ext>
              </a:extLst>
            </p:cNvPr>
            <p:cNvSpPr txBox="1"/>
            <p:nvPr/>
          </p:nvSpPr>
          <p:spPr>
            <a:xfrm>
              <a:off x="2357411" y="3032165"/>
              <a:ext cx="20936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>
                  <a:solidFill>
                    <a:srgbClr val="102B51"/>
                  </a:solidFill>
                </a:rPr>
                <a:t>User</a:t>
              </a:r>
            </a:p>
            <a:p>
              <a:pPr algn="ctr"/>
              <a:r>
                <a:rPr lang="it-IT" b="1">
                  <a:solidFill>
                    <a:srgbClr val="102B51"/>
                  </a:solidFill>
                </a:rPr>
                <a:t> Input </a:t>
              </a:r>
              <a:endParaRPr lang="en-GB" b="1">
                <a:solidFill>
                  <a:srgbClr val="102B5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558076-A025-1A63-4043-5439F2C72BF1}"/>
              </a:ext>
            </a:extLst>
          </p:cNvPr>
          <p:cNvGrpSpPr/>
          <p:nvPr/>
        </p:nvGrpSpPr>
        <p:grpSpPr>
          <a:xfrm>
            <a:off x="4504219" y="4224515"/>
            <a:ext cx="2093604" cy="1398525"/>
            <a:chOff x="4817578" y="3236323"/>
            <a:chExt cx="2093604" cy="139852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CA68B66-D72B-2DE0-E943-8C7F5950B9DC}"/>
                </a:ext>
              </a:extLst>
            </p:cNvPr>
            <p:cNvSpPr/>
            <p:nvPr/>
          </p:nvSpPr>
          <p:spPr>
            <a:xfrm>
              <a:off x="4934926" y="3236323"/>
              <a:ext cx="1828800" cy="1398525"/>
            </a:xfrm>
            <a:prstGeom prst="roundRect">
              <a:avLst/>
            </a:prstGeom>
            <a:noFill/>
            <a:ln w="28575">
              <a:solidFill>
                <a:srgbClr val="102B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1244E3-8B1A-AD85-1500-75A0FC4D748A}"/>
                </a:ext>
              </a:extLst>
            </p:cNvPr>
            <p:cNvSpPr txBox="1"/>
            <p:nvPr/>
          </p:nvSpPr>
          <p:spPr>
            <a:xfrm>
              <a:off x="4817578" y="3605218"/>
              <a:ext cx="20936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err="1">
                  <a:solidFill>
                    <a:srgbClr val="102B51"/>
                  </a:solidFill>
                </a:rPr>
                <a:t>Automatic</a:t>
              </a:r>
              <a:endParaRPr lang="it-IT" b="1">
                <a:solidFill>
                  <a:srgbClr val="102B51"/>
                </a:solidFill>
              </a:endParaRPr>
            </a:p>
            <a:p>
              <a:pPr algn="ctr"/>
              <a:r>
                <a:rPr lang="it-IT" b="1">
                  <a:solidFill>
                    <a:srgbClr val="102B51"/>
                  </a:solidFill>
                </a:rPr>
                <a:t>JSON generation</a:t>
              </a:r>
              <a:endParaRPr lang="en-GB" b="1">
                <a:solidFill>
                  <a:srgbClr val="102B51"/>
                </a:solidFill>
              </a:endParaRP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24D21B-069C-65BC-EE5A-3CBB512C0347}"/>
              </a:ext>
            </a:extLst>
          </p:cNvPr>
          <p:cNvCxnSpPr>
            <a:cxnSpLocks/>
          </p:cNvCxnSpPr>
          <p:nvPr/>
        </p:nvCxnSpPr>
        <p:spPr>
          <a:xfrm flipV="1">
            <a:off x="2799687" y="4937158"/>
            <a:ext cx="1759975" cy="7929"/>
          </a:xfrm>
          <a:prstGeom prst="straightConnector1">
            <a:avLst/>
          </a:prstGeom>
          <a:ln w="38100">
            <a:solidFill>
              <a:srgbClr val="102B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B8402F7-83F0-7E72-57FE-6CC05723628F}"/>
              </a:ext>
            </a:extLst>
          </p:cNvPr>
          <p:cNvCxnSpPr>
            <a:cxnSpLocks/>
          </p:cNvCxnSpPr>
          <p:nvPr/>
        </p:nvCxnSpPr>
        <p:spPr>
          <a:xfrm>
            <a:off x="3263224" y="4109102"/>
            <a:ext cx="9697" cy="835985"/>
          </a:xfrm>
          <a:prstGeom prst="straightConnector1">
            <a:avLst/>
          </a:prstGeom>
          <a:ln w="38100">
            <a:solidFill>
              <a:srgbClr val="102B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9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9B8CD-CB05-D727-7C4C-DB0CFDC2F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DE8D907-473E-7DAF-426B-ED6F8F70E6B2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8EB2EE-430F-D4AF-9FA9-4C7C955C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9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C2C6681-6C7E-7D75-0088-1BB49DB10D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AFF5A06A-A091-8DC7-C45C-CD1062B9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8A8A66C-D179-E4A4-7A08-8501953FEA83}"/>
              </a:ext>
            </a:extLst>
          </p:cNvPr>
          <p:cNvSpPr txBox="1"/>
          <p:nvPr/>
        </p:nvSpPr>
        <p:spPr>
          <a:xfrm>
            <a:off x="440442" y="1130421"/>
            <a:ext cx="6752838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102B51"/>
                </a:solidFill>
                <a:ea typeface="+mn-lt"/>
                <a:cs typeface="+mn-lt"/>
              </a:rPr>
              <a:t>3. Technical Drawing </a:t>
            </a:r>
          </a:p>
          <a:p>
            <a:endParaRPr lang="en-US" sz="1000" b="1">
              <a:solidFill>
                <a:srgbClr val="102B51"/>
              </a:solidFill>
              <a:ea typeface="+mn-lt"/>
              <a:cs typeface="+mn-lt"/>
            </a:endParaRPr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en-GB" sz="1600"/>
              <a:t>The user uploads a file containing </a:t>
            </a:r>
            <a:r>
              <a:rPr lang="en-GB" sz="1600" b="1">
                <a:solidFill>
                  <a:srgbClr val="102B51"/>
                </a:solidFill>
              </a:rPr>
              <a:t>orthographic</a:t>
            </a:r>
            <a:r>
              <a:rPr lang="en-GB" sz="1600">
                <a:solidFill>
                  <a:srgbClr val="102B51"/>
                </a:solidFill>
              </a:rPr>
              <a:t> </a:t>
            </a:r>
            <a:r>
              <a:rPr lang="en-GB" sz="1600" b="1">
                <a:solidFill>
                  <a:srgbClr val="102B51"/>
                </a:solidFill>
              </a:rPr>
              <a:t>views</a:t>
            </a:r>
            <a:r>
              <a:rPr lang="en-GB" sz="1600">
                <a:solidFill>
                  <a:srgbClr val="102B51"/>
                </a:solidFill>
              </a:rPr>
              <a:t> </a:t>
            </a:r>
            <a:r>
              <a:rPr lang="en-GB" sz="1600"/>
              <a:t>along with </a:t>
            </a:r>
            <a:r>
              <a:rPr lang="en-GB" sz="1600" b="1">
                <a:solidFill>
                  <a:srgbClr val="102B51"/>
                </a:solidFill>
              </a:rPr>
              <a:t>sectional views</a:t>
            </a:r>
            <a:r>
              <a:rPr lang="en-GB" sz="1600"/>
              <a:t>, these drawings ensure all features of the part are clearly visible and dimensioned.</a:t>
            </a:r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en-GB" sz="1600"/>
              <a:t>The file is processed by an LLM, which is tasked with generating a </a:t>
            </a:r>
            <a:r>
              <a:rPr lang="en-GB" sz="1600" b="1">
                <a:solidFill>
                  <a:srgbClr val="102B51"/>
                </a:solidFill>
              </a:rPr>
              <a:t>natural language description </a:t>
            </a:r>
            <a:r>
              <a:rPr lang="en-GB" sz="1600"/>
              <a:t>of the part, using the provided dimensions for accurate geometry interpretation.</a:t>
            </a:r>
            <a:endParaRPr lang="en-US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CDD6E8F-D020-9E8F-FFFC-63495AD7C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>
                <a:solidFill>
                  <a:srgbClr val="102B51"/>
                </a:solidFill>
              </a:rPr>
              <a:t>Inputs to the LLM </a:t>
            </a:r>
            <a:endParaRPr lang="en-US" noProof="0">
              <a:solidFill>
                <a:srgbClr val="102B51"/>
              </a:solidFill>
            </a:endParaRPr>
          </a:p>
        </p:txBody>
      </p:sp>
      <p:pic>
        <p:nvPicPr>
          <p:cNvPr id="10" name="Picture 9" descr="A rectangular object with a hole in the middle">
            <a:extLst>
              <a:ext uri="{FF2B5EF4-FFF2-40B4-BE49-F238E27FC236}">
                <a16:creationId xmlns:a16="http://schemas.microsoft.com/office/drawing/2014/main" id="{6B789F84-7125-FF2A-4176-1416EBA4FF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942" y="924560"/>
            <a:ext cx="3775044" cy="2163937"/>
          </a:xfrm>
          <a:prstGeom prst="rect">
            <a:avLst/>
          </a:prstGeom>
        </p:spPr>
      </p:pic>
      <p:pic>
        <p:nvPicPr>
          <p:cNvPr id="12" name="Picture 11" descr="A blueprint of a rectangular object">
            <a:extLst>
              <a:ext uri="{FF2B5EF4-FFF2-40B4-BE49-F238E27FC236}">
                <a16:creationId xmlns:a16="http://schemas.microsoft.com/office/drawing/2014/main" id="{FD5E6650-F3B4-FE09-3BEE-80D1A42BCA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84" y="3591154"/>
            <a:ext cx="4294993" cy="25352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CDF393-67AD-9DDE-9016-0FA6F7674F81}"/>
              </a:ext>
            </a:extLst>
          </p:cNvPr>
          <p:cNvSpPr txBox="1"/>
          <p:nvPr/>
        </p:nvSpPr>
        <p:spPr>
          <a:xfrm>
            <a:off x="7000568" y="3343171"/>
            <a:ext cx="452062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>
                <a:solidFill>
                  <a:srgbClr val="102B51"/>
                </a:solidFill>
              </a:rPr>
              <a:t>Output:</a:t>
            </a:r>
          </a:p>
          <a:p>
            <a:r>
              <a:rPr lang="en-GB" sz="1400" i="1"/>
              <a:t>“The part is a rectangular plate with overall dimensions of 200 mm in length, 100 mm in width, and 10 mm in thickness. On the top face, there is a circular through hole with a diameter of 10 mm, </a:t>
            </a:r>
            <a:r>
              <a:rPr lang="en-GB" sz="1400" b="1" i="1" err="1">
                <a:solidFill>
                  <a:srgbClr val="C00000"/>
                </a:solidFill>
              </a:rPr>
              <a:t>centered</a:t>
            </a:r>
            <a:r>
              <a:rPr lang="en-GB" sz="1400" b="1" i="1">
                <a:solidFill>
                  <a:srgbClr val="C00000"/>
                </a:solidFill>
              </a:rPr>
              <a:t> 50 mm from the left edge</a:t>
            </a:r>
            <a:r>
              <a:rPr lang="en-GB" sz="1400" i="1">
                <a:solidFill>
                  <a:srgbClr val="C00000"/>
                </a:solidFill>
              </a:rPr>
              <a:t> </a:t>
            </a:r>
            <a:r>
              <a:rPr lang="en-GB" sz="1400" i="1"/>
              <a:t>and 50 mm from the bottom edge. Adjacent to the circular hole, there is a rectangular pocket with dimensions of 30 mm by 20 mm. This pocket is located 35 mm from the left </a:t>
            </a:r>
            <a:r>
              <a:rPr lang="en-GB" sz="1400" b="1" i="1">
                <a:solidFill>
                  <a:srgbClr val="C00000"/>
                </a:solidFill>
              </a:rPr>
              <a:t>edge and 20 mm from the bottom edge. </a:t>
            </a:r>
            <a:r>
              <a:rPr lang="en-GB" sz="1400" i="1"/>
              <a:t>The sectional view indicates that this pocket is blind with a depth of 5 mm. The edges of the plate appear to have </a:t>
            </a:r>
            <a:r>
              <a:rPr lang="en-GB" sz="1400" b="1" i="1">
                <a:solidFill>
                  <a:srgbClr val="C00000"/>
                </a:solidFill>
              </a:rPr>
              <a:t>no additional features such as chamfers or fillets</a:t>
            </a:r>
            <a:r>
              <a:rPr lang="en-GB" sz="1400" b="1" i="1"/>
              <a:t>.</a:t>
            </a:r>
            <a:r>
              <a:rPr lang="en-GB" sz="1400" i="1"/>
              <a:t>”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4193A09-1A6F-A682-19A0-DB254CEA3E80}"/>
              </a:ext>
            </a:extLst>
          </p:cNvPr>
          <p:cNvSpPr/>
          <p:nvPr/>
        </p:nvSpPr>
        <p:spPr>
          <a:xfrm>
            <a:off x="6007585" y="4622828"/>
            <a:ext cx="727588" cy="471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7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65E6A-56CD-DAFD-A453-7E5C1042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482CD73-36C9-743E-7FF5-696FFD20BC08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3E4F60-15BA-CC7C-2EB1-F85D11D0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10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F89CC2BE-1966-0410-3396-AE6690C6DD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09B0B930-19F8-8304-7546-14A40CBB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F6CC99-4C97-F218-26F7-A17451EF82CE}"/>
              </a:ext>
            </a:extLst>
          </p:cNvPr>
          <p:cNvSpPr txBox="1"/>
          <p:nvPr/>
        </p:nvSpPr>
        <p:spPr>
          <a:xfrm>
            <a:off x="365339" y="1125545"/>
            <a:ext cx="736002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b="1">
              <a:ea typeface="+mn-lt"/>
              <a:cs typeface="+mn-lt"/>
            </a:endParaRPr>
          </a:p>
          <a:p>
            <a:r>
              <a:rPr lang="it-IT" b="1">
                <a:solidFill>
                  <a:srgbClr val="102B51"/>
                </a:solidFill>
                <a:ea typeface="+mn-lt"/>
                <a:cs typeface="+mn-lt"/>
              </a:rPr>
              <a:t>1. Natural Language Text:</a:t>
            </a:r>
            <a:endParaRPr lang="it-IT">
              <a:solidFill>
                <a:srgbClr val="102B5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it-IT" sz="1600">
                <a:ea typeface="+mn-lt"/>
                <a:cs typeface="+mn-lt"/>
              </a:rPr>
              <a:t>Must be </a:t>
            </a: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clear and </a:t>
            </a:r>
            <a:r>
              <a:rPr lang="it-IT" sz="1600" b="1" err="1">
                <a:solidFill>
                  <a:srgbClr val="102B51"/>
                </a:solidFill>
                <a:ea typeface="+mn-lt"/>
                <a:cs typeface="+mn-lt"/>
              </a:rPr>
              <a:t>unambiguous</a:t>
            </a:r>
            <a:r>
              <a:rPr lang="it-IT" sz="1600">
                <a:ea typeface="+mn-lt"/>
                <a:cs typeface="+mn-lt"/>
              </a:rPr>
              <a:t>.</a:t>
            </a:r>
            <a:endParaRPr lang="it-IT" sz="1600"/>
          </a:p>
          <a:p>
            <a:pPr marL="285750" indent="-285750">
              <a:buFont typeface="Arial"/>
              <a:buChar char="•"/>
            </a:pPr>
            <a:r>
              <a:rPr lang="it-IT" sz="1600" err="1">
                <a:ea typeface="+mn-lt"/>
                <a:cs typeface="+mn-lt"/>
              </a:rPr>
              <a:t>Vague</a:t>
            </a:r>
            <a:r>
              <a:rPr lang="it-IT" sz="1600">
                <a:ea typeface="+mn-lt"/>
                <a:cs typeface="+mn-lt"/>
              </a:rPr>
              <a:t> or incomplete </a:t>
            </a:r>
            <a:r>
              <a:rPr lang="it-IT" sz="1600" err="1">
                <a:ea typeface="+mn-lt"/>
                <a:cs typeface="+mn-lt"/>
              </a:rPr>
              <a:t>descriptions</a:t>
            </a:r>
            <a:r>
              <a:rPr lang="it-IT" sz="1600">
                <a:ea typeface="+mn-lt"/>
                <a:cs typeface="+mn-lt"/>
              </a:rPr>
              <a:t> can lead to inaccurate </a:t>
            </a:r>
            <a:r>
              <a:rPr lang="it-IT" sz="1600" err="1">
                <a:ea typeface="+mn-lt"/>
                <a:cs typeface="+mn-lt"/>
              </a:rPr>
              <a:t>interpretations</a:t>
            </a:r>
            <a:r>
              <a:rPr lang="it-IT" sz="1600">
                <a:ea typeface="+mn-lt"/>
                <a:cs typeface="+mn-lt"/>
              </a:rPr>
              <a:t> by the LLM.</a:t>
            </a:r>
          </a:p>
          <a:p>
            <a:pPr marL="285750" indent="-285750">
              <a:buFont typeface="Arial"/>
              <a:buChar char="•"/>
            </a:pPr>
            <a:endParaRPr lang="it-IT" sz="1200"/>
          </a:p>
          <a:p>
            <a:r>
              <a:rPr lang="it-IT" b="1">
                <a:solidFill>
                  <a:srgbClr val="102B51"/>
                </a:solidFill>
                <a:ea typeface="+mn-lt"/>
                <a:cs typeface="+mn-lt"/>
              </a:rPr>
              <a:t>2. </a:t>
            </a:r>
            <a:r>
              <a:rPr lang="it-IT" b="1" err="1">
                <a:solidFill>
                  <a:srgbClr val="102B51"/>
                </a:solidFill>
                <a:ea typeface="+mn-lt"/>
                <a:cs typeface="+mn-lt"/>
              </a:rPr>
              <a:t>Structured</a:t>
            </a:r>
            <a:r>
              <a:rPr lang="it-IT" b="1">
                <a:solidFill>
                  <a:srgbClr val="102B51"/>
                </a:solidFill>
                <a:ea typeface="+mn-lt"/>
                <a:cs typeface="+mn-lt"/>
              </a:rPr>
              <a:t> JSON Dictionary:</a:t>
            </a:r>
            <a:endParaRPr lang="it-IT">
              <a:solidFill>
                <a:srgbClr val="102B5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it-IT" sz="1600" err="1">
                <a:ea typeface="+mn-lt"/>
                <a:cs typeface="+mn-lt"/>
              </a:rPr>
              <a:t>Currently</a:t>
            </a:r>
            <a:r>
              <a:rPr lang="it-IT" sz="1600">
                <a:ea typeface="+mn-lt"/>
                <a:cs typeface="+mn-lt"/>
              </a:rPr>
              <a:t> supports a </a:t>
            </a: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limited set of </a:t>
            </a:r>
            <a:r>
              <a:rPr lang="it-IT" sz="1600" b="1" err="1">
                <a:solidFill>
                  <a:srgbClr val="102B51"/>
                </a:solidFill>
                <a:ea typeface="+mn-lt"/>
                <a:cs typeface="+mn-lt"/>
              </a:rPr>
              <a:t>predefined</a:t>
            </a: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 </a:t>
            </a:r>
            <a:r>
              <a:rPr lang="it-IT" sz="1600" b="1" err="1">
                <a:solidFill>
                  <a:srgbClr val="102B51"/>
                </a:solidFill>
                <a:ea typeface="+mn-lt"/>
                <a:cs typeface="+mn-lt"/>
              </a:rPr>
              <a:t>geometries</a:t>
            </a:r>
            <a:r>
              <a:rPr lang="it-IT" sz="1600" b="1">
                <a:solidFill>
                  <a:srgbClr val="102B51"/>
                </a:solidFill>
                <a:ea typeface="+mn-lt"/>
                <a:cs typeface="+mn-lt"/>
              </a:rPr>
              <a:t> and features</a:t>
            </a:r>
            <a:r>
              <a:rPr lang="it-IT" sz="1600">
                <a:ea typeface="+mn-lt"/>
                <a:cs typeface="+mn-lt"/>
              </a:rPr>
              <a:t>.</a:t>
            </a:r>
            <a:endParaRPr lang="it-IT" sz="1600"/>
          </a:p>
          <a:p>
            <a:pPr marL="285750" indent="-285750">
              <a:buFont typeface="Arial"/>
              <a:buChar char="•"/>
            </a:pPr>
            <a:r>
              <a:rPr lang="it-IT" sz="1600" err="1">
                <a:ea typeface="+mn-lt"/>
                <a:cs typeface="+mn-lt"/>
              </a:rPr>
              <a:t>Requires</a:t>
            </a:r>
            <a:r>
              <a:rPr lang="it-IT" sz="1600">
                <a:ea typeface="+mn-lt"/>
                <a:cs typeface="+mn-lt"/>
              </a:rPr>
              <a:t> future extension to cover more </a:t>
            </a:r>
            <a:r>
              <a:rPr lang="it-IT" sz="1600" err="1">
                <a:ea typeface="+mn-lt"/>
                <a:cs typeface="+mn-lt"/>
              </a:rPr>
              <a:t>complex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geometries</a:t>
            </a:r>
            <a:r>
              <a:rPr lang="it-IT" sz="1600">
                <a:ea typeface="+mn-lt"/>
                <a:cs typeface="+mn-lt"/>
              </a:rPr>
              <a:t> and </a:t>
            </a:r>
            <a:r>
              <a:rPr lang="it-IT" sz="1600" err="1">
                <a:ea typeface="+mn-lt"/>
                <a:cs typeface="+mn-lt"/>
              </a:rPr>
              <a:t>additional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machining</a:t>
            </a:r>
            <a:r>
              <a:rPr lang="it-IT" sz="1600">
                <a:ea typeface="+mn-lt"/>
                <a:cs typeface="+mn-lt"/>
              </a:rPr>
              <a:t> features.</a:t>
            </a:r>
          </a:p>
          <a:p>
            <a:pPr marL="285750" indent="-285750">
              <a:buFont typeface="Arial"/>
              <a:buChar char="•"/>
            </a:pPr>
            <a:endParaRPr lang="it-IT" sz="1200">
              <a:ea typeface="+mn-lt"/>
              <a:cs typeface="+mn-lt"/>
            </a:endParaRPr>
          </a:p>
          <a:p>
            <a:r>
              <a:rPr lang="it-IT" b="1">
                <a:solidFill>
                  <a:srgbClr val="102B51"/>
                </a:solidFill>
              </a:rPr>
              <a:t>3. Technical </a:t>
            </a:r>
            <a:r>
              <a:rPr lang="it-IT" b="1" err="1">
                <a:solidFill>
                  <a:srgbClr val="102B51"/>
                </a:solidFill>
              </a:rPr>
              <a:t>Drawings</a:t>
            </a:r>
            <a:r>
              <a:rPr lang="it-IT" b="1">
                <a:solidFill>
                  <a:srgbClr val="102B51"/>
                </a:solidFill>
              </a:rPr>
              <a:t> </a:t>
            </a:r>
            <a:endParaRPr lang="it-IT">
              <a:solidFill>
                <a:srgbClr val="102B5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While the LLM correctly captures the overall dimensions of the part, it often introduces small errors in the location of major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Minor features such as chamfers and fillets are frequently missed or misinterpreted.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A domain-specific model trained exclusively on technical drawings would likely outperform a general-purpose LLM like GPT-4o in this task.</a:t>
            </a:r>
            <a:endParaRPr lang="it-IT" sz="1600"/>
          </a:p>
        </p:txBody>
      </p:sp>
      <p:pic>
        <p:nvPicPr>
          <p:cNvPr id="9" name="Immagine 8" descr="Immagine che contiene schermata, Elementi grafici, Carattere, grafica&#10;&#10;Il contenuto generato dall&amp;#39;IA potrebbe non essere corretto.">
            <a:extLst>
              <a:ext uri="{FF2B5EF4-FFF2-40B4-BE49-F238E27FC236}">
                <a16:creationId xmlns:a16="http://schemas.microsoft.com/office/drawing/2014/main" id="{367F6680-E40D-E7A7-F098-A07CA9A77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301" y="1694828"/>
            <a:ext cx="4260360" cy="3456292"/>
          </a:xfrm>
          <a:prstGeom prst="rect">
            <a:avLst/>
          </a:prstGeom>
        </p:spPr>
      </p:pic>
      <p:sp>
        <p:nvSpPr>
          <p:cNvPr id="11" name="Titolo 2">
            <a:extLst>
              <a:ext uri="{FF2B5EF4-FFF2-40B4-BE49-F238E27FC236}">
                <a16:creationId xmlns:a16="http://schemas.microsoft.com/office/drawing/2014/main" id="{9F534EE0-D864-868F-CB78-1BD17AF3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11949400" cy="84008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102B51"/>
                </a:solidFill>
              </a:rPr>
              <a:t>Inputs to the LLM - </a:t>
            </a:r>
            <a:r>
              <a:rPr lang="it-IT">
                <a:solidFill>
                  <a:srgbClr val="102B51"/>
                </a:solidFill>
                <a:ea typeface="+mn-lt"/>
                <a:cs typeface="+mn-lt"/>
              </a:rPr>
              <a:t>Challenges and </a:t>
            </a:r>
            <a:r>
              <a:rPr lang="it-IT" err="1">
                <a:solidFill>
                  <a:srgbClr val="102B51"/>
                </a:solidFill>
                <a:ea typeface="+mn-lt"/>
                <a:cs typeface="+mn-lt"/>
              </a:rPr>
              <a:t>Limitations</a:t>
            </a:r>
            <a:r>
              <a:rPr lang="it-IT">
                <a:solidFill>
                  <a:srgbClr val="102B51"/>
                </a:solidFill>
                <a:ea typeface="+mn-lt"/>
                <a:cs typeface="+mn-lt"/>
              </a:rPr>
              <a:t> </a:t>
            </a:r>
            <a:endParaRPr lang="en-US" noProof="0">
              <a:solidFill>
                <a:srgbClr val="102B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15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2B22F-2E9C-AF42-F9A5-D968DC83D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3E8AB485-C5DB-572B-D0FE-937A500AE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API calls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997F56-F37C-CC58-C72E-932CE66A9751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242FBC-99C4-E632-1893-E3B5952B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11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77EC9446-C627-3FF3-3AD5-8866D858D3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AFBDF837-3DD6-A504-4636-948E8DB56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17" name="Picture 16" descr="A diagram of a process&#10;&#10;AI-generated content may be incorrect.">
            <a:extLst>
              <a:ext uri="{FF2B5EF4-FFF2-40B4-BE49-F238E27FC236}">
                <a16:creationId xmlns:a16="http://schemas.microsoft.com/office/drawing/2014/main" id="{AA5B2A73-9BCA-7DF9-A4F2-3B9C81510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67" b="38815"/>
          <a:stretch>
            <a:fillRect/>
          </a:stretch>
        </p:blipFill>
        <p:spPr>
          <a:xfrm>
            <a:off x="364520" y="1325496"/>
            <a:ext cx="11512520" cy="401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8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2FB0F-57D2-9FB1-4145-EEFE9678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ADA10C3-3A5C-3F4B-C270-DB8A309E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API calls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AF9A95-AD73-F8CF-7A91-8E72C7DD8857}"/>
              </a:ext>
            </a:extLst>
          </p:cNvPr>
          <p:cNvSpPr txBox="1"/>
          <p:nvPr/>
        </p:nvSpPr>
        <p:spPr>
          <a:xfrm>
            <a:off x="810741" y="1266504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02B189-64EE-B92A-D5EB-43B48F61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12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A411E344-0D62-800E-A56A-9BBF8F1300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E82817FF-08C0-6CDE-61BB-4691E0D9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DDE25F8-211F-8B7A-6C89-60D7050B7484}"/>
              </a:ext>
            </a:extLst>
          </p:cNvPr>
          <p:cNvSpPr txBox="1"/>
          <p:nvPr/>
        </p:nvSpPr>
        <p:spPr>
          <a:xfrm>
            <a:off x="364520" y="1170040"/>
            <a:ext cx="9517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The CNC planner uses </a:t>
            </a:r>
            <a:r>
              <a:rPr lang="en-US" sz="1600" b="1">
                <a:solidFill>
                  <a:srgbClr val="102B51"/>
                </a:solidFill>
              </a:rPr>
              <a:t>three structured API calls </a:t>
            </a:r>
            <a:r>
              <a:rPr lang="en-US" sz="1600"/>
              <a:t>to define, optimize, and validate operations</a:t>
            </a:r>
            <a:endParaRPr lang="it-IT" sz="16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776C123-5604-3FB1-BFC5-957A2425BC2F}"/>
              </a:ext>
            </a:extLst>
          </p:cNvPr>
          <p:cNvSpPr txBox="1"/>
          <p:nvPr/>
        </p:nvSpPr>
        <p:spPr>
          <a:xfrm>
            <a:off x="1441140" y="1652245"/>
            <a:ext cx="51717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openai.chat.completions.create</a:t>
            </a:r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(</a:t>
            </a:r>
          </a:p>
          <a:p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    model=ENGINE,</a:t>
            </a:r>
          </a:p>
          <a:p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    </a:t>
            </a:r>
            <a:r>
              <a:rPr lang="it-IT" err="1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messages</a:t>
            </a:r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=[{"</a:t>
            </a:r>
            <a:r>
              <a:rPr lang="it-IT" err="1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role</a:t>
            </a:r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": "user", 			"</a:t>
            </a:r>
            <a:r>
              <a:rPr lang="it-IT" err="1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content</a:t>
            </a:r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": </a:t>
            </a:r>
            <a:r>
              <a:rPr lang="it-IT" err="1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message</a:t>
            </a:r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}],</a:t>
            </a:r>
          </a:p>
          <a:p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    temperature= </a:t>
            </a:r>
            <a:r>
              <a:rPr lang="it-IT" err="1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temp</a:t>
            </a:r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,          </a:t>
            </a:r>
          </a:p>
          <a:p>
            <a:r>
              <a:rPr lang="it-IT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EE730D6-7758-793B-AF96-814F4264092B}"/>
              </a:ext>
            </a:extLst>
          </p:cNvPr>
          <p:cNvSpPr txBox="1"/>
          <p:nvPr/>
        </p:nvSpPr>
        <p:spPr>
          <a:xfrm>
            <a:off x="364520" y="1645091"/>
            <a:ext cx="1159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Call API: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5D729AC-EE19-88A9-5554-EAA9D2966B2D}"/>
              </a:ext>
            </a:extLst>
          </p:cNvPr>
          <p:cNvSpPr txBox="1"/>
          <p:nvPr/>
        </p:nvSpPr>
        <p:spPr>
          <a:xfrm>
            <a:off x="6739321" y="1657687"/>
            <a:ext cx="4154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Engine:  </a:t>
            </a:r>
            <a:r>
              <a:rPr lang="it-IT" b="0">
                <a:effectLst/>
                <a:latin typeface="Courier New" panose="02070309020205020404" pitchFamily="49" charset="0"/>
              </a:rPr>
              <a:t>gpt-4o-mini</a:t>
            </a:r>
          </a:p>
          <a:p>
            <a:endParaRPr lang="it-IT" sz="1000"/>
          </a:p>
          <a:p>
            <a:r>
              <a:rPr lang="en-US" sz="1600"/>
              <a:t>Selected for its </a:t>
            </a:r>
            <a:r>
              <a:rPr lang="en-US" sz="1600" b="1">
                <a:solidFill>
                  <a:srgbClr val="102B51"/>
                </a:solidFill>
              </a:rPr>
              <a:t>fast</a:t>
            </a:r>
            <a:r>
              <a:rPr lang="en-US" sz="1600"/>
              <a:t>, </a:t>
            </a:r>
            <a:r>
              <a:rPr lang="en-US" sz="1600" b="1">
                <a:solidFill>
                  <a:srgbClr val="102B51"/>
                </a:solidFill>
              </a:rPr>
              <a:t>cost-efficient</a:t>
            </a:r>
            <a:r>
              <a:rPr lang="en-US" sz="1600"/>
              <a:t> reasoning Ideal for structured CNC workflows.</a:t>
            </a:r>
            <a:endParaRPr lang="it-IT" sz="160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44CCC1F-BF7E-266B-3D3B-4F0D916DF712}"/>
              </a:ext>
            </a:extLst>
          </p:cNvPr>
          <p:cNvSpPr txBox="1"/>
          <p:nvPr/>
        </p:nvSpPr>
        <p:spPr>
          <a:xfrm>
            <a:off x="334964" y="3479737"/>
            <a:ext cx="10051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err="1"/>
              <a:t>Each</a:t>
            </a:r>
            <a:r>
              <a:rPr lang="it-IT" sz="1600"/>
              <a:t> call </a:t>
            </a:r>
            <a:r>
              <a:rPr lang="it-IT" sz="1600" err="1"/>
              <a:t>receives</a:t>
            </a:r>
            <a:r>
              <a:rPr lang="it-IT" sz="1600"/>
              <a:t> a </a:t>
            </a:r>
            <a:r>
              <a:rPr lang="it-IT" sz="1600" err="1"/>
              <a:t>structured</a:t>
            </a:r>
            <a:r>
              <a:rPr lang="it-IT" sz="1600"/>
              <a:t> prompt (</a:t>
            </a:r>
            <a:r>
              <a:rPr lang="it-IT" sz="1600" b="1" err="1">
                <a:solidFill>
                  <a:srgbClr val="102B51"/>
                </a:solidFill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message</a:t>
            </a:r>
            <a:r>
              <a:rPr lang="it-IT" sz="1600">
                <a:ea typeface="Source Sans Pro Light" panose="020B0403030403020204" pitchFamily="34" charset="0"/>
                <a:cs typeface="Courier New" panose="02070309020205020404" pitchFamily="49" charset="0"/>
              </a:rPr>
              <a:t>) and the </a:t>
            </a:r>
            <a:r>
              <a:rPr lang="it-IT" sz="1600" b="1">
                <a:solidFill>
                  <a:srgbClr val="102B51"/>
                </a:solidFill>
                <a:ea typeface="Source Sans Pro Light" panose="020B0403030403020204" pitchFamily="34" charset="0"/>
                <a:cs typeface="Courier New" panose="02070309020205020404" pitchFamily="49" charset="0"/>
              </a:rPr>
              <a:t>temperature</a:t>
            </a:r>
            <a:r>
              <a:rPr lang="it-IT" sz="1600">
                <a:ea typeface="Source Sans Pro Light" panose="020B0403030403020204" pitchFamily="34" charset="0"/>
                <a:cs typeface="Courier New" panose="02070309020205020404" pitchFamily="49" charset="0"/>
              </a:rPr>
              <a:t> </a:t>
            </a:r>
            <a:r>
              <a:rPr lang="it-IT" sz="1600"/>
              <a:t>(</a:t>
            </a:r>
            <a:r>
              <a:rPr lang="it-IT" sz="1600" err="1"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temp</a:t>
            </a:r>
            <a:r>
              <a:rPr lang="it-IT" sz="1600">
                <a:ea typeface="Source Sans Pro Light" panose="020B0403030403020204" pitchFamily="34" charset="0"/>
                <a:cs typeface="Courier New" panose="02070309020205020404" pitchFamily="49" charset="0"/>
              </a:rPr>
              <a:t>) for</a:t>
            </a:r>
            <a:r>
              <a:rPr lang="it-IT" sz="1600"/>
              <a:t> </a:t>
            </a:r>
            <a:r>
              <a:rPr lang="it-IT" sz="1600" err="1"/>
              <a:t>each</a:t>
            </a:r>
            <a:r>
              <a:rPr lang="it-IT" sz="1600"/>
              <a:t> task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2FEF0A0-76D8-AA77-7D0A-52866AAD5D63}"/>
              </a:ext>
            </a:extLst>
          </p:cNvPr>
          <p:cNvSpPr txBox="1"/>
          <p:nvPr/>
        </p:nvSpPr>
        <p:spPr>
          <a:xfrm>
            <a:off x="334964" y="3868841"/>
            <a:ext cx="8302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Machine </a:t>
            </a:r>
            <a:r>
              <a:rPr lang="en-US" sz="1600" b="1">
                <a:solidFill>
                  <a:srgbClr val="102B51"/>
                </a:solidFill>
              </a:rPr>
              <a:t>constraints, tools, and rules </a:t>
            </a:r>
            <a:r>
              <a:rPr lang="en-US" sz="1600"/>
              <a:t>are defined to simulate a real CNC setup</a:t>
            </a:r>
            <a:endParaRPr lang="it-IT" sz="160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024AB5-7164-14DD-9575-0D54CEF6BEEC}"/>
              </a:ext>
            </a:extLst>
          </p:cNvPr>
          <p:cNvSpPr txBox="1"/>
          <p:nvPr/>
        </p:nvSpPr>
        <p:spPr>
          <a:xfrm>
            <a:off x="3695868" y="4473094"/>
            <a:ext cx="62252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Operations &amp; constraints (max RPM, depth, tool diameter)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Available tools (type and size ranges)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Operation-to-tool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err="1"/>
              <a:t>Precedence</a:t>
            </a:r>
            <a:r>
              <a:rPr lang="it-IT" sz="1600"/>
              <a:t> rules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11F8829-BA6A-83F1-1641-54DDF8CA9057}"/>
              </a:ext>
            </a:extLst>
          </p:cNvPr>
          <p:cNvSpPr txBox="1"/>
          <p:nvPr/>
        </p:nvSpPr>
        <p:spPr>
          <a:xfrm>
            <a:off x="356320" y="4405425"/>
            <a:ext cx="333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CNC Knowledge </a:t>
            </a:r>
            <a:r>
              <a:rPr lang="it-IT" b="1" err="1">
                <a:solidFill>
                  <a:srgbClr val="102B51"/>
                </a:solidFill>
              </a:rPr>
              <a:t>initialization</a:t>
            </a:r>
            <a:r>
              <a:rPr lang="it-IT" b="1">
                <a:solidFill>
                  <a:srgbClr val="102B51"/>
                </a:solidFill>
              </a:rPr>
              <a:t>:</a:t>
            </a:r>
          </a:p>
        </p:txBody>
      </p:sp>
      <p:sp>
        <p:nvSpPr>
          <p:cNvPr id="5" name="CasellaDiTesto 8">
            <a:extLst>
              <a:ext uri="{FF2B5EF4-FFF2-40B4-BE49-F238E27FC236}">
                <a16:creationId xmlns:a16="http://schemas.microsoft.com/office/drawing/2014/main" id="{ED70C42A-B4E9-BB32-1372-23461725E3BC}"/>
              </a:ext>
            </a:extLst>
          </p:cNvPr>
          <p:cNvSpPr txBox="1"/>
          <p:nvPr/>
        </p:nvSpPr>
        <p:spPr>
          <a:xfrm>
            <a:off x="364520" y="5692177"/>
            <a:ext cx="1172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102B51"/>
                </a:solidFill>
              </a:rPr>
              <a:t>Five </a:t>
            </a:r>
            <a:r>
              <a:rPr lang="en-GB" sz="1600"/>
              <a:t>additional calls are made during post-processing to generate detailed </a:t>
            </a:r>
            <a:r>
              <a:rPr lang="en-GB" sz="1600" b="1">
                <a:solidFill>
                  <a:srgbClr val="102B51"/>
                </a:solidFill>
              </a:rPr>
              <a:t>G-code</a:t>
            </a:r>
            <a:r>
              <a:rPr lang="en-GB" sz="1600"/>
              <a:t> and to complete the </a:t>
            </a:r>
            <a:r>
              <a:rPr lang="en-GB" sz="1600" b="1">
                <a:solidFill>
                  <a:srgbClr val="102B51"/>
                </a:solidFill>
              </a:rPr>
              <a:t>automatic</a:t>
            </a:r>
            <a:r>
              <a:rPr lang="en-GB" sz="1600"/>
              <a:t> </a:t>
            </a:r>
            <a:r>
              <a:rPr lang="en-GB" sz="1600" b="1">
                <a:solidFill>
                  <a:srgbClr val="102B51"/>
                </a:solidFill>
              </a:rPr>
              <a:t>documentation</a:t>
            </a:r>
            <a:r>
              <a:rPr lang="en-GB" sz="1600"/>
              <a:t>.</a:t>
            </a:r>
          </a:p>
          <a:p>
            <a:endParaRPr lang="it-IT" sz="1600"/>
          </a:p>
        </p:txBody>
      </p:sp>
    </p:spTree>
    <p:extLst>
      <p:ext uri="{BB962C8B-B14F-4D97-AF65-F5344CB8AC3E}">
        <p14:creationId xmlns:p14="http://schemas.microsoft.com/office/powerpoint/2010/main" val="331434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7B7C5-BB23-F564-C466-1A481A8E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F8322B6-1642-B328-5E0F-2DC1CEEA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API calls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D3CFBCA-BA2F-BC39-AB2E-EE9E1EBBB920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5EF051-0E22-C655-70B4-1536025C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13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FA41EDDF-FA58-F79E-D86C-89267BF6E0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7D97A308-3796-7EB2-4CFF-B8FA6C4E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00FDEC9-B262-02EB-D1BF-6A4A55E6F8C1}"/>
              </a:ext>
            </a:extLst>
          </p:cNvPr>
          <p:cNvSpPr txBox="1"/>
          <p:nvPr/>
        </p:nvSpPr>
        <p:spPr>
          <a:xfrm>
            <a:off x="364520" y="1288789"/>
            <a:ext cx="894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LLM Call 1 </a:t>
            </a:r>
            <a:r>
              <a:rPr lang="it-IT"/>
              <a:t>– Operation &amp; Tool selection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B951E0B-72B1-74AE-4D8B-1F4A6F6F1D7F}"/>
              </a:ext>
            </a:extLst>
          </p:cNvPr>
          <p:cNvSpPr txBox="1"/>
          <p:nvPr/>
        </p:nvSpPr>
        <p:spPr>
          <a:xfrm>
            <a:off x="334964" y="1832823"/>
            <a:ext cx="11353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Identifies the </a:t>
            </a:r>
            <a:r>
              <a:rPr lang="en-US" sz="1600" b="1">
                <a:solidFill>
                  <a:srgbClr val="102B51"/>
                </a:solidFill>
              </a:rPr>
              <a:t>required machining operations </a:t>
            </a:r>
            <a:r>
              <a:rPr lang="en-US" sz="1600"/>
              <a:t>from the part description and assigns a </a:t>
            </a:r>
            <a:r>
              <a:rPr lang="en-US" sz="1600" b="1">
                <a:solidFill>
                  <a:srgbClr val="102B51"/>
                </a:solidFill>
              </a:rPr>
              <a:t>valid tool </a:t>
            </a:r>
            <a:r>
              <a:rPr lang="en-US" sz="1600"/>
              <a:t>to each operation, ensuring all machine constraints are respected</a:t>
            </a:r>
            <a:endParaRPr lang="it-IT" sz="160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2D26A5-3307-E5BF-E5A3-8DD2005B2EBC}"/>
              </a:ext>
            </a:extLst>
          </p:cNvPr>
          <p:cNvSpPr txBox="1"/>
          <p:nvPr/>
        </p:nvSpPr>
        <p:spPr>
          <a:xfrm>
            <a:off x="334964" y="2614512"/>
            <a:ext cx="114859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system_message1 = (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"You are a CNC expert. Your job is to </a:t>
            </a: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analyse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a part description and identify the required machining operations…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it-IT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3BF67B0-A1DA-4C40-4281-E4F4A96035F3}"/>
              </a:ext>
            </a:extLst>
          </p:cNvPr>
          <p:cNvSpPr txBox="1"/>
          <p:nvPr/>
        </p:nvSpPr>
        <p:spPr>
          <a:xfrm>
            <a:off x="364520" y="4207004"/>
            <a:ext cx="1345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Input: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03AD365-D731-03D5-9E68-536CDF404E63}"/>
              </a:ext>
            </a:extLst>
          </p:cNvPr>
          <p:cNvSpPr txBox="1"/>
          <p:nvPr/>
        </p:nvSpPr>
        <p:spPr>
          <a:xfrm>
            <a:off x="1094941" y="4245131"/>
            <a:ext cx="53671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Part </a:t>
            </a:r>
            <a:r>
              <a:rPr lang="it-IT" sz="1600" err="1"/>
              <a:t>description</a:t>
            </a:r>
            <a:endParaRPr lang="it-IT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err="1"/>
              <a:t>Available</a:t>
            </a:r>
            <a:r>
              <a:rPr lang="it-IT" sz="1600"/>
              <a:t> tools, </a:t>
            </a:r>
            <a:r>
              <a:rPr lang="it-IT" sz="1600" err="1"/>
              <a:t>operations</a:t>
            </a:r>
            <a:endParaRPr lang="it-IT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err="1"/>
              <a:t>Precedence</a:t>
            </a:r>
            <a:r>
              <a:rPr lang="it-IT" sz="1600"/>
              <a:t> &amp; </a:t>
            </a:r>
            <a:r>
              <a:rPr lang="it-IT" sz="1600" err="1"/>
              <a:t>formatting</a:t>
            </a:r>
            <a:r>
              <a:rPr lang="it-IT" sz="1600"/>
              <a:t> rules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E02D7C1-D52E-3B66-B9A2-946E4646B245}"/>
              </a:ext>
            </a:extLst>
          </p:cNvPr>
          <p:cNvSpPr txBox="1"/>
          <p:nvPr/>
        </p:nvSpPr>
        <p:spPr>
          <a:xfrm>
            <a:off x="5092063" y="4207004"/>
            <a:ext cx="100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Output: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6750E58-9840-D297-8A79-53F170B61D27}"/>
              </a:ext>
            </a:extLst>
          </p:cNvPr>
          <p:cNvSpPr txBox="1"/>
          <p:nvPr/>
        </p:nvSpPr>
        <p:spPr>
          <a:xfrm>
            <a:off x="6096000" y="3856106"/>
            <a:ext cx="43202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"Operations": [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"Operation": "...",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"Tool": "...",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…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it-IT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705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8749B-2B8D-A5AC-7D18-2FB669F0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8002656-0E90-70EE-1B7D-6B4097BC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API calls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6537E62-D140-70B7-016E-AC0341210190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F5ED10-C835-0A0E-EA45-8F0EF157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14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09CCB522-D013-7BC7-B1F2-AFB4E79BB1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7C8E884B-23F5-DD41-C4F7-E1023896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914F8F-3460-1A69-C3FF-B4BF15C56655}"/>
              </a:ext>
            </a:extLst>
          </p:cNvPr>
          <p:cNvSpPr txBox="1"/>
          <p:nvPr/>
        </p:nvSpPr>
        <p:spPr>
          <a:xfrm>
            <a:off x="364520" y="1288789"/>
            <a:ext cx="894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LLM Call 2 </a:t>
            </a:r>
            <a:r>
              <a:rPr lang="it-IT"/>
              <a:t>– Setup &amp; </a:t>
            </a:r>
            <a:r>
              <a:rPr lang="it-IT" err="1"/>
              <a:t>Process</a:t>
            </a:r>
            <a:r>
              <a:rPr lang="it-IT"/>
              <a:t> planning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669D62D-52F2-5D4D-CB67-D9D09755AFAC}"/>
              </a:ext>
            </a:extLst>
          </p:cNvPr>
          <p:cNvSpPr txBox="1"/>
          <p:nvPr/>
        </p:nvSpPr>
        <p:spPr>
          <a:xfrm>
            <a:off x="334964" y="1853017"/>
            <a:ext cx="11353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Generates the </a:t>
            </a:r>
            <a:r>
              <a:rPr lang="en-US" sz="1600" b="1">
                <a:solidFill>
                  <a:srgbClr val="102B51"/>
                </a:solidFill>
              </a:rPr>
              <a:t>machining setups and process plan</a:t>
            </a:r>
            <a:r>
              <a:rPr lang="en-US" sz="1600"/>
              <a:t>, minimizing total setups and tool changes while ensuring physical feasibility</a:t>
            </a:r>
            <a:endParaRPr lang="it-IT" sz="16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2780451-D0F2-E097-ACBD-29CB570CF2FA}"/>
              </a:ext>
            </a:extLst>
          </p:cNvPr>
          <p:cNvSpPr txBox="1"/>
          <p:nvPr/>
        </p:nvSpPr>
        <p:spPr>
          <a:xfrm>
            <a:off x="334964" y="2614512"/>
            <a:ext cx="11485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system_message2 = (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"You are a CNC process planner…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it-IT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4486129-B2C4-CC2C-AFB8-1B2301D0916C}"/>
              </a:ext>
            </a:extLst>
          </p:cNvPr>
          <p:cNvSpPr txBox="1"/>
          <p:nvPr/>
        </p:nvSpPr>
        <p:spPr>
          <a:xfrm>
            <a:off x="364520" y="3907174"/>
            <a:ext cx="1345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Input: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D28BF27-DB32-B4E4-A883-8A5B4EAA4DAE}"/>
              </a:ext>
            </a:extLst>
          </p:cNvPr>
          <p:cNvSpPr txBox="1"/>
          <p:nvPr/>
        </p:nvSpPr>
        <p:spPr>
          <a:xfrm>
            <a:off x="1106359" y="3957109"/>
            <a:ext cx="53671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Part </a:t>
            </a:r>
            <a:r>
              <a:rPr lang="it-IT" sz="1600" err="1"/>
              <a:t>description</a:t>
            </a:r>
            <a:endParaRPr lang="it-IT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Call 1 output (Operations &amp; tools)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Machine </a:t>
            </a:r>
            <a:r>
              <a:rPr lang="it-IT" sz="1600" err="1"/>
              <a:t>environment</a:t>
            </a:r>
            <a:endParaRPr lang="it-IT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Setup &amp; </a:t>
            </a:r>
            <a:r>
              <a:rPr lang="it-IT" sz="1600" err="1"/>
              <a:t>process</a:t>
            </a:r>
            <a:r>
              <a:rPr lang="it-IT" sz="1600"/>
              <a:t>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err="1"/>
              <a:t>Constraints</a:t>
            </a:r>
            <a:r>
              <a:rPr lang="it-IT" sz="1600"/>
              <a:t> &amp; </a:t>
            </a:r>
            <a:r>
              <a:rPr lang="it-IT" sz="1600" err="1"/>
              <a:t>formatting</a:t>
            </a:r>
            <a:r>
              <a:rPr lang="it-IT" sz="1600"/>
              <a:t> rules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6584B8A-E1D8-A51B-9B3E-B57A798158F1}"/>
              </a:ext>
            </a:extLst>
          </p:cNvPr>
          <p:cNvSpPr txBox="1"/>
          <p:nvPr/>
        </p:nvSpPr>
        <p:spPr>
          <a:xfrm>
            <a:off x="5870317" y="3893298"/>
            <a:ext cx="100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Output: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D80FBAD-DF6D-01BD-31E5-C006356C4E6E}"/>
              </a:ext>
            </a:extLst>
          </p:cNvPr>
          <p:cNvSpPr txBox="1"/>
          <p:nvPr/>
        </p:nvSpPr>
        <p:spPr>
          <a:xfrm>
            <a:off x="7149633" y="2657537"/>
            <a:ext cx="4320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“Setup plan": [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…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],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“Process plan": [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…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],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it-IT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89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064E2-2615-0321-F20C-A1EB7FAD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3F69FB9-37D5-36E1-485E-40032E06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API calls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4C85FB2-79E2-2119-AE07-148819C4FCC7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708F2C-CA14-3864-A87E-05699D68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15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8BE97AF-0270-8FF2-7EE3-517668B2F3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88EAAABB-BABF-D591-5876-876F9ECD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C0E7556-DC47-98A5-84EB-A0C5968DF62C}"/>
              </a:ext>
            </a:extLst>
          </p:cNvPr>
          <p:cNvSpPr txBox="1"/>
          <p:nvPr/>
        </p:nvSpPr>
        <p:spPr>
          <a:xfrm>
            <a:off x="364520" y="1288789"/>
            <a:ext cx="894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LLM Call 3 </a:t>
            </a:r>
            <a:r>
              <a:rPr lang="it-IT"/>
              <a:t>– Control &amp; </a:t>
            </a:r>
            <a:r>
              <a:rPr lang="it-IT" err="1"/>
              <a:t>Optimization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053C8FF-2B3A-99A9-2FD7-7CF79E74F65F}"/>
              </a:ext>
            </a:extLst>
          </p:cNvPr>
          <p:cNvSpPr txBox="1"/>
          <p:nvPr/>
        </p:nvSpPr>
        <p:spPr>
          <a:xfrm>
            <a:off x="334964" y="1853017"/>
            <a:ext cx="11353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Validates the </a:t>
            </a:r>
            <a:r>
              <a:rPr lang="en-US" sz="1600" b="1">
                <a:solidFill>
                  <a:srgbClr val="102B51"/>
                </a:solidFill>
              </a:rPr>
              <a:t>physical feasibility </a:t>
            </a:r>
            <a:r>
              <a:rPr lang="en-US" sz="1600"/>
              <a:t>of the process plan and reorders operations to </a:t>
            </a:r>
            <a:r>
              <a:rPr lang="en-US" sz="1600" b="1">
                <a:solidFill>
                  <a:srgbClr val="102B51"/>
                </a:solidFill>
              </a:rPr>
              <a:t>minimize setups and tool changes</a:t>
            </a:r>
            <a:r>
              <a:rPr lang="en-US" sz="1600"/>
              <a:t> while ensuring geometric correctness</a:t>
            </a:r>
            <a:endParaRPr lang="it-IT" sz="16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3A067AD-EF5A-CF74-045F-2BEDBE69B0E3}"/>
              </a:ext>
            </a:extLst>
          </p:cNvPr>
          <p:cNvSpPr txBox="1"/>
          <p:nvPr/>
        </p:nvSpPr>
        <p:spPr>
          <a:xfrm>
            <a:off x="334964" y="2614512"/>
            <a:ext cx="11485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system_message3 = (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"You are a CNC process validator and final </a:t>
            </a: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optimiser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it-IT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A119166-21E5-55E1-606E-20C2603D1436}"/>
              </a:ext>
            </a:extLst>
          </p:cNvPr>
          <p:cNvSpPr txBox="1"/>
          <p:nvPr/>
        </p:nvSpPr>
        <p:spPr>
          <a:xfrm>
            <a:off x="364520" y="3907174"/>
            <a:ext cx="1345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Input: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5D036F9-5E17-4260-874D-CC4EBFED50C9}"/>
              </a:ext>
            </a:extLst>
          </p:cNvPr>
          <p:cNvSpPr txBox="1"/>
          <p:nvPr/>
        </p:nvSpPr>
        <p:spPr>
          <a:xfrm>
            <a:off x="1110190" y="3937952"/>
            <a:ext cx="53671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Part </a:t>
            </a:r>
            <a:r>
              <a:rPr lang="it-IT" sz="1600" err="1"/>
              <a:t>description</a:t>
            </a:r>
            <a:endParaRPr lang="it-IT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Call 1 output (Operations &amp; tools)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Call 2 output (Setup &amp; </a:t>
            </a:r>
            <a:r>
              <a:rPr lang="it-IT" sz="1600" err="1"/>
              <a:t>process</a:t>
            </a:r>
            <a:r>
              <a:rPr lang="it-IT" sz="1600"/>
              <a:t> plan)</a:t>
            </a:r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422D42D-4030-8BA4-3982-08E899450F28}"/>
              </a:ext>
            </a:extLst>
          </p:cNvPr>
          <p:cNvSpPr txBox="1"/>
          <p:nvPr/>
        </p:nvSpPr>
        <p:spPr>
          <a:xfrm>
            <a:off x="334964" y="5163172"/>
            <a:ext cx="100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Output: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814EF9B-5CB2-51A8-1983-CFADC149C4FC}"/>
              </a:ext>
            </a:extLst>
          </p:cNvPr>
          <p:cNvSpPr txBox="1"/>
          <p:nvPr/>
        </p:nvSpPr>
        <p:spPr>
          <a:xfrm>
            <a:off x="1338901" y="5178561"/>
            <a:ext cx="3107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err="1"/>
              <a:t>Final</a:t>
            </a:r>
            <a:r>
              <a:rPr lang="it-IT" sz="1600"/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3954589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E8F61-AF9F-1BF4-5189-17284206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B5638D6-A483-8E88-4BCA-6F530B76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Validation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B913EEB-8A60-10A0-A611-56C1DF5BC33B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DCDC16-E0DF-C882-F925-DA56E905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16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B9A7E4D-93BD-AE2B-EA89-FABAEF7433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2974AE98-1CC5-BC1D-B13B-70EFD106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16" name="Picture 15" descr="A diagram of a process&#10;&#10;AI-generated content may be incorrect.">
            <a:extLst>
              <a:ext uri="{FF2B5EF4-FFF2-40B4-BE49-F238E27FC236}">
                <a16:creationId xmlns:a16="http://schemas.microsoft.com/office/drawing/2014/main" id="{669B181D-1F4F-A83B-3F7E-182AF3510A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11" b="40741"/>
          <a:stretch>
            <a:fillRect/>
          </a:stretch>
        </p:blipFill>
        <p:spPr>
          <a:xfrm>
            <a:off x="431469" y="1510162"/>
            <a:ext cx="11349382" cy="36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54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0E2A0-1815-9322-920F-2B846CDE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4DE2BC1A-CD8D-280F-AB49-E7B3EE08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Validation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025E3BE-86D2-50F8-5C04-6CD4F73845D4}"/>
              </a:ext>
            </a:extLst>
          </p:cNvPr>
          <p:cNvSpPr txBox="1"/>
          <p:nvPr/>
        </p:nvSpPr>
        <p:spPr>
          <a:xfrm>
            <a:off x="810741" y="1325496"/>
            <a:ext cx="83004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A157C5-3988-160D-DCAF-7769F011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17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783FA95-5CA6-1447-AE86-BF4FAE75EF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0F4AE700-8843-AB5A-D8AA-6E0B8CDA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DA584-7414-00EB-BE9E-1325D2A8AF78}"/>
              </a:ext>
            </a:extLst>
          </p:cNvPr>
          <p:cNvSpPr txBox="1"/>
          <p:nvPr/>
        </p:nvSpPr>
        <p:spPr>
          <a:xfrm>
            <a:off x="712420" y="859921"/>
            <a:ext cx="11016739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GB"/>
          </a:p>
          <a:p>
            <a:pPr marL="285750" indent="-285750">
              <a:buSzPct val="120000"/>
              <a:buFont typeface="Wingdings" panose="05000000000000000000" pitchFamily="2" charset="2"/>
              <a:buChar char="ü"/>
            </a:pPr>
            <a:r>
              <a:rPr lang="en-GB" b="1">
                <a:solidFill>
                  <a:srgbClr val="102B51"/>
                </a:solidFill>
              </a:rPr>
              <a:t>CALL 1 - Syntax &amp; Semantic Validation:</a:t>
            </a:r>
            <a:endParaRPr lang="en-GB">
              <a:solidFill>
                <a:srgbClr val="102B51"/>
              </a:solidFill>
            </a:endParaRPr>
          </a:p>
          <a:p>
            <a:pPr marL="742950" lvl="1" indent="-285750">
              <a:spcBef>
                <a:spcPts val="400"/>
              </a:spcBef>
              <a:buSzPct val="95000"/>
              <a:buFont typeface="Arial" panose="020B0604020202020204" pitchFamily="34" charset="0"/>
              <a:buChar char="•"/>
            </a:pPr>
            <a:r>
              <a:rPr lang="en-GB" sz="1600" b="1"/>
              <a:t>Purpose: </a:t>
            </a:r>
            <a:r>
              <a:rPr lang="en-GB" sz="2000" b="1">
                <a:solidFill>
                  <a:srgbClr val="102B51"/>
                </a:solidFill>
              </a:rPr>
              <a:t>	☑ </a:t>
            </a:r>
            <a:r>
              <a:rPr lang="en-GB" sz="1600"/>
              <a:t>Ensure the </a:t>
            </a:r>
            <a:r>
              <a:rPr lang="en-GB" sz="1600" b="1">
                <a:solidFill>
                  <a:srgbClr val="102B51"/>
                </a:solidFill>
              </a:rPr>
              <a:t>JSON</a:t>
            </a:r>
            <a:r>
              <a:rPr lang="en-GB" sz="1600"/>
              <a:t> structure.		</a:t>
            </a:r>
            <a:r>
              <a:rPr lang="en-GB" sz="2000" b="1">
                <a:solidFill>
                  <a:srgbClr val="102B51"/>
                </a:solidFill>
              </a:rPr>
              <a:t>☑</a:t>
            </a:r>
            <a:r>
              <a:rPr lang="en-GB" sz="1600"/>
              <a:t> Ensure that </a:t>
            </a:r>
            <a:r>
              <a:rPr lang="en-GB" sz="1600" b="1">
                <a:solidFill>
                  <a:srgbClr val="102B51"/>
                </a:solidFill>
              </a:rPr>
              <a:t>operations</a:t>
            </a:r>
            <a:r>
              <a:rPr lang="en-GB" sz="1600"/>
              <a:t> and </a:t>
            </a:r>
            <a:r>
              <a:rPr lang="en-GB" sz="1600" b="1">
                <a:solidFill>
                  <a:srgbClr val="102B51"/>
                </a:solidFill>
              </a:rPr>
              <a:t>tools</a:t>
            </a:r>
            <a:r>
              <a:rPr lang="en-GB" sz="1600"/>
              <a:t> are valid.</a:t>
            </a:r>
          </a:p>
          <a:p>
            <a:pPr marL="742950" lvl="1" indent="-285750">
              <a:spcBef>
                <a:spcPts val="400"/>
              </a:spcBef>
              <a:buSzPct val="95000"/>
              <a:buFont typeface="Arial" panose="020B0604020202020204" pitchFamily="34" charset="0"/>
              <a:buChar char="•"/>
            </a:pPr>
            <a:r>
              <a:rPr lang="en-GB" sz="1600" b="1"/>
              <a:t>Method:</a:t>
            </a:r>
            <a:r>
              <a:rPr lang="en-GB" sz="1600"/>
              <a:t> Parse the JSON and verify each operation against predefined constraints.</a:t>
            </a:r>
          </a:p>
          <a:p>
            <a:pPr marL="742950" lvl="1" indent="-285750">
              <a:spcBef>
                <a:spcPts val="200"/>
              </a:spcBef>
              <a:buSzPct val="120000"/>
              <a:buFont typeface="Wingdings" panose="05000000000000000000" pitchFamily="2" charset="2"/>
              <a:buChar char="ü"/>
            </a:pPr>
            <a:endParaRPr lang="en-GB" sz="2000">
              <a:solidFill>
                <a:srgbClr val="102B51"/>
              </a:solidFill>
            </a:endParaRPr>
          </a:p>
          <a:p>
            <a:pPr marL="285750" indent="-285750">
              <a:spcBef>
                <a:spcPts val="200"/>
              </a:spcBef>
              <a:buSzPct val="120000"/>
              <a:buFont typeface="Wingdings" panose="05000000000000000000" pitchFamily="2" charset="2"/>
              <a:buChar char="ü"/>
            </a:pPr>
            <a:r>
              <a:rPr lang="en-GB" b="1">
                <a:solidFill>
                  <a:srgbClr val="102B51"/>
                </a:solidFill>
              </a:rPr>
              <a:t>CALL 2 - Parameter &amp; Sequence Validation:</a:t>
            </a:r>
            <a:endParaRPr lang="en-GB">
              <a:solidFill>
                <a:srgbClr val="102B51"/>
              </a:solidFill>
            </a:endParaRPr>
          </a:p>
          <a:p>
            <a:pPr marL="742950" lvl="1" indent="-285750">
              <a:spcBef>
                <a:spcPts val="400"/>
              </a:spcBef>
              <a:buSzPct val="95000"/>
              <a:buFont typeface="Arial" panose="020B0604020202020204" pitchFamily="34" charset="0"/>
              <a:buChar char="•"/>
            </a:pPr>
            <a:r>
              <a:rPr lang="en-GB" sz="1600" b="1"/>
              <a:t>Purpose:	</a:t>
            </a:r>
            <a:r>
              <a:rPr lang="en-GB" sz="1600" b="1">
                <a:solidFill>
                  <a:srgbClr val="102B51"/>
                </a:solidFill>
              </a:rPr>
              <a:t> </a:t>
            </a:r>
            <a:r>
              <a:rPr lang="en-GB" sz="2000" b="1">
                <a:solidFill>
                  <a:srgbClr val="102B51"/>
                </a:solidFill>
              </a:rPr>
              <a:t>☑</a:t>
            </a:r>
            <a:r>
              <a:rPr lang="en-GB" sz="1600" b="1"/>
              <a:t> </a:t>
            </a:r>
            <a:r>
              <a:rPr lang="en-GB" sz="1600"/>
              <a:t>Check the machine constraints.	</a:t>
            </a:r>
            <a:r>
              <a:rPr lang="en-GB" sz="2000" b="1">
                <a:solidFill>
                  <a:srgbClr val="102B51"/>
                </a:solidFill>
              </a:rPr>
              <a:t>☑</a:t>
            </a:r>
            <a:r>
              <a:rPr lang="en-GB" sz="1600">
                <a:solidFill>
                  <a:srgbClr val="03080F"/>
                </a:solidFill>
              </a:rPr>
              <a:t> Ensure that operations follow the correct sequence.</a:t>
            </a:r>
          </a:p>
          <a:p>
            <a:pPr marL="742950" lvl="1" indent="-285750">
              <a:spcBef>
                <a:spcPts val="400"/>
              </a:spcBef>
              <a:buSzPct val="95000"/>
              <a:buFont typeface="Arial" panose="020B0604020202020204" pitchFamily="34" charset="0"/>
              <a:buChar char="•"/>
            </a:pPr>
            <a:r>
              <a:rPr lang="en-GB" sz="1600" b="1"/>
              <a:t>Method: </a:t>
            </a:r>
            <a:r>
              <a:rPr lang="en-GB" sz="1600"/>
              <a:t>Compare parameters to operation constraints and apply precedence rules</a:t>
            </a:r>
            <a:r>
              <a:rPr lang="en-GB" sz="1600" b="1"/>
              <a:t>.</a:t>
            </a:r>
          </a:p>
          <a:p>
            <a:pPr lvl="1">
              <a:buSzPct val="95000"/>
            </a:pPr>
            <a:endParaRPr lang="en-GB" sz="2000" b="1"/>
          </a:p>
          <a:p>
            <a:pPr marL="285750" indent="-285750">
              <a:buSzPct val="120000"/>
              <a:buFont typeface="Wingdings" panose="05000000000000000000" pitchFamily="2" charset="2"/>
              <a:buChar char="ü"/>
            </a:pPr>
            <a:r>
              <a:rPr lang="en-GB" b="1">
                <a:solidFill>
                  <a:srgbClr val="102B51"/>
                </a:solidFill>
              </a:rPr>
              <a:t>CALL 3 - Geometric &amp; Setup Validation:</a:t>
            </a:r>
            <a:endParaRPr lang="en-GB">
              <a:solidFill>
                <a:srgbClr val="102B51"/>
              </a:solidFill>
            </a:endParaRPr>
          </a:p>
          <a:p>
            <a:pPr marL="742950" lvl="1" indent="-285750">
              <a:spcBef>
                <a:spcPts val="400"/>
              </a:spcBef>
              <a:buSzPct val="95000"/>
              <a:buFont typeface="Arial" panose="020B0604020202020204" pitchFamily="34" charset="0"/>
              <a:buChar char="•"/>
            </a:pPr>
            <a:r>
              <a:rPr lang="en-GB" sz="1600" b="1"/>
              <a:t>Purpose:</a:t>
            </a:r>
            <a:r>
              <a:rPr lang="en-GB" sz="1600"/>
              <a:t> 	</a:t>
            </a:r>
            <a:r>
              <a:rPr lang="en-GB" sz="1600" b="1">
                <a:solidFill>
                  <a:srgbClr val="102B51"/>
                </a:solidFill>
              </a:rPr>
              <a:t> </a:t>
            </a:r>
            <a:r>
              <a:rPr lang="en-GB" sz="2000" b="1">
                <a:solidFill>
                  <a:srgbClr val="102B51"/>
                </a:solidFill>
              </a:rPr>
              <a:t>☑</a:t>
            </a:r>
            <a:r>
              <a:rPr lang="en-GB" sz="1600" b="1"/>
              <a:t> </a:t>
            </a:r>
            <a:r>
              <a:rPr lang="en-GB" sz="1600"/>
              <a:t>Validate the </a:t>
            </a:r>
            <a:r>
              <a:rPr lang="en-GB" sz="1600" b="1">
                <a:solidFill>
                  <a:srgbClr val="102B51"/>
                </a:solidFill>
              </a:rPr>
              <a:t>feasibility </a:t>
            </a:r>
            <a:r>
              <a:rPr lang="en-GB" sz="1600"/>
              <a:t>of operations concerning </a:t>
            </a:r>
            <a:r>
              <a:rPr lang="en-GB" sz="1600" b="1">
                <a:solidFill>
                  <a:srgbClr val="102B51"/>
                </a:solidFill>
              </a:rPr>
              <a:t>setup orientation </a:t>
            </a:r>
            <a:r>
              <a:rPr lang="en-GB" sz="1600"/>
              <a:t>and </a:t>
            </a:r>
            <a:r>
              <a:rPr lang="en-GB" sz="1600" b="1">
                <a:solidFill>
                  <a:srgbClr val="102B51"/>
                </a:solidFill>
              </a:rPr>
              <a:t>spatial constraints</a:t>
            </a:r>
            <a:r>
              <a:rPr lang="en-GB" sz="1600"/>
              <a:t>.</a:t>
            </a:r>
          </a:p>
          <a:p>
            <a:pPr marL="742950" lvl="1" indent="-285750">
              <a:spcBef>
                <a:spcPts val="400"/>
              </a:spcBef>
              <a:buSzPct val="95000"/>
              <a:buFont typeface="Arial" panose="020B0604020202020204" pitchFamily="34" charset="0"/>
              <a:buChar char="•"/>
            </a:pPr>
            <a:r>
              <a:rPr lang="en-GB" sz="1600" b="1"/>
              <a:t>Method:</a:t>
            </a:r>
            <a:r>
              <a:rPr lang="en-GB" sz="1600"/>
              <a:t> </a:t>
            </a:r>
            <a:r>
              <a:rPr lang="en-GB" sz="1600" err="1"/>
              <a:t>Analyze</a:t>
            </a:r>
            <a:r>
              <a:rPr lang="en-GB" sz="1600"/>
              <a:t> positions and orientations to detect possible.</a:t>
            </a:r>
          </a:p>
          <a:p>
            <a:pPr marL="742950" lvl="1" indent="-285750">
              <a:buSzPct val="95000"/>
              <a:buFont typeface="Arial" panose="020B0604020202020204" pitchFamily="34" charset="0"/>
              <a:buChar char="•"/>
            </a:pPr>
            <a:endParaRPr lang="en-GB" sz="2000"/>
          </a:p>
          <a:p>
            <a:pPr marL="285750" indent="-285750">
              <a:lnSpc>
                <a:spcPct val="150000"/>
              </a:lnSpc>
              <a:buSzPct val="120000"/>
              <a:buFont typeface="Wingdings" panose="05000000000000000000" pitchFamily="2" charset="2"/>
              <a:buChar char="ü"/>
            </a:pPr>
            <a:r>
              <a:rPr lang="en-GB" b="1">
                <a:solidFill>
                  <a:srgbClr val="102B51"/>
                </a:solidFill>
              </a:rPr>
              <a:t>Final Consistency Check:</a:t>
            </a:r>
            <a:endParaRPr lang="en-GB">
              <a:solidFill>
                <a:srgbClr val="102B51"/>
              </a:solidFill>
            </a:endParaRPr>
          </a:p>
          <a:p>
            <a:pPr marL="742950" lvl="1" indent="-285750">
              <a:spcBef>
                <a:spcPts val="400"/>
              </a:spcBef>
              <a:buSzPct val="95000"/>
              <a:buFont typeface="Arial" panose="020B0604020202020204" pitchFamily="34" charset="0"/>
              <a:buChar char="•"/>
            </a:pPr>
            <a:r>
              <a:rPr lang="en-GB" sz="1600" b="1"/>
              <a:t>Purpose:</a:t>
            </a:r>
            <a:r>
              <a:rPr lang="en-GB" sz="1600"/>
              <a:t> 	</a:t>
            </a:r>
            <a:r>
              <a:rPr lang="en-GB" sz="2000" b="1">
                <a:solidFill>
                  <a:srgbClr val="102B51"/>
                </a:solidFill>
              </a:rPr>
              <a:t> ☑ </a:t>
            </a:r>
            <a:r>
              <a:rPr lang="en-GB" sz="1600"/>
              <a:t>Verify the presence and structure of all the prescribed sections</a:t>
            </a:r>
          </a:p>
          <a:p>
            <a:pPr marL="742950" lvl="1" indent="-285750">
              <a:spcBef>
                <a:spcPts val="400"/>
              </a:spcBef>
              <a:buSzPct val="95000"/>
              <a:buFont typeface="Arial" panose="020B0604020202020204" pitchFamily="34" charset="0"/>
              <a:buChar char="•"/>
            </a:pPr>
            <a:r>
              <a:rPr lang="en-GB" sz="1600" b="1"/>
              <a:t>Method:</a:t>
            </a:r>
            <a:r>
              <a:rPr lang="en-GB" sz="1600"/>
              <a:t> Verify that all necessary data structures are present and correctly formatted.</a:t>
            </a:r>
          </a:p>
        </p:txBody>
      </p:sp>
    </p:spTree>
    <p:extLst>
      <p:ext uri="{BB962C8B-B14F-4D97-AF65-F5344CB8AC3E}">
        <p14:creationId xmlns:p14="http://schemas.microsoft.com/office/powerpoint/2010/main" val="3526067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B17ED-E051-E367-0AF4-0B5599D76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C9282505-FE8E-D703-FC23-8A69107E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Post-Processing</a:t>
            </a:r>
            <a:endParaRPr lang="en-US">
              <a:solidFill>
                <a:srgbClr val="102B51"/>
              </a:solidFill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D1D3D0-CB50-3F05-D6E5-D732D886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18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AD5D9799-C83F-A3AD-7699-4CB24E1422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7" name="Segnaposto piè di pagina 9">
            <a:extLst>
              <a:ext uri="{FF2B5EF4-FFF2-40B4-BE49-F238E27FC236}">
                <a16:creationId xmlns:a16="http://schemas.microsoft.com/office/drawing/2014/main" id="{A36EB4BD-4BFF-76A6-6A9E-1EC7D956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9" name="Picture 8" descr="A diagram of a process&#10;&#10;AI-generated content may be incorrect.">
            <a:extLst>
              <a:ext uri="{FF2B5EF4-FFF2-40B4-BE49-F238E27FC236}">
                <a16:creationId xmlns:a16="http://schemas.microsoft.com/office/drawing/2014/main" id="{5784DEF0-3155-E4E3-02D6-1E38DED5A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1" b="38666"/>
          <a:stretch>
            <a:fillRect/>
          </a:stretch>
        </p:blipFill>
        <p:spPr>
          <a:xfrm>
            <a:off x="510211" y="1328745"/>
            <a:ext cx="11371386" cy="40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73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860C2-A383-CE0D-2283-E488BFEE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91967E77-E46A-C3A7-4980-D46A041CB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Parsing and </a:t>
            </a:r>
            <a:r>
              <a:rPr lang="en-US">
                <a:solidFill>
                  <a:srgbClr val="102B51"/>
                </a:solidFill>
              </a:rPr>
              <a:t>G-code Generation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8B667B-7FBF-63FE-CA62-8B7DB7D9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19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5F3778A-4B5B-3F19-EBEA-5681AD03C7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7" name="Segnaposto piè di pagina 9">
            <a:extLst>
              <a:ext uri="{FF2B5EF4-FFF2-40B4-BE49-F238E27FC236}">
                <a16:creationId xmlns:a16="http://schemas.microsoft.com/office/drawing/2014/main" id="{AB846D2B-458E-B9E8-EFA1-F3B48008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E6654D0-9B06-9B19-58AF-DDED4E3C8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847" y="1247965"/>
            <a:ext cx="8344144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>
                <a:solidFill>
                  <a:srgbClr val="102B51"/>
                </a:solidFill>
              </a:rPr>
              <a:t>Parse &amp; Structure Output</a:t>
            </a:r>
            <a:endParaRPr lang="en-US" altLang="en-US" b="1">
              <a:solidFill>
                <a:srgbClr val="102B5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1600"/>
              <a:t>Convert the AI-generated text (JSON) into a structured process plan and tabular format.</a:t>
            </a:r>
            <a:endParaRPr lang="en-US" altLang="en-US" sz="1600" b="1">
              <a:solidFill>
                <a:srgbClr val="102B5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>
              <a:solidFill>
                <a:srgbClr val="102B5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>
                <a:solidFill>
                  <a:srgbClr val="102B51"/>
                </a:solidFill>
              </a:rPr>
              <a:t>Parse tool 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1600"/>
              <a:t>Match each tool used in the process plan with its T-code from the machine’s tool table</a:t>
            </a:r>
            <a:r>
              <a:rPr lang="en-GB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altLang="en-US" b="1">
              <a:solidFill>
                <a:srgbClr val="102B5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102B51"/>
                </a:solidFill>
              </a:rPr>
              <a:t>Build skeleton G-code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/>
              <a:t>Automatically generate a minimal, deterministic G-code skeleton based on the process plan</a:t>
            </a:r>
            <a:r>
              <a:rPr lang="en-GB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b="1">
              <a:solidFill>
                <a:srgbClr val="102B5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>
                <a:solidFill>
                  <a:srgbClr val="102B51"/>
                </a:solidFill>
              </a:rPr>
              <a:t>Prompt Construction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/>
              <a:t>Assemble the full machining plan and the skeleton G-code into a single prompt for the LLM.</a:t>
            </a:r>
            <a:br>
              <a:rPr lang="en-GB" sz="1600"/>
            </a:br>
            <a:endParaRPr lang="en-GB" altLang="en-US" sz="1600" b="1">
              <a:solidFill>
                <a:srgbClr val="102B5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>
                <a:solidFill>
                  <a:srgbClr val="102B51"/>
                </a:solidFill>
              </a:rPr>
              <a:t>LLM Expansion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/>
              <a:t>The LLM expands each step into detailed, realistic G-code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b="1">
              <a:solidFill>
                <a:srgbClr val="102B5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>
                <a:solidFill>
                  <a:srgbClr val="102B51"/>
                </a:solidFill>
              </a:rPr>
              <a:t>Export to File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/>
              <a:t>The final G-code is saved, ready for use on CNC machines or in simulators.</a:t>
            </a:r>
            <a:endParaRPr lang="en-US" altLang="en-US" sz="1600" b="1">
              <a:solidFill>
                <a:srgbClr val="102B5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>
              <a:solidFill>
                <a:srgbClr val="102B51"/>
              </a:solidFill>
            </a:endParaRPr>
          </a:p>
        </p:txBody>
      </p:sp>
      <p:pic>
        <p:nvPicPr>
          <p:cNvPr id="16" name="Graphic 15" descr="Disk with solid fill">
            <a:extLst>
              <a:ext uri="{FF2B5EF4-FFF2-40B4-BE49-F238E27FC236}">
                <a16:creationId xmlns:a16="http://schemas.microsoft.com/office/drawing/2014/main" id="{4B15F44A-50D4-D0AB-4A51-10EEBABF1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4622" y="5244417"/>
            <a:ext cx="703713" cy="703713"/>
          </a:xfrm>
          <a:prstGeom prst="rect">
            <a:avLst/>
          </a:prstGeom>
        </p:spPr>
      </p:pic>
      <p:pic>
        <p:nvPicPr>
          <p:cNvPr id="28" name="Graphic 27" descr="Chat bubble with solid fill">
            <a:extLst>
              <a:ext uri="{FF2B5EF4-FFF2-40B4-BE49-F238E27FC236}">
                <a16:creationId xmlns:a16="http://schemas.microsoft.com/office/drawing/2014/main" id="{08B0C3A6-D05D-CC81-31F9-108F166B46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8906" y="3675640"/>
            <a:ext cx="703713" cy="703713"/>
          </a:xfrm>
          <a:prstGeom prst="rect">
            <a:avLst/>
          </a:prstGeom>
        </p:spPr>
      </p:pic>
      <p:pic>
        <p:nvPicPr>
          <p:cNvPr id="32" name="Graphic 31" descr="Clipboard Ticked with solid fill">
            <a:extLst>
              <a:ext uri="{FF2B5EF4-FFF2-40B4-BE49-F238E27FC236}">
                <a16:creationId xmlns:a16="http://schemas.microsoft.com/office/drawing/2014/main" id="{F9CA03C0-6B38-4331-8707-4507C173A9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8906" y="2840072"/>
            <a:ext cx="703713" cy="703713"/>
          </a:xfrm>
          <a:prstGeom prst="rect">
            <a:avLst/>
          </a:prstGeom>
        </p:spPr>
      </p:pic>
      <p:pic>
        <p:nvPicPr>
          <p:cNvPr id="36" name="Graphic 35" descr="Artificial Intelligence with solid fill">
            <a:extLst>
              <a:ext uri="{FF2B5EF4-FFF2-40B4-BE49-F238E27FC236}">
                <a16:creationId xmlns:a16="http://schemas.microsoft.com/office/drawing/2014/main" id="{CF2F6E66-B097-010A-647E-0CB1A9B4E0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9421" y="4425514"/>
            <a:ext cx="703713" cy="703713"/>
          </a:xfrm>
          <a:prstGeom prst="rect">
            <a:avLst/>
          </a:prstGeom>
        </p:spPr>
      </p:pic>
      <p:pic>
        <p:nvPicPr>
          <p:cNvPr id="38" name="Graphic 37" descr="Tools with solid fill">
            <a:extLst>
              <a:ext uri="{FF2B5EF4-FFF2-40B4-BE49-F238E27FC236}">
                <a16:creationId xmlns:a16="http://schemas.microsoft.com/office/drawing/2014/main" id="{4151C8BD-A8D6-13D5-774D-DA93EFBF75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6167" y="1955260"/>
            <a:ext cx="703713" cy="703713"/>
          </a:xfrm>
          <a:prstGeom prst="rect">
            <a:avLst/>
          </a:prstGeom>
        </p:spPr>
      </p:pic>
      <p:pic>
        <p:nvPicPr>
          <p:cNvPr id="40" name="Graphic 39" descr="Table with solid fill">
            <a:extLst>
              <a:ext uri="{FF2B5EF4-FFF2-40B4-BE49-F238E27FC236}">
                <a16:creationId xmlns:a16="http://schemas.microsoft.com/office/drawing/2014/main" id="{F78CD0D2-4447-2080-E9A6-FD87ECD5265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46168" y="1183600"/>
            <a:ext cx="703713" cy="703713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606F621-32D4-B998-C268-1F60C3438F02}"/>
              </a:ext>
            </a:extLst>
          </p:cNvPr>
          <p:cNvCxnSpPr>
            <a:cxnSpLocks/>
          </p:cNvCxnSpPr>
          <p:nvPr/>
        </p:nvCxnSpPr>
        <p:spPr>
          <a:xfrm>
            <a:off x="835742" y="1124608"/>
            <a:ext cx="0" cy="5096512"/>
          </a:xfrm>
          <a:prstGeom prst="straightConnector1">
            <a:avLst/>
          </a:prstGeom>
          <a:ln w="38100">
            <a:solidFill>
              <a:srgbClr val="102B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581DE74-57EE-7CDD-CFFF-C014714A4625}"/>
              </a:ext>
            </a:extLst>
          </p:cNvPr>
          <p:cNvSpPr/>
          <p:nvPr/>
        </p:nvSpPr>
        <p:spPr>
          <a:xfrm>
            <a:off x="733135" y="1441861"/>
            <a:ext cx="205214" cy="202154"/>
          </a:xfrm>
          <a:prstGeom prst="ellipse">
            <a:avLst/>
          </a:prstGeom>
          <a:solidFill>
            <a:srgbClr val="F3F3F3"/>
          </a:solidFill>
          <a:ln w="38100">
            <a:solidFill>
              <a:srgbClr val="102B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EB5E719-71F8-4D03-427F-029FA2C7A322}"/>
              </a:ext>
            </a:extLst>
          </p:cNvPr>
          <p:cNvSpPr/>
          <p:nvPr/>
        </p:nvSpPr>
        <p:spPr>
          <a:xfrm>
            <a:off x="733135" y="2253615"/>
            <a:ext cx="205214" cy="202154"/>
          </a:xfrm>
          <a:prstGeom prst="ellipse">
            <a:avLst/>
          </a:prstGeom>
          <a:solidFill>
            <a:srgbClr val="F3F3F3"/>
          </a:solidFill>
          <a:ln w="38100">
            <a:solidFill>
              <a:srgbClr val="102B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C504942-9263-3345-E964-9295E9700BFB}"/>
              </a:ext>
            </a:extLst>
          </p:cNvPr>
          <p:cNvSpPr/>
          <p:nvPr/>
        </p:nvSpPr>
        <p:spPr>
          <a:xfrm>
            <a:off x="733135" y="5491864"/>
            <a:ext cx="205214" cy="202154"/>
          </a:xfrm>
          <a:prstGeom prst="ellipse">
            <a:avLst/>
          </a:prstGeom>
          <a:solidFill>
            <a:srgbClr val="F3F3F3"/>
          </a:solidFill>
          <a:ln w="38100">
            <a:solidFill>
              <a:srgbClr val="102B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110DFD8-C90A-3BB3-677C-D7570EB5483A}"/>
              </a:ext>
            </a:extLst>
          </p:cNvPr>
          <p:cNvSpPr/>
          <p:nvPr/>
        </p:nvSpPr>
        <p:spPr>
          <a:xfrm>
            <a:off x="733135" y="4708546"/>
            <a:ext cx="205214" cy="202154"/>
          </a:xfrm>
          <a:prstGeom prst="ellipse">
            <a:avLst/>
          </a:prstGeom>
          <a:solidFill>
            <a:srgbClr val="F3F3F3"/>
          </a:solidFill>
          <a:ln w="38100">
            <a:solidFill>
              <a:srgbClr val="102B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E66486C-819D-DCE2-6837-5B224986D034}"/>
              </a:ext>
            </a:extLst>
          </p:cNvPr>
          <p:cNvSpPr/>
          <p:nvPr/>
        </p:nvSpPr>
        <p:spPr>
          <a:xfrm>
            <a:off x="733135" y="3920451"/>
            <a:ext cx="205214" cy="202154"/>
          </a:xfrm>
          <a:prstGeom prst="ellipse">
            <a:avLst/>
          </a:prstGeom>
          <a:solidFill>
            <a:srgbClr val="F3F3F3"/>
          </a:solidFill>
          <a:ln w="38100">
            <a:solidFill>
              <a:srgbClr val="102B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44DC9BC-14FF-776F-28C4-1A2300AB6379}"/>
              </a:ext>
            </a:extLst>
          </p:cNvPr>
          <p:cNvSpPr/>
          <p:nvPr/>
        </p:nvSpPr>
        <p:spPr>
          <a:xfrm>
            <a:off x="738183" y="3092340"/>
            <a:ext cx="205214" cy="202154"/>
          </a:xfrm>
          <a:prstGeom prst="ellipse">
            <a:avLst/>
          </a:prstGeom>
          <a:solidFill>
            <a:srgbClr val="F3F3F3"/>
          </a:solidFill>
          <a:ln w="38100">
            <a:solidFill>
              <a:srgbClr val="102B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471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FFFC6-3C47-EABA-8E7A-2ED3DD1B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37D1EFA4-A0F3-BC4C-89E6-C6B13B46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Automatic documentation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4D1F72-8507-7711-635F-3EA74A91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20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D72795EB-1E7A-043E-329B-5BAD774EDF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12" name="Segnaposto piè di pagina 9">
            <a:extLst>
              <a:ext uri="{FF2B5EF4-FFF2-40B4-BE49-F238E27FC236}">
                <a16:creationId xmlns:a16="http://schemas.microsoft.com/office/drawing/2014/main" id="{BA29C80E-9093-ABCF-5E3D-318BF4C8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D2293DD-1725-1BE1-5BE4-4A5B24A71A1B}"/>
              </a:ext>
            </a:extLst>
          </p:cNvPr>
          <p:cNvSpPr txBox="1"/>
          <p:nvPr/>
        </p:nvSpPr>
        <p:spPr>
          <a:xfrm>
            <a:off x="364519" y="1229032"/>
            <a:ext cx="116154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The </a:t>
            </a:r>
            <a:r>
              <a:rPr lang="en-US" sz="1600" b="1">
                <a:solidFill>
                  <a:srgbClr val="102B51"/>
                </a:solidFill>
              </a:rPr>
              <a:t>automatic documentation </a:t>
            </a:r>
            <a:r>
              <a:rPr lang="en-US" sz="1600"/>
              <a:t>generates a structured </a:t>
            </a:r>
            <a:r>
              <a:rPr lang="en-US" sz="1600" b="1">
                <a:solidFill>
                  <a:srgbClr val="102B51"/>
                </a:solidFill>
              </a:rPr>
              <a:t>CNC documentation PDF</a:t>
            </a:r>
            <a:r>
              <a:rPr lang="en-US" sz="1600"/>
              <a:t>, including technical info, setup/process plans, tool list, G-code, safety standards, and maintenance instructions</a:t>
            </a:r>
            <a:endParaRPr lang="it-IT" sz="160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40A0C55-8D91-7B34-96B4-A6F69B383DD4}"/>
              </a:ext>
            </a:extLst>
          </p:cNvPr>
          <p:cNvSpPr txBox="1"/>
          <p:nvPr/>
        </p:nvSpPr>
        <p:spPr>
          <a:xfrm>
            <a:off x="364519" y="1917294"/>
            <a:ext cx="25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err="1">
                <a:solidFill>
                  <a:srgbClr val="102B51"/>
                </a:solidFill>
              </a:rPr>
              <a:t>Document</a:t>
            </a:r>
            <a:r>
              <a:rPr lang="it-IT" b="1">
                <a:solidFill>
                  <a:srgbClr val="102B51"/>
                </a:solidFill>
              </a:rPr>
              <a:t> </a:t>
            </a:r>
            <a:r>
              <a:rPr lang="it-IT" b="1" err="1">
                <a:solidFill>
                  <a:srgbClr val="102B51"/>
                </a:solidFill>
              </a:rPr>
              <a:t>structure</a:t>
            </a:r>
            <a:r>
              <a:rPr lang="it-IT" b="1">
                <a:solidFill>
                  <a:srgbClr val="102B51"/>
                </a:solidFill>
              </a:rPr>
              <a:t>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134824A-D3FF-5E8D-81F4-E4120FAA80F7}"/>
              </a:ext>
            </a:extLst>
          </p:cNvPr>
          <p:cNvSpPr txBox="1"/>
          <p:nvPr/>
        </p:nvSpPr>
        <p:spPr>
          <a:xfrm>
            <a:off x="2686878" y="1979190"/>
            <a:ext cx="592372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/>
              <a:t>Job </a:t>
            </a:r>
            <a:r>
              <a:rPr lang="it-IT" sz="1600" err="1"/>
              <a:t>overview</a:t>
            </a:r>
            <a:endParaRPr lang="it-IT" sz="1600"/>
          </a:p>
          <a:p>
            <a:pPr marL="342900" indent="-342900">
              <a:buFont typeface="+mj-lt"/>
              <a:buAutoNum type="arabicPeriod"/>
            </a:pPr>
            <a:r>
              <a:rPr lang="it-IT" sz="1600"/>
              <a:t>Setup plan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err="1"/>
              <a:t>Process</a:t>
            </a:r>
            <a:r>
              <a:rPr lang="it-IT" sz="1600"/>
              <a:t> plan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/>
              <a:t>Tool list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/>
              <a:t>G-code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err="1"/>
              <a:t>Safety</a:t>
            </a:r>
            <a:r>
              <a:rPr lang="it-IT" sz="1600"/>
              <a:t> &amp; </a:t>
            </a:r>
            <a:r>
              <a:rPr lang="it-IT" sz="1600" err="1"/>
              <a:t>Competency</a:t>
            </a:r>
            <a:r>
              <a:rPr lang="it-IT" sz="1600"/>
              <a:t> standards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err="1"/>
              <a:t>Maintenance</a:t>
            </a:r>
            <a:r>
              <a:rPr lang="it-IT" sz="1600"/>
              <a:t> </a:t>
            </a:r>
            <a:r>
              <a:rPr lang="it-IT" sz="1600" err="1"/>
              <a:t>procedures</a:t>
            </a:r>
            <a:endParaRPr lang="it-IT" sz="16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60E5F42-02BB-D806-301E-14F3DB76E0D9}"/>
              </a:ext>
            </a:extLst>
          </p:cNvPr>
          <p:cNvSpPr txBox="1"/>
          <p:nvPr/>
        </p:nvSpPr>
        <p:spPr>
          <a:xfrm>
            <a:off x="364519" y="3960114"/>
            <a:ext cx="612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The PDF is enhanced by </a:t>
            </a:r>
            <a:r>
              <a:rPr lang="en-US" sz="1600" b="1">
                <a:solidFill>
                  <a:srgbClr val="102B51"/>
                </a:solidFill>
              </a:rPr>
              <a:t>LLM calls </a:t>
            </a:r>
            <a:r>
              <a:rPr lang="en-US" sz="1600"/>
              <a:t>that produce detailed </a:t>
            </a:r>
            <a:r>
              <a:rPr lang="en-US" sz="1600" b="1">
                <a:solidFill>
                  <a:srgbClr val="102B51"/>
                </a:solidFill>
              </a:rPr>
              <a:t>descriptions</a:t>
            </a:r>
            <a:r>
              <a:rPr lang="en-US" sz="1600"/>
              <a:t> for setups, steps, safety, and maintenance</a:t>
            </a:r>
            <a:endParaRPr lang="it-IT" sz="160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4AFD876-553A-3ABA-B690-D834B0757C0E}"/>
              </a:ext>
            </a:extLst>
          </p:cNvPr>
          <p:cNvSpPr txBox="1"/>
          <p:nvPr/>
        </p:nvSpPr>
        <p:spPr>
          <a:xfrm>
            <a:off x="364519" y="4731871"/>
            <a:ext cx="100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Output: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53968CC-3BE8-A411-9D31-E2532174B4AE}"/>
              </a:ext>
            </a:extLst>
          </p:cNvPr>
          <p:cNvSpPr txBox="1"/>
          <p:nvPr/>
        </p:nvSpPr>
        <p:spPr>
          <a:xfrm>
            <a:off x="1368456" y="4769568"/>
            <a:ext cx="5838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Structured PDF report including geometric data, LLM-generated setup and process plans, tool inventory, G-code, and safety and maintenance sections</a:t>
            </a:r>
            <a:endParaRPr lang="it-IT" sz="1600"/>
          </a:p>
        </p:txBody>
      </p:sp>
      <p:pic>
        <p:nvPicPr>
          <p:cNvPr id="14" name="Immagine 13" descr="Immagine che contiene testo, documen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DE64EFA6-3DA7-4BEC-CAF5-C456671BC8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348" y="1642698"/>
            <a:ext cx="3480452" cy="463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63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18AB8-071C-BE7E-D2C2-A66C2255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1A9F547-8901-BA17-CE72-0E318A2C1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Result – Natural Language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B22124-E3FD-61A9-42D6-8B413A1F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21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BC92030F-2AF5-37CC-8A14-4BA772622B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12" name="Segnaposto piè di pagina 9">
            <a:extLst>
              <a:ext uri="{FF2B5EF4-FFF2-40B4-BE49-F238E27FC236}">
                <a16:creationId xmlns:a16="http://schemas.microsoft.com/office/drawing/2014/main" id="{6BDE1879-9448-F3C6-944D-9D0BFE2F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BE4A6-D3BF-10BC-D57B-162A0C69CB1B}"/>
              </a:ext>
            </a:extLst>
          </p:cNvPr>
          <p:cNvSpPr txBox="1"/>
          <p:nvPr/>
        </p:nvSpPr>
        <p:spPr>
          <a:xfrm>
            <a:off x="444911" y="1395751"/>
            <a:ext cx="565109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>
                <a:solidFill>
                  <a:srgbClr val="102B51"/>
                </a:solidFill>
              </a:rPr>
              <a:t>Input:</a:t>
            </a:r>
            <a:endParaRPr lang="en-GB" b="1" i="1">
              <a:solidFill>
                <a:srgbClr val="102B51"/>
              </a:solidFill>
            </a:endParaRP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"You are looking at a rectangular aluminium cover plate for a small gearbox. "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“……..”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"Features: “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“……..”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   “Four corner mounting holes – through-holes 8 mm Ø,  ……….“</a:t>
            </a:r>
            <a:endParaRPr lang="en-GB" sz="1600" b="1" i="1">
              <a:solidFill>
                <a:srgbClr val="102B5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br>
              <a:rPr lang="en-GB" sz="1600"/>
            </a:br>
            <a:br>
              <a:rPr lang="en-GB" sz="1600" b="1"/>
            </a:br>
            <a:r>
              <a:rPr lang="en-GB" b="1">
                <a:solidFill>
                  <a:srgbClr val="102B51"/>
                </a:solidFill>
              </a:rPr>
              <a:t>Comments:</a:t>
            </a:r>
          </a:p>
          <a:p>
            <a:endParaRPr lang="en-GB" sz="1000" b="1">
              <a:solidFill>
                <a:srgbClr val="102B51"/>
              </a:solidFill>
            </a:endParaRPr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en-GB" sz="1600"/>
              <a:t>The call 3 validation function present a slightly different structure to properly assess this input type.</a:t>
            </a:r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endParaRPr lang="en-GB" sz="1000" b="1"/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en-GB" sz="1600"/>
              <a:t>The purpose here is to draft the setup and process plan, so location values are approximate; the user must confirm them before the work can commence</a:t>
            </a:r>
            <a:br>
              <a:rPr lang="en-GB" sz="1600" b="1"/>
            </a:br>
            <a:endParaRPr lang="en-GB" sz="1600" b="0">
              <a:effectLst/>
            </a:endParaRPr>
          </a:p>
        </p:txBody>
      </p:sp>
      <p:pic>
        <p:nvPicPr>
          <p:cNvPr id="7" name="Immagine 6" descr="Immagine che contiene schermata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6B272995-84E8-A09E-BA48-C41CA10BF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5" t="16171" r="39233" b="8723"/>
          <a:stretch>
            <a:fillRect/>
          </a:stretch>
        </p:blipFill>
        <p:spPr>
          <a:xfrm rot="5400000">
            <a:off x="7460836" y="1528591"/>
            <a:ext cx="4490420" cy="370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92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FD52F-BD75-6FEE-0DF4-DA281BCF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3F474DBF-2158-DC6F-14D0-2609F395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Result </a:t>
            </a:r>
            <a:r>
              <a:rPr lang="en-US">
                <a:solidFill>
                  <a:srgbClr val="102B51"/>
                </a:solidFill>
              </a:rPr>
              <a:t>– Natural Language</a:t>
            </a:r>
            <a:endParaRPr lang="en-US" noProof="0">
              <a:solidFill>
                <a:srgbClr val="102B51"/>
              </a:solidFill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9B2DF1-4CE4-F088-33BC-266D89AD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22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129272-2453-2CFC-6231-076DFF2A33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92B6CEFE-FAB5-E182-88D7-5E5A5A68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25D80A-734D-B4C0-8DAE-74D95A418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972612"/>
              </p:ext>
            </p:extLst>
          </p:nvPr>
        </p:nvGraphicFramePr>
        <p:xfrm>
          <a:off x="550143" y="1081161"/>
          <a:ext cx="11091713" cy="515324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508374">
                  <a:extLst>
                    <a:ext uri="{9D8B030D-6E8A-4147-A177-3AD203B41FA5}">
                      <a16:colId xmlns:a16="http://schemas.microsoft.com/office/drawing/2014/main" val="3751594837"/>
                    </a:ext>
                  </a:extLst>
                </a:gridCol>
                <a:gridCol w="866683">
                  <a:extLst>
                    <a:ext uri="{9D8B030D-6E8A-4147-A177-3AD203B41FA5}">
                      <a16:colId xmlns:a16="http://schemas.microsoft.com/office/drawing/2014/main" val="642090527"/>
                    </a:ext>
                  </a:extLst>
                </a:gridCol>
                <a:gridCol w="1895833">
                  <a:extLst>
                    <a:ext uri="{9D8B030D-6E8A-4147-A177-3AD203B41FA5}">
                      <a16:colId xmlns:a16="http://schemas.microsoft.com/office/drawing/2014/main" val="2278246911"/>
                    </a:ext>
                  </a:extLst>
                </a:gridCol>
                <a:gridCol w="932119">
                  <a:extLst>
                    <a:ext uri="{9D8B030D-6E8A-4147-A177-3AD203B41FA5}">
                      <a16:colId xmlns:a16="http://schemas.microsoft.com/office/drawing/2014/main" val="2687714259"/>
                    </a:ext>
                  </a:extLst>
                </a:gridCol>
                <a:gridCol w="1991669">
                  <a:extLst>
                    <a:ext uri="{9D8B030D-6E8A-4147-A177-3AD203B41FA5}">
                      <a16:colId xmlns:a16="http://schemas.microsoft.com/office/drawing/2014/main" val="2867656985"/>
                    </a:ext>
                  </a:extLst>
                </a:gridCol>
                <a:gridCol w="1760592">
                  <a:extLst>
                    <a:ext uri="{9D8B030D-6E8A-4147-A177-3AD203B41FA5}">
                      <a16:colId xmlns:a16="http://schemas.microsoft.com/office/drawing/2014/main" val="3548998886"/>
                    </a:ext>
                  </a:extLst>
                </a:gridCol>
                <a:gridCol w="1496502">
                  <a:extLst>
                    <a:ext uri="{9D8B030D-6E8A-4147-A177-3AD203B41FA5}">
                      <a16:colId xmlns:a16="http://schemas.microsoft.com/office/drawing/2014/main" val="2905452381"/>
                    </a:ext>
                  </a:extLst>
                </a:gridCol>
                <a:gridCol w="515188">
                  <a:extLst>
                    <a:ext uri="{9D8B030D-6E8A-4147-A177-3AD203B41FA5}">
                      <a16:colId xmlns:a16="http://schemas.microsoft.com/office/drawing/2014/main" val="2261113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98385406"/>
                    </a:ext>
                  </a:extLst>
                </a:gridCol>
                <a:gridCol w="667553">
                  <a:extLst>
                    <a:ext uri="{9D8B030D-6E8A-4147-A177-3AD203B41FA5}">
                      <a16:colId xmlns:a16="http://schemas.microsoft.com/office/drawing/2014/main" val="3500230441"/>
                    </a:ext>
                  </a:extLst>
                </a:gridCol>
              </a:tblGrid>
              <a:tr h="438416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Setup number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Notes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number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Position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RPM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Feed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marL="2026" marR="2026" marT="202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282807"/>
                  </a:ext>
                </a:extLst>
              </a:tr>
              <a:tr h="24941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Setup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 Face Up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4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4088"/>
                  </a:ext>
                </a:extLst>
              </a:tr>
              <a:tr h="373865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Cosmetic finish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 Milling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 Mill Cutter,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 Face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2026" marR="2026" marT="2026" marB="0" anchor="ctr"/>
                </a:tc>
                <a:extLst>
                  <a:ext uri="{0D108BD9-81ED-4DB2-BD59-A6C34878D82A}">
                    <a16:rowId xmlns:a16="http://schemas.microsoft.com/office/drawing/2014/main" val="3501395785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Pilot drilling before boring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Drilling (Blind Hole)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Twist Drill,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 bearing seat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39506"/>
                  </a:ext>
                </a:extLst>
              </a:tr>
              <a:tr h="435575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Boring to achieve true position and surface finish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Boring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Boring Head,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 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 bearing seat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2026" marR="2026" marT="2026" marB="0" anchor="ctr"/>
                </a:tc>
                <a:extLst>
                  <a:ext uri="{0D108BD9-81ED-4DB2-BD59-A6C34878D82A}">
                    <a16:rowId xmlns:a16="http://schemas.microsoft.com/office/drawing/2014/main" val="2004245459"/>
                  </a:ext>
                </a:extLst>
              </a:tr>
              <a:tr h="42630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Reaming for H7 tolerance, coolant required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Reaming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Reamer,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 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Alignment dowel hole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33329"/>
                  </a:ext>
                </a:extLst>
              </a:tr>
              <a:tr h="387116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Drilling before tapping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Drilling (Blind Hole)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Twist Drill,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 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Threaded service port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2026" marR="2026" marT="2026" marB="0" anchor="ctr"/>
                </a:tc>
                <a:extLst>
                  <a:ext uri="{0D108BD9-81ED-4DB2-BD59-A6C34878D82A}">
                    <a16:rowId xmlns:a16="http://schemas.microsoft.com/office/drawing/2014/main" val="1723333636"/>
                  </a:ext>
                </a:extLst>
              </a:tr>
              <a:tr h="394144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Tapping M10 × 1.5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Tapping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Thread Tap,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 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Threaded service port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93546"/>
                  </a:ext>
                </a:extLst>
              </a:tr>
              <a:tr h="394144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 holes for mounting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Drilling (Through Hole)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Twist Drill,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 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Corner mounting holes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2026" marR="2026" marT="202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2026" marR="2026" marT="2026" marB="0" anchor="ctr"/>
                </a:tc>
                <a:extLst>
                  <a:ext uri="{0D108BD9-81ED-4DB2-BD59-A6C34878D82A}">
                    <a16:rowId xmlns:a16="http://schemas.microsoft.com/office/drawing/2014/main" val="3975839276"/>
                  </a:ext>
                </a:extLst>
              </a:tr>
              <a:tr h="394144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Pocket milling for enclosed pocket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Pocket Milling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 Mill,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 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Rectangular relief pocket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7858"/>
                  </a:ext>
                </a:extLst>
              </a:tr>
              <a:tr h="2743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Setup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Bottom Face Up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1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26" marR="2026" marT="202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755319"/>
                  </a:ext>
                </a:extLst>
              </a:tr>
              <a:tr h="361435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Cosmetic finish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 Milling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 Mill Cutter,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Bottom Face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63961"/>
                  </a:ext>
                </a:extLst>
              </a:tr>
              <a:tr h="313183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Chamfering all edges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Chamfering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Chamfer Mill, 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ø 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edges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2026" marR="2026" marT="2026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168856"/>
                  </a:ext>
                </a:extLst>
              </a:tr>
              <a:tr h="344755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Depth within limit.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Slot Milling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 Mill,</a:t>
                      </a:r>
                      <a:r>
                        <a:rPr lang="en-GB" sz="1300" b="0" u="none" strike="noStrike">
                          <a:solidFill>
                            <a:srgbClr val="102B51"/>
                          </a:solidFill>
                          <a:effectLst/>
                        </a:rPr>
                        <a:t> ø</a:t>
                      </a:r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Oil-feed slot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GB" sz="1300" b="0" u="none" strike="noStrike" kern="1200">
                          <a:solidFill>
                            <a:srgbClr val="102B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2026" marR="2026" marT="202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68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535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E6461-E268-91A4-F3DC-3EBD7EF77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71B0A568-2C2B-B212-AF37-23F03571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Result – JSON Dictionary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7D9DB3-BE62-7F8E-4941-B2C0CB1E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23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7060EBBB-972D-F310-594A-C74695E5A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67A8B3D1-3F9D-798B-535E-1C7EBB28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A762A-211A-A137-C11C-6E2E9489239A}"/>
              </a:ext>
            </a:extLst>
          </p:cNvPr>
          <p:cNvSpPr txBox="1"/>
          <p:nvPr/>
        </p:nvSpPr>
        <p:spPr>
          <a:xfrm>
            <a:off x="518736" y="1125545"/>
            <a:ext cx="565109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>
                <a:solidFill>
                  <a:srgbClr val="102B51"/>
                </a:solidFill>
              </a:rPr>
              <a:t>Input:</a:t>
            </a:r>
            <a:endParaRPr lang="en-GB" b="1" i="1">
              <a:solidFill>
                <a:srgbClr val="102B51"/>
              </a:solidFill>
            </a:endParaRPr>
          </a:p>
          <a:p>
            <a:r>
              <a:rPr lang="en-GB" sz="1600" i="1" err="1">
                <a:latin typeface="Source Sans Pro" panose="020B0503030403020204" pitchFamily="34" charset="0"/>
                <a:ea typeface="Source Sans Pro" panose="020B0503030403020204" pitchFamily="34" charset="0"/>
              </a:rPr>
              <a:t>part_info</a:t>
            </a:r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 = {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  "geometry": "Plate",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…………..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  "features": [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          {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      "type": "Blind hole",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      "</a:t>
            </a:r>
            <a:r>
              <a:rPr lang="en-GB" sz="1600" i="1" err="1">
                <a:latin typeface="Source Sans Pro" panose="020B0503030403020204" pitchFamily="34" charset="0"/>
                <a:ea typeface="Source Sans Pro" panose="020B0503030403020204" pitchFamily="34" charset="0"/>
              </a:rPr>
              <a:t>diameter_mm</a:t>
            </a:r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": 3.0,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        ………………    },    …….   ]  ,</a:t>
            </a:r>
          </a:p>
          <a:p>
            <a:r>
              <a:rPr lang="en-GB" sz="1600" i="1">
                <a:latin typeface="Source Sans Pro" panose="020B0503030403020204" pitchFamily="34" charset="0"/>
                <a:ea typeface="Source Sans Pro" panose="020B0503030403020204" pitchFamily="34" charset="0"/>
              </a:rPr>
              <a:t>    ……}</a:t>
            </a:r>
          </a:p>
          <a:p>
            <a:br>
              <a:rPr lang="en-GB" sz="1600" b="1"/>
            </a:br>
            <a:r>
              <a:rPr lang="en-GB" b="1">
                <a:solidFill>
                  <a:srgbClr val="102B51"/>
                </a:solidFill>
              </a:rPr>
              <a:t>Comments: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The input must be generated through the Python interface, which can introduce </a:t>
            </a:r>
            <a:r>
              <a:rPr lang="en-GB" sz="1600" b="1">
                <a:solidFill>
                  <a:srgbClr val="102B51"/>
                </a:solidFill>
              </a:rPr>
              <a:t>some overhead</a:t>
            </a:r>
            <a:r>
              <a:rPr lang="en-GB" sz="1600"/>
              <a:t>; a more streamlined interface </a:t>
            </a:r>
            <a:r>
              <a:rPr lang="en-GB" sz="1600" b="1">
                <a:solidFill>
                  <a:srgbClr val="102B51"/>
                </a:solidFill>
              </a:rPr>
              <a:t>could easily address </a:t>
            </a:r>
            <a:r>
              <a:rPr lang="en-GB" sz="1600"/>
              <a:t>this.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000" b="1"/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en-GB" sz="1600"/>
              <a:t>The input is straightforward to parse, and the generated process plan can be quickly converted into precise, production-ready G-code.</a:t>
            </a:r>
            <a:br>
              <a:rPr lang="en-GB" sz="1600" b="1"/>
            </a:br>
            <a:endParaRPr lang="en-GB" sz="1600" b="0">
              <a:effectLst/>
            </a:endParaRPr>
          </a:p>
        </p:txBody>
      </p:sp>
      <p:pic>
        <p:nvPicPr>
          <p:cNvPr id="12" name="Picture 11" descr="A blue square with a red cross on it&#10;&#10;AI-generated content may be incorrect.">
            <a:extLst>
              <a:ext uri="{FF2B5EF4-FFF2-40B4-BE49-F238E27FC236}">
                <a16:creationId xmlns:a16="http://schemas.microsoft.com/office/drawing/2014/main" id="{99DDB9F4-90CE-63C5-B77F-F37888327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026160"/>
            <a:ext cx="5931237" cy="468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24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7E2BF-BFDC-5EB2-AF3B-02E97EF93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3EDDD2A-BD52-B03B-CA0C-2F09CD0D9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Result – JSON Dictionary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E3344F-D7B1-5C55-885F-14456070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24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D32728C6-C23E-B4EE-45D7-DA80E462E5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61C91DD9-2D3A-DCA8-816F-D43053D6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38AF1C-B669-A360-AD3C-00EBD0BB3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797916"/>
              </p:ext>
            </p:extLst>
          </p:nvPr>
        </p:nvGraphicFramePr>
        <p:xfrm>
          <a:off x="594734" y="1206825"/>
          <a:ext cx="11046331" cy="482659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66822">
                  <a:extLst>
                    <a:ext uri="{9D8B030D-6E8A-4147-A177-3AD203B41FA5}">
                      <a16:colId xmlns:a16="http://schemas.microsoft.com/office/drawing/2014/main" val="3751594837"/>
                    </a:ext>
                  </a:extLst>
                </a:gridCol>
                <a:gridCol w="795845">
                  <a:extLst>
                    <a:ext uri="{9D8B030D-6E8A-4147-A177-3AD203B41FA5}">
                      <a16:colId xmlns:a16="http://schemas.microsoft.com/office/drawing/2014/main" val="642090527"/>
                    </a:ext>
                  </a:extLst>
                </a:gridCol>
                <a:gridCol w="1740878">
                  <a:extLst>
                    <a:ext uri="{9D8B030D-6E8A-4147-A177-3AD203B41FA5}">
                      <a16:colId xmlns:a16="http://schemas.microsoft.com/office/drawing/2014/main" val="2278246911"/>
                    </a:ext>
                  </a:extLst>
                </a:gridCol>
                <a:gridCol w="855933">
                  <a:extLst>
                    <a:ext uri="{9D8B030D-6E8A-4147-A177-3AD203B41FA5}">
                      <a16:colId xmlns:a16="http://schemas.microsoft.com/office/drawing/2014/main" val="2687714259"/>
                    </a:ext>
                  </a:extLst>
                </a:gridCol>
                <a:gridCol w="1828881">
                  <a:extLst>
                    <a:ext uri="{9D8B030D-6E8A-4147-A177-3AD203B41FA5}">
                      <a16:colId xmlns:a16="http://schemas.microsoft.com/office/drawing/2014/main" val="2867656985"/>
                    </a:ext>
                  </a:extLst>
                </a:gridCol>
                <a:gridCol w="1616692">
                  <a:extLst>
                    <a:ext uri="{9D8B030D-6E8A-4147-A177-3AD203B41FA5}">
                      <a16:colId xmlns:a16="http://schemas.microsoft.com/office/drawing/2014/main" val="3548998886"/>
                    </a:ext>
                  </a:extLst>
                </a:gridCol>
                <a:gridCol w="1374187">
                  <a:extLst>
                    <a:ext uri="{9D8B030D-6E8A-4147-A177-3AD203B41FA5}">
                      <a16:colId xmlns:a16="http://schemas.microsoft.com/office/drawing/2014/main" val="2905452381"/>
                    </a:ext>
                  </a:extLst>
                </a:gridCol>
                <a:gridCol w="614387">
                  <a:extLst>
                    <a:ext uri="{9D8B030D-6E8A-4147-A177-3AD203B41FA5}">
                      <a16:colId xmlns:a16="http://schemas.microsoft.com/office/drawing/2014/main" val="226111356"/>
                    </a:ext>
                  </a:extLst>
                </a:gridCol>
                <a:gridCol w="956849">
                  <a:extLst>
                    <a:ext uri="{9D8B030D-6E8A-4147-A177-3AD203B41FA5}">
                      <a16:colId xmlns:a16="http://schemas.microsoft.com/office/drawing/2014/main" val="3898385406"/>
                    </a:ext>
                  </a:extLst>
                </a:gridCol>
                <a:gridCol w="795857">
                  <a:extLst>
                    <a:ext uri="{9D8B030D-6E8A-4147-A177-3AD203B41FA5}">
                      <a16:colId xmlns:a16="http://schemas.microsoft.com/office/drawing/2014/main" val="3500230441"/>
                    </a:ext>
                  </a:extLst>
                </a:gridCol>
              </a:tblGrid>
              <a:tr h="545225"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Type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Setup Number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Notes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 Number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Operation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Tool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Position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RPM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Feed</a:t>
                      </a:r>
                    </a:p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 [mm/min]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Depth [mm] 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282807"/>
                  </a:ext>
                </a:extLst>
              </a:tr>
              <a:tr h="31018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1" i="0" u="none" strike="noStrike">
                          <a:solidFill>
                            <a:srgbClr val="102B51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en-GB" sz="1300" b="1" i="0" u="none" strike="noStrike" err="1">
                          <a:solidFill>
                            <a:srgbClr val="102B51"/>
                          </a:solidFill>
                          <a:effectLst/>
                          <a:latin typeface="Calibri" panose="020F0502020204030204" pitchFamily="34" charset="0"/>
                        </a:rPr>
                        <a:t>etup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1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Top face up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-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4088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Coolant activated for chip evacuation                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1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(Blind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3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35.0, 5.0, 20.0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extLst>
                  <a:ext uri="{0D108BD9-81ED-4DB2-BD59-A6C34878D82A}">
                    <a16:rowId xmlns:a16="http://schemas.microsoft.com/office/drawing/2014/main" val="3501395785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 Coolant activated for chip evacuation                    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2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(Blind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3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35.0, -5.0,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39506"/>
                  </a:ext>
                </a:extLst>
              </a:tr>
              <a:tr h="48684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Coolant activated for chip evacuation.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3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(Blind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3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30.0, 0.0, 20.0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extLst>
                  <a:ext uri="{0D108BD9-81ED-4DB2-BD59-A6C34878D82A}">
                    <a16:rowId xmlns:a16="http://schemas.microsoft.com/office/drawing/2014/main" val="2004245459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Coolant activated for chip evacuation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4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(Blind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3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40.0, 5.0, 20.0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33329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Single pass within limits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5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(Through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10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35.0, 35.0, 20.0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20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extLst>
                  <a:ext uri="{0D108BD9-81ED-4DB2-BD59-A6C34878D82A}">
                    <a16:rowId xmlns:a16="http://schemas.microsoft.com/office/drawing/2014/main" val="1723333636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Single pass within limits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6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(Through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10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35.0, -35.0,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20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93546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Single pass within limits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7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(Through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10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-35.0, 35.0, 20.0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20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extLst>
                  <a:ext uri="{0D108BD9-81ED-4DB2-BD59-A6C34878D82A}">
                    <a16:rowId xmlns:a16="http://schemas.microsoft.com/office/drawing/2014/main" val="3975839276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Single pass within limits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8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(Through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10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-35.0, -35.0,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20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7858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Single pass within limits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9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Drilling (Through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Twist Drill, ø 5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0.0, 0.0, 20.0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20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/>
                </a:tc>
                <a:extLst>
                  <a:ext uri="{0D108BD9-81ED-4DB2-BD59-A6C34878D82A}">
                    <a16:rowId xmlns:a16="http://schemas.microsoft.com/office/drawing/2014/main" val="2734755319"/>
                  </a:ext>
                </a:extLst>
              </a:tr>
              <a:tr h="37411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u="none" strike="noStrike">
                          <a:effectLst/>
                        </a:rPr>
                        <a:t>Coolant activated for chip evacuation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10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Pocket Milling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1" u="none" strike="noStrike">
                          <a:solidFill>
                            <a:srgbClr val="102B51"/>
                          </a:solidFill>
                          <a:effectLst/>
                        </a:rPr>
                        <a:t>End Mill, ø 20</a:t>
                      </a:r>
                      <a:endParaRPr lang="en-GB" sz="13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0.0, 0.0, 20.0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7500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150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u="none" strike="noStrike">
                          <a:effectLst/>
                        </a:rPr>
                        <a:t>10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2" marR="7202" marT="7202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6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142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720EA-5E4D-4C24-4C10-B4C20286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48CFC1C-A3C6-5716-AD4E-1210D9AC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Result – JSON Dictionary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B0E529-1874-9F65-6A19-61CD2357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25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9F61E714-4383-52FA-5B46-2CDF54B8D3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4D6B6D42-465D-F286-0D2C-975C406B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fine">
            <a:hlinkClick r:id="" action="ppaction://media"/>
            <a:extLst>
              <a:ext uri="{FF2B5EF4-FFF2-40B4-BE49-F238E27FC236}">
                <a16:creationId xmlns:a16="http://schemas.microsoft.com/office/drawing/2014/main" id="{46E9124E-E572-1D00-F110-3AC8C6B5CA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16692" t="4163" r="19420" b="4163"/>
          <a:stretch>
            <a:fillRect/>
          </a:stretch>
        </p:blipFill>
        <p:spPr>
          <a:xfrm>
            <a:off x="5440099" y="1335891"/>
            <a:ext cx="5757673" cy="4647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04AB65-16FB-6F5A-B8A8-91B48DB7246D}"/>
              </a:ext>
            </a:extLst>
          </p:cNvPr>
          <p:cNvSpPr txBox="1"/>
          <p:nvPr/>
        </p:nvSpPr>
        <p:spPr>
          <a:xfrm>
            <a:off x="6821570" y="6010123"/>
            <a:ext cx="343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/>
              <a:t>Simulation performed with </a:t>
            </a:r>
            <a:r>
              <a:rPr lang="en-GB" sz="1400" i="1" err="1"/>
              <a:t>CAMotics</a:t>
            </a:r>
            <a:r>
              <a:rPr lang="en-GB" sz="1400" i="1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1FFFFD-460E-C11F-8BA1-58D0D31FA80B}"/>
              </a:ext>
            </a:extLst>
          </p:cNvPr>
          <p:cNvSpPr txBox="1"/>
          <p:nvPr/>
        </p:nvSpPr>
        <p:spPr>
          <a:xfrm>
            <a:off x="1058118" y="1665084"/>
            <a:ext cx="352552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>
                <a:solidFill>
                  <a:srgbClr val="102B51"/>
                </a:solidFill>
              </a:rPr>
              <a:t>(--- Setup 1 ---)</a:t>
            </a:r>
          </a:p>
          <a:p>
            <a:r>
              <a:rPr lang="en-GB" sz="1400"/>
              <a:t>(Orientation: Top face up)</a:t>
            </a:r>
            <a:endParaRPr lang="en-GB" sz="1400" i="1"/>
          </a:p>
          <a:p>
            <a:r>
              <a:rPr lang="en-GB" sz="1400" i="1"/>
              <a:t>G21 G90 G17</a:t>
            </a:r>
          </a:p>
          <a:p>
            <a:r>
              <a:rPr lang="en-GB" sz="1400" i="1"/>
              <a:t>T2 M6 (change to </a:t>
            </a:r>
            <a:r>
              <a:rPr lang="en-GB" sz="1400"/>
              <a:t>['twist drill', 3])</a:t>
            </a:r>
          </a:p>
          <a:p>
            <a:r>
              <a:rPr lang="en-GB" sz="1400" b="1">
                <a:solidFill>
                  <a:srgbClr val="102B51"/>
                </a:solidFill>
              </a:rPr>
              <a:t>(Step 1: Drilling (Blind Hole)</a:t>
            </a:r>
          </a:p>
          <a:p>
            <a:r>
              <a:rPr lang="en-GB" sz="1400"/>
              <a:t>S6000 M3</a:t>
            </a:r>
          </a:p>
          <a:p>
            <a:r>
              <a:rPr lang="en-GB" sz="1400"/>
              <a:t>G0 Z10.</a:t>
            </a:r>
          </a:p>
          <a:p>
            <a:r>
              <a:rPr lang="en-GB" sz="1400"/>
              <a:t>G0 X35.00 Y5.00</a:t>
            </a:r>
          </a:p>
          <a:p>
            <a:r>
              <a:rPr lang="en-GB" sz="1400"/>
              <a:t>M8 (Coolant on)</a:t>
            </a:r>
          </a:p>
          <a:p>
            <a:r>
              <a:rPr lang="en-GB" sz="1400"/>
              <a:t>G1 Z-5.0 F100 (Plunge to depth)</a:t>
            </a:r>
          </a:p>
          <a:p>
            <a:r>
              <a:rPr lang="en-GB" sz="1400"/>
              <a:t>G0 Z10.0 (Retract)</a:t>
            </a:r>
          </a:p>
          <a:p>
            <a:r>
              <a:rPr lang="en-GB" sz="1400"/>
              <a:t>G4 P1 (Pause before next operation)</a:t>
            </a:r>
          </a:p>
          <a:p>
            <a:r>
              <a:rPr lang="en-GB" sz="1400"/>
              <a:t>……..</a:t>
            </a:r>
          </a:p>
          <a:p>
            <a:r>
              <a:rPr lang="en-GB" sz="1400"/>
              <a:t>……..</a:t>
            </a:r>
          </a:p>
          <a:p>
            <a:r>
              <a:rPr lang="en-GB" sz="1400"/>
              <a:t>G21 G90 G17</a:t>
            </a:r>
          </a:p>
          <a:p>
            <a:r>
              <a:rPr lang="en-GB" sz="1400"/>
              <a:t>T44 M6 (change to ['end mill', 20])</a:t>
            </a:r>
          </a:p>
          <a:p>
            <a:r>
              <a:rPr lang="en-GB" sz="1400" b="1">
                <a:solidFill>
                  <a:srgbClr val="102B51"/>
                </a:solidFill>
              </a:rPr>
              <a:t>(Step 10: Pocket Milling)</a:t>
            </a:r>
          </a:p>
          <a:p>
            <a:r>
              <a:rPr lang="en-GB" sz="1400"/>
              <a:t>S7500 M3</a:t>
            </a:r>
          </a:p>
          <a:p>
            <a:r>
              <a:rPr lang="en-GB" sz="1400"/>
              <a:t>……. </a:t>
            </a:r>
          </a:p>
          <a:p>
            <a:r>
              <a:rPr lang="en-GB" sz="1400"/>
              <a:t>M30</a:t>
            </a:r>
          </a:p>
          <a:p>
            <a:endParaRPr lang="en-GB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D90536-D581-082F-4B63-29A650C443BF}"/>
              </a:ext>
            </a:extLst>
          </p:cNvPr>
          <p:cNvSpPr txBox="1"/>
          <p:nvPr/>
        </p:nvSpPr>
        <p:spPr>
          <a:xfrm>
            <a:off x="634221" y="1247347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>
                <a:solidFill>
                  <a:srgbClr val="102B51"/>
                </a:solidFill>
              </a:rPr>
              <a:t>G-Code</a:t>
            </a:r>
            <a:endParaRPr lang="en-GB" sz="2000" b="1">
              <a:solidFill>
                <a:srgbClr val="102B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27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5426C-9A21-C12F-4011-EE2EB63D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940209D-E19B-0E98-7A9E-5AFDB40F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Comment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7D3781-6B14-7E7A-6822-9A53D1EC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26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F479F7B9-7571-D7E3-A841-7AEBE8CA60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A37E10C5-C443-B491-922D-9E80F3C8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B2BD4A-EDFB-8B6B-6C56-DA3619FA6D46}"/>
              </a:ext>
            </a:extLst>
          </p:cNvPr>
          <p:cNvSpPr txBox="1"/>
          <p:nvPr/>
        </p:nvSpPr>
        <p:spPr>
          <a:xfrm>
            <a:off x="415100" y="1113170"/>
            <a:ext cx="108498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>
                <a:solidFill>
                  <a:schemeClr val="tx2"/>
                </a:solidFill>
              </a:rPr>
              <a:t>LLM Reliability &amp; Helpfulness</a:t>
            </a:r>
          </a:p>
          <a:p>
            <a:pPr>
              <a:buNone/>
            </a:pPr>
            <a:endParaRPr lang="en-GB" sz="1000" b="1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Fast first draft:</a:t>
            </a:r>
            <a:r>
              <a:rPr lang="en-GB" sz="1600">
                <a:solidFill>
                  <a:schemeClr val="tx2"/>
                </a:solidFill>
              </a:rPr>
              <a:t> </a:t>
            </a:r>
            <a:r>
              <a:rPr lang="en-GB" sz="1600"/>
              <a:t>Quickly generates a process plan from both JSON-structured and free-text descriptions.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5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Structured-input advantage</a:t>
            </a:r>
            <a:r>
              <a:rPr lang="en-GB" sz="1600" b="1"/>
              <a:t>:</a:t>
            </a:r>
            <a:r>
              <a:rPr lang="en-GB" sz="1600"/>
              <a:t> With JSON (explicit coordinates), the model is generally consistent and on-spec. In this   case, G-code can be generated </a:t>
            </a:r>
            <a:r>
              <a:rPr lang="en-GB" sz="1600" b="1">
                <a:solidFill>
                  <a:schemeClr val="tx2"/>
                </a:solidFill>
              </a:rPr>
              <a:t>automatically from  the LLM output without user intervention</a:t>
            </a:r>
            <a:r>
              <a:rPr lang="en-GB" sz="1600">
                <a:solidFill>
                  <a:schemeClr val="tx2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5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Simple features = good:</a:t>
            </a:r>
            <a:r>
              <a:rPr lang="en-GB" sz="1600">
                <a:solidFill>
                  <a:schemeClr val="tx2"/>
                </a:solidFill>
              </a:rPr>
              <a:t> </a:t>
            </a:r>
            <a:r>
              <a:rPr lang="en-GB" sz="1600"/>
              <a:t>Pocketing, contouring and basic drilling are usually correct.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5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Context-dependent setups = weak:</a:t>
            </a:r>
            <a:r>
              <a:rPr lang="en-GB" sz="1600">
                <a:solidFill>
                  <a:schemeClr val="tx2"/>
                </a:solidFill>
              </a:rPr>
              <a:t> </a:t>
            </a:r>
            <a:r>
              <a:rPr lang="en-GB" sz="1600"/>
              <a:t>Struggles with operations that depend on part orientation, e.g. chamfering edges that are blocked by the table.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5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4C768A-5895-FACA-FA42-6D6577F68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949459"/>
              </p:ext>
            </p:extLst>
          </p:nvPr>
        </p:nvGraphicFramePr>
        <p:xfrm>
          <a:off x="504001" y="3607871"/>
          <a:ext cx="10671998" cy="2717913"/>
        </p:xfrm>
        <a:graphic>
          <a:graphicData uri="http://schemas.openxmlformats.org/drawingml/2006/table">
            <a:tbl>
              <a:tblPr/>
              <a:tblGrid>
                <a:gridCol w="3065348">
                  <a:extLst>
                    <a:ext uri="{9D8B030D-6E8A-4147-A177-3AD203B41FA5}">
                      <a16:colId xmlns:a16="http://schemas.microsoft.com/office/drawing/2014/main" val="3304130857"/>
                    </a:ext>
                  </a:extLst>
                </a:gridCol>
                <a:gridCol w="4209255">
                  <a:extLst>
                    <a:ext uri="{9D8B030D-6E8A-4147-A177-3AD203B41FA5}">
                      <a16:colId xmlns:a16="http://schemas.microsoft.com/office/drawing/2014/main" val="1925909500"/>
                    </a:ext>
                  </a:extLst>
                </a:gridCol>
                <a:gridCol w="3397395">
                  <a:extLst>
                    <a:ext uri="{9D8B030D-6E8A-4147-A177-3AD203B41FA5}">
                      <a16:colId xmlns:a16="http://schemas.microsoft.com/office/drawing/2014/main" val="610052785"/>
                    </a:ext>
                  </a:extLst>
                </a:gridCol>
              </a:tblGrid>
              <a:tr h="263664">
                <a:tc>
                  <a:txBody>
                    <a:bodyPr/>
                    <a:lstStyle/>
                    <a:p>
                      <a:endParaRPr lang="en-GB" sz="16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chemeClr val="tx2"/>
                          </a:solidFill>
                        </a:rPr>
                        <a:t>Typical LLM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chemeClr val="tx2"/>
                          </a:solidFill>
                        </a:rPr>
                        <a:t>Human intervention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940032"/>
                  </a:ext>
                </a:extLst>
              </a:tr>
              <a:tr h="545380">
                <a:tc>
                  <a:txBody>
                    <a:bodyPr/>
                    <a:lstStyle/>
                    <a:p>
                      <a:r>
                        <a:rPr lang="en-GB" sz="1800" b="1">
                          <a:solidFill>
                            <a:schemeClr val="tx2"/>
                          </a:solidFill>
                        </a:rPr>
                        <a:t>Chamfering on all edges</a:t>
                      </a:r>
                      <a:endParaRPr lang="en-GB" sz="18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Places every edge in a single setup, ignoring that the lower face is inaccessible.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Split into two setups and re-assign tools.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994277"/>
                  </a:ext>
                </a:extLst>
              </a:tr>
              <a:tr h="802721">
                <a:tc>
                  <a:txBody>
                    <a:bodyPr/>
                    <a:lstStyle/>
                    <a:p>
                      <a:r>
                        <a:rPr lang="en-GB" sz="1800" b="1">
                          <a:solidFill>
                            <a:schemeClr val="tx2"/>
                          </a:solidFill>
                        </a:rPr>
                        <a:t>Multiple holes requested</a:t>
                      </a:r>
                      <a:endParaRPr lang="en-GB" sz="18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Generates one composite “Drill 4 holes” op instead of four separate ops.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Duplicate &amp; locate individual drilling cycles.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293019"/>
                  </a:ext>
                </a:extLst>
              </a:tr>
              <a:tr h="665512">
                <a:tc>
                  <a:txBody>
                    <a:bodyPr/>
                    <a:lstStyle/>
                    <a:p>
                      <a:r>
                        <a:rPr lang="en-GB" sz="1800" b="1">
                          <a:solidFill>
                            <a:schemeClr val="tx2"/>
                          </a:solidFill>
                        </a:rPr>
                        <a:t>Complex multi-feature part</a:t>
                      </a:r>
                      <a:endParaRPr lang="en-GB" sz="18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Misses at least one feature; position lines in the prompt appear to be “ignored”.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Prompt split in two + manual merge of the plans.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148672"/>
                  </a:ext>
                </a:extLst>
              </a:tr>
              <a:tr h="263664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012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672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5ECE7-38C3-8F96-D067-607228C75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5012063C-E186-B9BB-5BE7-81B42781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Comment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2677FE-74E5-51BD-D3E1-A0DAB253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27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37F1EA2B-223E-BFA9-D609-865313C984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E0E56171-32DA-028B-3F0F-39269ADD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14E63-DF62-1648-2110-D6C3E175BDF0}"/>
              </a:ext>
            </a:extLst>
          </p:cNvPr>
          <p:cNvSpPr txBox="1"/>
          <p:nvPr/>
        </p:nvSpPr>
        <p:spPr>
          <a:xfrm>
            <a:off x="614680" y="1292780"/>
            <a:ext cx="1062228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>
                <a:solidFill>
                  <a:schemeClr val="tx2"/>
                </a:solidFill>
              </a:rPr>
              <a:t>Root Causes &amp; Additional Observations</a:t>
            </a:r>
          </a:p>
          <a:p>
            <a:pPr>
              <a:buNone/>
            </a:pPr>
            <a:endParaRPr lang="en-GB" b="1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  </a:t>
            </a:r>
            <a:r>
              <a:rPr lang="en-GB" b="1">
                <a:solidFill>
                  <a:schemeClr val="tx2"/>
                </a:solidFill>
              </a:rPr>
              <a:t>Token dilution:</a:t>
            </a:r>
            <a:r>
              <a:rPr lang="en-GB">
                <a:solidFill>
                  <a:schemeClr val="tx2"/>
                </a:solidFill>
              </a:rPr>
              <a:t> </a:t>
            </a:r>
          </a:p>
          <a:p>
            <a:r>
              <a:rPr lang="en-GB" sz="1600">
                <a:solidFill>
                  <a:schemeClr val="tx2"/>
                </a:solidFill>
              </a:rPr>
              <a:t>    </a:t>
            </a:r>
            <a:r>
              <a:rPr lang="en-GB" sz="1600"/>
              <a:t>Long prompts force the LLM to prioritise higher-probability tokens; low-salience details (exact positions) get dropped.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8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  </a:t>
            </a:r>
            <a:r>
              <a:rPr lang="en-GB" b="1">
                <a:solidFill>
                  <a:schemeClr val="tx2"/>
                </a:solidFill>
              </a:rPr>
              <a:t>No geometric reasoning:</a:t>
            </a:r>
            <a:r>
              <a:rPr lang="en-GB">
                <a:solidFill>
                  <a:schemeClr val="tx2"/>
                </a:solidFill>
              </a:rPr>
              <a:t> </a:t>
            </a:r>
          </a:p>
          <a:p>
            <a:r>
              <a:rPr lang="en-GB" sz="1600">
                <a:solidFill>
                  <a:schemeClr val="tx2"/>
                </a:solidFill>
              </a:rPr>
              <a:t>    </a:t>
            </a:r>
            <a:r>
              <a:rPr lang="en-GB" sz="1600"/>
              <a:t>The model lacks awareness of collisions, fixtures, or tool reach → cannot autogenerate alternative setups.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8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  </a:t>
            </a:r>
            <a:r>
              <a:rPr lang="en-GB" b="1">
                <a:solidFill>
                  <a:schemeClr val="tx2"/>
                </a:solidFill>
              </a:rPr>
              <a:t>Sequential prompting trade-off</a:t>
            </a:r>
            <a:r>
              <a:rPr lang="en-GB" sz="1600" b="1">
                <a:solidFill>
                  <a:schemeClr val="tx2"/>
                </a:solidFill>
              </a:rPr>
              <a:t>:</a:t>
            </a:r>
          </a:p>
          <a:p>
            <a:r>
              <a:rPr lang="en-GB" sz="1600" b="1">
                <a:solidFill>
                  <a:schemeClr val="tx2"/>
                </a:solidFill>
              </a:rPr>
              <a:t>  </a:t>
            </a:r>
            <a:r>
              <a:rPr lang="en-GB" sz="1600">
                <a:solidFill>
                  <a:schemeClr val="tx2"/>
                </a:solidFill>
              </a:rPr>
              <a:t> </a:t>
            </a:r>
            <a:r>
              <a:rPr lang="en-GB" sz="1600"/>
              <a:t>Splitting prompts improves local accuracy but destroys the global optimisation of toolpaths and setups.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8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  </a:t>
            </a:r>
            <a:r>
              <a:rPr lang="en-GB" b="1">
                <a:solidFill>
                  <a:schemeClr val="tx2"/>
                </a:solidFill>
              </a:rPr>
              <a:t>Text vs. numbers</a:t>
            </a:r>
            <a:r>
              <a:rPr lang="en-GB" b="1"/>
              <a:t>:</a:t>
            </a:r>
          </a:p>
          <a:p>
            <a:r>
              <a:rPr lang="en-GB" sz="1600" b="1"/>
              <a:t>   </a:t>
            </a:r>
            <a:r>
              <a:rPr lang="en-GB" sz="1600"/>
              <a:t> Free-language location phrases (“10 mm from the left”) are ambiguous; explicit XYZ in JSON works far better.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8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  </a:t>
            </a:r>
            <a:r>
              <a:rPr lang="en-GB" b="1">
                <a:solidFill>
                  <a:schemeClr val="tx2"/>
                </a:solidFill>
              </a:rPr>
              <a:t>Post-processing still mandatory:</a:t>
            </a:r>
            <a:r>
              <a:rPr lang="en-GB">
                <a:solidFill>
                  <a:schemeClr val="tx2"/>
                </a:solidFill>
              </a:rPr>
              <a:t> </a:t>
            </a:r>
          </a:p>
          <a:p>
            <a:r>
              <a:rPr lang="en-GB" sz="1600">
                <a:solidFill>
                  <a:schemeClr val="tx2"/>
                </a:solidFill>
              </a:rPr>
              <a:t>    </a:t>
            </a:r>
            <a:r>
              <a:rPr lang="en-GB" sz="1600"/>
              <a:t>Even on its best day, the model outputs G-code that needs a 2-minute sanity pass and occasional hand-fixes.</a:t>
            </a:r>
          </a:p>
          <a:p>
            <a:endParaRPr lang="en-GB" sz="800"/>
          </a:p>
          <a:p>
            <a:pPr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tx2"/>
                </a:solidFill>
              </a:rPr>
              <a:t> Conclusion:</a:t>
            </a:r>
            <a:endParaRPr lang="en-GB">
              <a:solidFill>
                <a:schemeClr val="tx2"/>
              </a:solidFill>
            </a:endParaRPr>
          </a:p>
          <a:p>
            <a:r>
              <a:rPr lang="en-GB" sz="1600">
                <a:solidFill>
                  <a:schemeClr val="tx2"/>
                </a:solidFill>
              </a:rPr>
              <a:t>    V</a:t>
            </a:r>
            <a:r>
              <a:rPr lang="en-GB" sz="1600"/>
              <a:t>aluable as a productivity booster, but not production-ready without checks.</a:t>
            </a:r>
          </a:p>
        </p:txBody>
      </p:sp>
    </p:spTree>
    <p:extLst>
      <p:ext uri="{BB962C8B-B14F-4D97-AF65-F5344CB8AC3E}">
        <p14:creationId xmlns:p14="http://schemas.microsoft.com/office/powerpoint/2010/main" val="1539142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915F-45EF-8627-FD9C-0AE2D25B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7901C330-7939-CD08-9926-5831CFD22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75" y="3989527"/>
            <a:ext cx="10297220" cy="1979441"/>
          </a:xfrm>
        </p:spPr>
        <p:txBody>
          <a:bodyPr>
            <a:normAutofit/>
          </a:bodyPr>
          <a:lstStyle/>
          <a:p>
            <a:r>
              <a:rPr lang="en-US" sz="2400" noProof="0"/>
              <a:t>Machine Learning for Mechanical Systems</a:t>
            </a:r>
            <a:br>
              <a:rPr lang="en-US" noProof="0"/>
            </a:br>
            <a:r>
              <a:rPr lang="en-US" sz="2400" noProof="0"/>
              <a:t>Professor: Loris </a:t>
            </a:r>
            <a:r>
              <a:rPr lang="en-US" sz="2400" noProof="0" err="1"/>
              <a:t>Roveda</a:t>
            </a:r>
            <a:br>
              <a:rPr lang="en-US" noProof="0"/>
            </a:br>
            <a:endParaRPr lang="en-US" noProof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FDDD251-6D02-97AC-0B84-4FC2188CB5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3375" y="5929933"/>
            <a:ext cx="4568933" cy="389844"/>
          </a:xfrm>
        </p:spPr>
        <p:txBody>
          <a:bodyPr vert="horz" lIns="45719" tIns="45719" rIns="45719" bIns="45719" rtlCol="0" anchor="t">
            <a:noAutofit/>
          </a:bodyPr>
          <a:lstStyle/>
          <a:p>
            <a:r>
              <a:rPr lang="en-US" sz="2400" noProof="0">
                <a:latin typeface="Manrope"/>
              </a:rPr>
              <a:t>09.06.2025 | Bellini, Biraghi, Boccia</a:t>
            </a:r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71E367E1-04DF-7FBD-4FD0-A4DEBE80DB65}"/>
              </a:ext>
            </a:extLst>
          </p:cNvPr>
          <p:cNvSpPr txBox="1">
            <a:spLocks/>
          </p:cNvSpPr>
          <p:nvPr/>
        </p:nvSpPr>
        <p:spPr>
          <a:xfrm>
            <a:off x="2030609" y="991508"/>
            <a:ext cx="10297220" cy="1979441"/>
          </a:xfrm>
          <a:prstGeom prst="rect">
            <a:avLst/>
          </a:prstGeom>
        </p:spPr>
        <p:txBody>
          <a:bodyPr vert="horz" lIns="0" tIns="360000" rIns="0" bIns="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endParaRPr lang="en-US" noProof="0"/>
          </a:p>
        </p:txBody>
      </p:sp>
      <p:sp>
        <p:nvSpPr>
          <p:cNvPr id="5" name="Titolo 2">
            <a:extLst>
              <a:ext uri="{FF2B5EF4-FFF2-40B4-BE49-F238E27FC236}">
                <a16:creationId xmlns:a16="http://schemas.microsoft.com/office/drawing/2014/main" id="{450FDBBA-7A2C-9205-1098-147093D4643F}"/>
              </a:ext>
            </a:extLst>
          </p:cNvPr>
          <p:cNvSpPr txBox="1">
            <a:spLocks/>
          </p:cNvSpPr>
          <p:nvPr/>
        </p:nvSpPr>
        <p:spPr>
          <a:xfrm>
            <a:off x="1601164" y="1449559"/>
            <a:ext cx="8560227" cy="1979441"/>
          </a:xfrm>
          <a:prstGeom prst="rect">
            <a:avLst/>
          </a:prstGeom>
        </p:spPr>
        <p:txBody>
          <a:bodyPr vert="horz" lIns="0" tIns="36000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noProof="0"/>
              <a:t>Thanks for your attention</a:t>
            </a:r>
            <a:endParaRPr lang="en-US" sz="4300" noProof="0"/>
          </a:p>
        </p:txBody>
      </p:sp>
    </p:spTree>
    <p:extLst>
      <p:ext uri="{BB962C8B-B14F-4D97-AF65-F5344CB8AC3E}">
        <p14:creationId xmlns:p14="http://schemas.microsoft.com/office/powerpoint/2010/main" val="4019491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E32FE-7F2B-9AB7-C365-8BAB7847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22D8795A-3994-87C5-C3FA-FA4681B8C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20" y="285462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Comments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1EB997-1EA8-78EC-6774-3EFA7BD0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29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DDD1E8D5-ABC7-0403-0E79-CA8D73A800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518B7C2B-DCF7-2B9B-C4CD-14B17537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93E3A0-42D9-7CF3-1478-BC04F2FBD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274259"/>
              </p:ext>
            </p:extLst>
          </p:nvPr>
        </p:nvGraphicFramePr>
        <p:xfrm>
          <a:off x="417662" y="1125545"/>
          <a:ext cx="11409818" cy="494622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82183">
                  <a:extLst>
                    <a:ext uri="{9D8B030D-6E8A-4147-A177-3AD203B41FA5}">
                      <a16:colId xmlns:a16="http://schemas.microsoft.com/office/drawing/2014/main" val="3751594837"/>
                    </a:ext>
                  </a:extLst>
                </a:gridCol>
                <a:gridCol w="822032">
                  <a:extLst>
                    <a:ext uri="{9D8B030D-6E8A-4147-A177-3AD203B41FA5}">
                      <a16:colId xmlns:a16="http://schemas.microsoft.com/office/drawing/2014/main" val="642090527"/>
                    </a:ext>
                  </a:extLst>
                </a:gridCol>
                <a:gridCol w="2313675">
                  <a:extLst>
                    <a:ext uri="{9D8B030D-6E8A-4147-A177-3AD203B41FA5}">
                      <a16:colId xmlns:a16="http://schemas.microsoft.com/office/drawing/2014/main" val="2278246911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68771425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867656985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3548998886"/>
                    </a:ext>
                  </a:extLst>
                </a:gridCol>
                <a:gridCol w="1377696">
                  <a:extLst>
                    <a:ext uri="{9D8B030D-6E8A-4147-A177-3AD203B41FA5}">
                      <a16:colId xmlns:a16="http://schemas.microsoft.com/office/drawing/2014/main" val="2905452381"/>
                    </a:ext>
                  </a:extLst>
                </a:gridCol>
                <a:gridCol w="719328">
                  <a:extLst>
                    <a:ext uri="{9D8B030D-6E8A-4147-A177-3AD203B41FA5}">
                      <a16:colId xmlns:a16="http://schemas.microsoft.com/office/drawing/2014/main" val="226111356"/>
                    </a:ext>
                  </a:extLst>
                </a:gridCol>
                <a:gridCol w="739771">
                  <a:extLst>
                    <a:ext uri="{9D8B030D-6E8A-4147-A177-3AD203B41FA5}">
                      <a16:colId xmlns:a16="http://schemas.microsoft.com/office/drawing/2014/main" val="3898385406"/>
                    </a:ext>
                  </a:extLst>
                </a:gridCol>
                <a:gridCol w="822045">
                  <a:extLst>
                    <a:ext uri="{9D8B030D-6E8A-4147-A177-3AD203B41FA5}">
                      <a16:colId xmlns:a16="http://schemas.microsoft.com/office/drawing/2014/main" val="3500230441"/>
                    </a:ext>
                  </a:extLst>
                </a:gridCol>
              </a:tblGrid>
              <a:tr h="352473"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Type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Setup number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Notes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Step number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Operation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Tool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Position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RPM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Feed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rgbClr val="102B51"/>
                          </a:solidFill>
                          <a:effectLst/>
                        </a:rPr>
                        <a:t>Depth</a:t>
                      </a:r>
                      <a:endParaRPr lang="en-GB" sz="1400" b="1" i="0" u="none" strike="noStrike">
                        <a:solidFill>
                          <a:srgbClr val="102B5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282807"/>
                  </a:ext>
                </a:extLst>
              </a:tr>
              <a:tr h="16465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Setup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Top face up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4088"/>
                  </a:ext>
                </a:extLst>
              </a:tr>
              <a:tr h="65298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Step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Initial face milling to achieve flatness within 0.05 mm over the entire area.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Face Milling</a:t>
                      </a:r>
                      <a:endParaRPr lang="en-GB" sz="13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Face Mill Cutter, ø 50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Top Face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8000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extLst>
                  <a:ext uri="{0D108BD9-81ED-4DB2-BD59-A6C34878D82A}">
                    <a16:rowId xmlns:a16="http://schemas.microsoft.com/office/drawing/2014/main" val="3501395785"/>
                  </a:ext>
                </a:extLst>
              </a:tr>
              <a:tr h="49020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Step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Machining the central pocket, single pass within depth limit.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2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Pocket Milling</a:t>
                      </a:r>
                      <a:endParaRPr lang="en-GB" sz="13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End Mill, ø 10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Central pocket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7500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8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39506"/>
                  </a:ext>
                </a:extLst>
              </a:tr>
              <a:tr h="49020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Step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Blind holes for threaded inserts, single pass within depth limit.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3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Drilling (Blind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Twist Drill, ø 10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Four M12 threaded inserts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50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22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extLst>
                  <a:ext uri="{0D108BD9-81ED-4DB2-BD59-A6C34878D82A}">
                    <a16:rowId xmlns:a16="http://schemas.microsoft.com/office/drawing/2014/main" val="2004245459"/>
                  </a:ext>
                </a:extLst>
              </a:tr>
              <a:tr h="49020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Step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Through holes for dowel pins, single pass within depth limit.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4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Drilling (Through Hole)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Twist Drill, ø 6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Six through-holes for dowel pins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6000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50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25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33329"/>
                  </a:ext>
                </a:extLst>
              </a:tr>
              <a:tr h="46825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Step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Shallow pocket for identification recess, within depth limit.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Pocket Milling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End Mill, ø 10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Identification recess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7500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0.5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extLst>
                  <a:ext uri="{0D108BD9-81ED-4DB2-BD59-A6C34878D82A}">
                    <a16:rowId xmlns:a16="http://schemas.microsoft.com/office/drawing/2014/main" val="1723333636"/>
                  </a:ext>
                </a:extLst>
              </a:tr>
              <a:tr h="46211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Step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Machining cable-pass channels, single pass within depth limit.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6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Slot Milling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End Mill, ø 15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Two cable-pass channels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7000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6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93546"/>
                  </a:ext>
                </a:extLst>
              </a:tr>
              <a:tr h="16465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Setup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2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Bottom face up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-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839276"/>
                  </a:ext>
                </a:extLst>
              </a:tr>
              <a:tr h="49020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Step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2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Counterbore depth of 5 mm, single pass within depth limit.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7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Boring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Boring Head, ø 20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Eight counterbored mounting holes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5000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50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5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7858"/>
                  </a:ext>
                </a:extLst>
              </a:tr>
              <a:tr h="5722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Step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2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Chamfering edges with a 45-degree angle, within depth limit.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8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Chamfering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Chamfer Mill, ø10</a:t>
                      </a:r>
                      <a:endParaRPr lang="en-GB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Exposed edges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10000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100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u="none" strike="noStrike">
                          <a:effectLst/>
                        </a:rPr>
                        <a:t>2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7" marR="2287" marT="2287" marB="0" anchor="ctr"/>
                </a:tc>
                <a:extLst>
                  <a:ext uri="{0D108BD9-81ED-4DB2-BD59-A6C34878D82A}">
                    <a16:rowId xmlns:a16="http://schemas.microsoft.com/office/drawing/2014/main" val="2734755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911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73DA6-DB1A-CAF0-0B47-B2B9EA5A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9FDA495F-EB56-9805-521F-C6A53D5F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21" y="361823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Comments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11D450-6858-7305-5E98-71F2558E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30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40A355A-FBB8-010A-83E8-574DDB9F92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FDD1A945-BB8F-1630-DF5F-B7EF0F4A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EA8953-ACC3-F263-1B13-C27DB978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349157"/>
              </p:ext>
            </p:extLst>
          </p:nvPr>
        </p:nvGraphicFramePr>
        <p:xfrm>
          <a:off x="550141" y="1058644"/>
          <a:ext cx="11052579" cy="291576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525196">
                  <a:extLst>
                    <a:ext uri="{9D8B030D-6E8A-4147-A177-3AD203B41FA5}">
                      <a16:colId xmlns:a16="http://schemas.microsoft.com/office/drawing/2014/main" val="3751594837"/>
                    </a:ext>
                  </a:extLst>
                </a:gridCol>
                <a:gridCol w="1058634">
                  <a:extLst>
                    <a:ext uri="{9D8B030D-6E8A-4147-A177-3AD203B41FA5}">
                      <a16:colId xmlns:a16="http://schemas.microsoft.com/office/drawing/2014/main" val="642090527"/>
                    </a:ext>
                  </a:extLst>
                </a:gridCol>
                <a:gridCol w="1797949">
                  <a:extLst>
                    <a:ext uri="{9D8B030D-6E8A-4147-A177-3AD203B41FA5}">
                      <a16:colId xmlns:a16="http://schemas.microsoft.com/office/drawing/2014/main" val="227824691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687714259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86765698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548998886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9054523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26111356"/>
                    </a:ext>
                  </a:extLst>
                </a:gridCol>
                <a:gridCol w="447040">
                  <a:extLst>
                    <a:ext uri="{9D8B030D-6E8A-4147-A177-3AD203B41FA5}">
                      <a16:colId xmlns:a16="http://schemas.microsoft.com/office/drawing/2014/main" val="3898385406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3500230441"/>
                    </a:ext>
                  </a:extLst>
                </a:gridCol>
              </a:tblGrid>
              <a:tr h="292636"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Type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Setup number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Notes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Step number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Operation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Tool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Position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RPM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Feed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Depth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282807"/>
                  </a:ext>
                </a:extLst>
              </a:tr>
              <a:tr h="24941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Setup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Top Face 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4088"/>
                  </a:ext>
                </a:extLst>
              </a:tr>
              <a:tr h="37386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Initial face milling to achieve surface finish.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Face Milling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Face Mill Cutter,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u="none" strike="noStrike">
                          <a:effectLst/>
                        </a:rPr>
                        <a:t> 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Top Face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8000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extLst>
                  <a:ext uri="{0D108BD9-81ED-4DB2-BD59-A6C34878D82A}">
                    <a16:rowId xmlns:a16="http://schemas.microsoft.com/office/drawing/2014/main" val="3501395785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Machining the pocket.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Pocket Milling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End Mill,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u="none" strike="noStrike">
                          <a:effectLst/>
                        </a:rPr>
                        <a:t> 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Central pocket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7500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80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39506"/>
                  </a:ext>
                </a:extLst>
              </a:tr>
              <a:tr h="4355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Drilling blind holes for M12 inserts.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Drilling (Blind Hole)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Twist Drill,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u="none" strike="noStrike">
                          <a:effectLst/>
                        </a:rPr>
                        <a:t>:10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Blind holes at X ±65 mm, Y ±65 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6000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extLst>
                  <a:ext uri="{0D108BD9-81ED-4DB2-BD59-A6C34878D82A}">
                    <a16:rowId xmlns:a16="http://schemas.microsoft.com/office/drawing/2014/main" val="2004245459"/>
                  </a:ext>
                </a:extLst>
              </a:tr>
              <a:tr h="42630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Drilling through-holes for dowel pins.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Drilling (Through Hole)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Twist Drill,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 </a:t>
                      </a:r>
                      <a:r>
                        <a:rPr lang="en-GB" sz="1100" u="none" strike="noStrike"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Through-holes for dowel pins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6000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33329"/>
                  </a:ext>
                </a:extLst>
              </a:tr>
              <a:tr h="32264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Setup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u="none" strike="noStrike">
                          <a:effectLst/>
                        </a:rPr>
                        <a:t>Flipped, Bottom Face up.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333636"/>
                  </a:ext>
                </a:extLst>
              </a:tr>
              <a:tr h="39414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Applying 1.5 mm chamfer around edges.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Chamfering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Chamfer Mill,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u="none" strike="noStrike">
                          <a:effectLst/>
                        </a:rPr>
                        <a:t> 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Exposed edges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10000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9354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5FEDE2-FE38-F444-F692-822F0E599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356164"/>
              </p:ext>
            </p:extLst>
          </p:nvPr>
        </p:nvGraphicFramePr>
        <p:xfrm>
          <a:off x="550143" y="4106611"/>
          <a:ext cx="10869697" cy="205949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508374">
                  <a:extLst>
                    <a:ext uri="{9D8B030D-6E8A-4147-A177-3AD203B41FA5}">
                      <a16:colId xmlns:a16="http://schemas.microsoft.com/office/drawing/2014/main" val="3751594837"/>
                    </a:ext>
                  </a:extLst>
                </a:gridCol>
                <a:gridCol w="866683">
                  <a:extLst>
                    <a:ext uri="{9D8B030D-6E8A-4147-A177-3AD203B41FA5}">
                      <a16:colId xmlns:a16="http://schemas.microsoft.com/office/drawing/2014/main" val="642090527"/>
                    </a:ext>
                  </a:extLst>
                </a:gridCol>
                <a:gridCol w="1895833">
                  <a:extLst>
                    <a:ext uri="{9D8B030D-6E8A-4147-A177-3AD203B41FA5}">
                      <a16:colId xmlns:a16="http://schemas.microsoft.com/office/drawing/2014/main" val="2278246911"/>
                    </a:ext>
                  </a:extLst>
                </a:gridCol>
                <a:gridCol w="932119">
                  <a:extLst>
                    <a:ext uri="{9D8B030D-6E8A-4147-A177-3AD203B41FA5}">
                      <a16:colId xmlns:a16="http://schemas.microsoft.com/office/drawing/2014/main" val="2687714259"/>
                    </a:ext>
                  </a:extLst>
                </a:gridCol>
                <a:gridCol w="1556208">
                  <a:extLst>
                    <a:ext uri="{9D8B030D-6E8A-4147-A177-3AD203B41FA5}">
                      <a16:colId xmlns:a16="http://schemas.microsoft.com/office/drawing/2014/main" val="2867656985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3548998886"/>
                    </a:ext>
                  </a:extLst>
                </a:gridCol>
                <a:gridCol w="2306321">
                  <a:extLst>
                    <a:ext uri="{9D8B030D-6E8A-4147-A177-3AD203B41FA5}">
                      <a16:colId xmlns:a16="http://schemas.microsoft.com/office/drawing/2014/main" val="2905452381"/>
                    </a:ext>
                  </a:extLst>
                </a:gridCol>
                <a:gridCol w="458702">
                  <a:extLst>
                    <a:ext uri="{9D8B030D-6E8A-4147-A177-3AD203B41FA5}">
                      <a16:colId xmlns:a16="http://schemas.microsoft.com/office/drawing/2014/main" val="2261113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98385406"/>
                    </a:ext>
                  </a:extLst>
                </a:gridCol>
                <a:gridCol w="445537">
                  <a:extLst>
                    <a:ext uri="{9D8B030D-6E8A-4147-A177-3AD203B41FA5}">
                      <a16:colId xmlns:a16="http://schemas.microsoft.com/office/drawing/2014/main" val="3500230441"/>
                    </a:ext>
                  </a:extLst>
                </a:gridCol>
              </a:tblGrid>
              <a:tr h="26937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Setup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Top face 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4088"/>
                  </a:ext>
                </a:extLst>
              </a:tr>
              <a:tr h="37386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Pass 1/1, dir: -Z. Shallow depth does not require coolant.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Pocket Milling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End Mill,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b="0" u="none" strike="noStrike">
                          <a:effectLst/>
                        </a:rPr>
                        <a:t> 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Identification recess at X -60 mm, Y +80 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7500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0.5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3501395785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Pass 1/1, dir: -Z. Slot depth is within limits.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Slot Milling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End Mill,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r>
                        <a:rPr lang="en-GB" sz="1100" b="0" u="none" strike="noStrike">
                          <a:effectLst/>
                        </a:rPr>
                        <a:t> 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Two cable-pass channels at X ±40 mm, running parallel to the Y-axis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7000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39506"/>
                  </a:ext>
                </a:extLst>
              </a:tr>
              <a:tr h="306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Setup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Bottom face 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245459"/>
                  </a:ext>
                </a:extLst>
              </a:tr>
              <a:tr h="42630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Pass 1/1, dir: -Z. Boring head used for counterbore.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Boring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Boring Head,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r>
                        <a:rPr lang="en-GB" sz="1100" b="0" u="none" strike="noStrike">
                          <a:effectLst/>
                        </a:rPr>
                        <a:t> 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Counterbore for mounting holes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5000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33329"/>
                  </a:ext>
                </a:extLst>
              </a:tr>
              <a:tr h="33786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Pass 1/1, dir: -Z. Depth is within limits.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Drilling (Through Hole)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Twist Drill,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r>
                        <a:rPr lang="en-GB" sz="1100" b="0" u="none" strike="noStrike">
                          <a:effectLst/>
                        </a:rPr>
                        <a:t>13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Eight counterbored mounting holes at X -80, -40, +40, +80 mm, Y ±75 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6000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1723333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31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73DA6-DB1A-CAF0-0B47-B2B9EA5A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9FDA495F-EB56-9805-521F-C6A53D5F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21" y="361823"/>
            <a:ext cx="8640000" cy="840083"/>
          </a:xfrm>
        </p:spPr>
        <p:txBody>
          <a:bodyPr/>
          <a:lstStyle/>
          <a:p>
            <a:r>
              <a:rPr lang="en-US" noProof="0">
                <a:solidFill>
                  <a:srgbClr val="102B51"/>
                </a:solidFill>
              </a:rPr>
              <a:t>Comments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11D450-6858-7305-5E98-71F2558E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31</a:t>
            </a:fld>
            <a:endParaRPr lang="en-US" noProof="0"/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40A355A-FBB8-010A-83E8-574DDB9F92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8"/>
            <a:ext cx="3009317" cy="375327"/>
          </a:xfrm>
          <a:prstGeom prst="rect">
            <a:avLst/>
          </a:prstGeom>
        </p:spPr>
      </p:pic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FDD1A945-BB8F-1630-DF5F-B7EF0F4A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EA8953-ACC3-F263-1B13-C27DB978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54705"/>
              </p:ext>
            </p:extLst>
          </p:nvPr>
        </p:nvGraphicFramePr>
        <p:xfrm>
          <a:off x="550141" y="1058645"/>
          <a:ext cx="10995683" cy="2598956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516506">
                  <a:extLst>
                    <a:ext uri="{9D8B030D-6E8A-4147-A177-3AD203B41FA5}">
                      <a16:colId xmlns:a16="http://schemas.microsoft.com/office/drawing/2014/main" val="3751594837"/>
                    </a:ext>
                  </a:extLst>
                </a:gridCol>
                <a:gridCol w="1041117">
                  <a:extLst>
                    <a:ext uri="{9D8B030D-6E8A-4147-A177-3AD203B41FA5}">
                      <a16:colId xmlns:a16="http://schemas.microsoft.com/office/drawing/2014/main" val="642090527"/>
                    </a:ext>
                  </a:extLst>
                </a:gridCol>
                <a:gridCol w="2196012">
                  <a:extLst>
                    <a:ext uri="{9D8B030D-6E8A-4147-A177-3AD203B41FA5}">
                      <a16:colId xmlns:a16="http://schemas.microsoft.com/office/drawing/2014/main" val="2278246911"/>
                    </a:ext>
                  </a:extLst>
                </a:gridCol>
                <a:gridCol w="902208">
                  <a:extLst>
                    <a:ext uri="{9D8B030D-6E8A-4147-A177-3AD203B41FA5}">
                      <a16:colId xmlns:a16="http://schemas.microsoft.com/office/drawing/2014/main" val="2687714259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867656985"/>
                    </a:ext>
                  </a:extLst>
                </a:gridCol>
                <a:gridCol w="1476116">
                  <a:extLst>
                    <a:ext uri="{9D8B030D-6E8A-4147-A177-3AD203B41FA5}">
                      <a16:colId xmlns:a16="http://schemas.microsoft.com/office/drawing/2014/main" val="3548998886"/>
                    </a:ext>
                  </a:extLst>
                </a:gridCol>
                <a:gridCol w="2151675">
                  <a:extLst>
                    <a:ext uri="{9D8B030D-6E8A-4147-A177-3AD203B41FA5}">
                      <a16:colId xmlns:a16="http://schemas.microsoft.com/office/drawing/2014/main" val="2905452381"/>
                    </a:ext>
                  </a:extLst>
                </a:gridCol>
                <a:gridCol w="421764">
                  <a:extLst>
                    <a:ext uri="{9D8B030D-6E8A-4147-A177-3AD203B41FA5}">
                      <a16:colId xmlns:a16="http://schemas.microsoft.com/office/drawing/2014/main" val="226111356"/>
                    </a:ext>
                  </a:extLst>
                </a:gridCol>
                <a:gridCol w="464513">
                  <a:extLst>
                    <a:ext uri="{9D8B030D-6E8A-4147-A177-3AD203B41FA5}">
                      <a16:colId xmlns:a16="http://schemas.microsoft.com/office/drawing/2014/main" val="3898385406"/>
                    </a:ext>
                  </a:extLst>
                </a:gridCol>
                <a:gridCol w="387116">
                  <a:extLst>
                    <a:ext uri="{9D8B030D-6E8A-4147-A177-3AD203B41FA5}">
                      <a16:colId xmlns:a16="http://schemas.microsoft.com/office/drawing/2014/main" val="3500230441"/>
                    </a:ext>
                  </a:extLst>
                </a:gridCol>
              </a:tblGrid>
              <a:tr h="3809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Type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Setup number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Notes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Step number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Operation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Tool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Position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RPM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Feed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200" b="1" u="none" strike="noStrike">
                          <a:effectLst/>
                        </a:rPr>
                        <a:t>Depth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282807"/>
                  </a:ext>
                </a:extLst>
              </a:tr>
              <a:tr h="21318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Setup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Top Face 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4088"/>
                  </a:ext>
                </a:extLst>
              </a:tr>
              <a:tr h="3496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Initial face milling to achieve surface finish.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Face Milling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Face Mill Cutter,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u="none" strike="noStrike">
                          <a:effectLst/>
                        </a:rPr>
                        <a:t> 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Top Face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8000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extLst>
                  <a:ext uri="{0D108BD9-81ED-4DB2-BD59-A6C34878D82A}">
                    <a16:rowId xmlns:a16="http://schemas.microsoft.com/office/drawing/2014/main" val="3501395785"/>
                  </a:ext>
                </a:extLst>
              </a:tr>
              <a:tr h="29309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Machining the pocket.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Pocket Milling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End Mill,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u="none" strike="noStrike">
                          <a:effectLst/>
                        </a:rPr>
                        <a:t> 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Central pocket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7500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80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39506"/>
                  </a:ext>
                </a:extLst>
              </a:tr>
              <a:tr h="37230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Drilling blind holes for M12 inserts.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Drilling (Blind Hole)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Twist Drill,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u="none" strike="noStrike">
                          <a:effectLst/>
                        </a:rPr>
                        <a:t>:10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Blind holes at X ±65 mm, Y ±65 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6000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/>
                </a:tc>
                <a:extLst>
                  <a:ext uri="{0D108BD9-81ED-4DB2-BD59-A6C34878D82A}">
                    <a16:rowId xmlns:a16="http://schemas.microsoft.com/office/drawing/2014/main" val="2004245459"/>
                  </a:ext>
                </a:extLst>
              </a:tr>
              <a:tr h="36438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Drilling through-holes for dowel pins.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Drilling (Through Hole)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Twist Drill,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 </a:t>
                      </a:r>
                      <a:r>
                        <a:rPr lang="en-GB" sz="1100" u="none" strike="noStrike"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Through-holes for dowel pins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6000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33329"/>
                  </a:ext>
                </a:extLst>
              </a:tr>
              <a:tr h="27577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Setup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u="none" strike="noStrike">
                          <a:effectLst/>
                        </a:rPr>
                        <a:t>Flipped, Bottom Face up.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333636"/>
                  </a:ext>
                </a:extLst>
              </a:tr>
              <a:tr h="34963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Applying 1.5 mm chamfer around edges.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Chamfering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Chamfer Mill,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u="none" strike="noStrike">
                          <a:effectLst/>
                        </a:rPr>
                        <a:t> 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Exposed edges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10000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56" marR="5156" marT="5156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9354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5FEDE2-FE38-F444-F692-822F0E599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52295"/>
              </p:ext>
            </p:extLst>
          </p:nvPr>
        </p:nvGraphicFramePr>
        <p:xfrm>
          <a:off x="536448" y="3890452"/>
          <a:ext cx="10994400" cy="2250095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633077">
                  <a:extLst>
                    <a:ext uri="{9D8B030D-6E8A-4147-A177-3AD203B41FA5}">
                      <a16:colId xmlns:a16="http://schemas.microsoft.com/office/drawing/2014/main" val="3751594837"/>
                    </a:ext>
                  </a:extLst>
                </a:gridCol>
                <a:gridCol w="866683">
                  <a:extLst>
                    <a:ext uri="{9D8B030D-6E8A-4147-A177-3AD203B41FA5}">
                      <a16:colId xmlns:a16="http://schemas.microsoft.com/office/drawing/2014/main" val="642090527"/>
                    </a:ext>
                  </a:extLst>
                </a:gridCol>
                <a:gridCol w="2389488">
                  <a:extLst>
                    <a:ext uri="{9D8B030D-6E8A-4147-A177-3AD203B41FA5}">
                      <a16:colId xmlns:a16="http://schemas.microsoft.com/office/drawing/2014/main" val="227824691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687714259"/>
                    </a:ext>
                  </a:extLst>
                </a:gridCol>
                <a:gridCol w="1450848">
                  <a:extLst>
                    <a:ext uri="{9D8B030D-6E8A-4147-A177-3AD203B41FA5}">
                      <a16:colId xmlns:a16="http://schemas.microsoft.com/office/drawing/2014/main" val="2867656985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3548998886"/>
                    </a:ext>
                  </a:extLst>
                </a:gridCol>
                <a:gridCol w="2208033">
                  <a:extLst>
                    <a:ext uri="{9D8B030D-6E8A-4147-A177-3AD203B41FA5}">
                      <a16:colId xmlns:a16="http://schemas.microsoft.com/office/drawing/2014/main" val="2905452381"/>
                    </a:ext>
                  </a:extLst>
                </a:gridCol>
                <a:gridCol w="458702">
                  <a:extLst>
                    <a:ext uri="{9D8B030D-6E8A-4147-A177-3AD203B41FA5}">
                      <a16:colId xmlns:a16="http://schemas.microsoft.com/office/drawing/2014/main" val="2261113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98385406"/>
                    </a:ext>
                  </a:extLst>
                </a:gridCol>
                <a:gridCol w="445537">
                  <a:extLst>
                    <a:ext uri="{9D8B030D-6E8A-4147-A177-3AD203B41FA5}">
                      <a16:colId xmlns:a16="http://schemas.microsoft.com/office/drawing/2014/main" val="3500230441"/>
                    </a:ext>
                  </a:extLst>
                </a:gridCol>
              </a:tblGrid>
              <a:tr h="33857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Setup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Top face 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4088"/>
                  </a:ext>
                </a:extLst>
              </a:tr>
              <a:tr h="35897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Pass 1/1, dir: -Z. Shallow depth does not require coolant.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Pocket Milling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End Mill,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 </a:t>
                      </a:r>
                      <a:r>
                        <a:rPr lang="en-GB" sz="1100" b="0" u="none" strike="noStrike">
                          <a:effectLst/>
                        </a:rPr>
                        <a:t> 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Identification recess at X -60 mm, Y +80 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7500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0.5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3501395785"/>
                  </a:ext>
                </a:extLst>
              </a:tr>
              <a:tr h="32924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Pass 1/1, dir: -Z. Slot depth is within limits.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Slot Milling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End Mill,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r>
                        <a:rPr lang="en-GB" sz="1100" b="0" u="none" strike="noStrike">
                          <a:effectLst/>
                        </a:rPr>
                        <a:t> 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Two cable-pass channels at X ±40 mm, running parallel to the Y-axis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7000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39506"/>
                  </a:ext>
                </a:extLst>
              </a:tr>
              <a:tr h="29412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Setup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Bottom face up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-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245459"/>
                  </a:ext>
                </a:extLst>
              </a:tr>
              <a:tr h="4093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Pass 1/1, dir: -Z. Boring head used for counterbore.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Boring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Boring Head,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r>
                        <a:rPr lang="en-GB" sz="1100" b="0" u="none" strike="noStrike">
                          <a:effectLst/>
                        </a:rPr>
                        <a:t> 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Counterbore for mounting holes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5000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rgbClr val="E7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33329"/>
                  </a:ext>
                </a:extLst>
              </a:tr>
              <a:tr h="32715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Step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Pass 1/1, dir: -Z. Depth is within limits.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Drilling (Through Hole)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Twist Drill, </a:t>
                      </a:r>
                      <a:r>
                        <a:rPr lang="en-GB" sz="1100" b="0" u="none" strike="noStrike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r>
                        <a:rPr lang="en-GB" sz="1100" b="0" u="none" strike="noStrike">
                          <a:effectLst/>
                        </a:rPr>
                        <a:t>13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Eight counterbored mounting holes at X -80, -40, +40, +80 mm, Y ±75 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6000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1723333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317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4560</Words>
  <Application>Microsoft Office PowerPoint</Application>
  <PresentationFormat>Widescreen</PresentationFormat>
  <Paragraphs>1104</Paragraphs>
  <Slides>31</Slides>
  <Notes>31</Notes>
  <HiddenSlides>1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Aptos</vt:lpstr>
      <vt:lpstr>Aptos Display</vt:lpstr>
      <vt:lpstr>Arial</vt:lpstr>
      <vt:lpstr>Arial,Sans-Serif</vt:lpstr>
      <vt:lpstr>Calibri</vt:lpstr>
      <vt:lpstr>Courier New</vt:lpstr>
      <vt:lpstr>Manrope</vt:lpstr>
      <vt:lpstr>Source Sans Pro</vt:lpstr>
      <vt:lpstr>Source Sans Pro Light</vt:lpstr>
      <vt:lpstr>Wingdings</vt:lpstr>
      <vt:lpstr>Tema di Office</vt:lpstr>
      <vt:lpstr>Custom Design</vt:lpstr>
      <vt:lpstr>Machine Learning for Mechanical Systems Professor: Loris Roveda </vt:lpstr>
      <vt:lpstr>PowerPoint Presentation</vt:lpstr>
      <vt:lpstr>Introduction</vt:lpstr>
      <vt:lpstr>Introduction</vt:lpstr>
      <vt:lpstr>Inputs to the LLM Pipeline</vt:lpstr>
      <vt:lpstr>Inputs to the LLM Pipeline – Environment</vt:lpstr>
      <vt:lpstr>Inputs to the LLM Pipeline</vt:lpstr>
      <vt:lpstr>Inputs to the LLM Pipeline</vt:lpstr>
      <vt:lpstr>Inputs to the LLM </vt:lpstr>
      <vt:lpstr>Inputs to the LLM - Challenges and Limitations </vt:lpstr>
      <vt:lpstr>API calls</vt:lpstr>
      <vt:lpstr>API calls</vt:lpstr>
      <vt:lpstr>API calls</vt:lpstr>
      <vt:lpstr>API calls</vt:lpstr>
      <vt:lpstr>API calls</vt:lpstr>
      <vt:lpstr>Validation</vt:lpstr>
      <vt:lpstr>Validation</vt:lpstr>
      <vt:lpstr>Post-Processing</vt:lpstr>
      <vt:lpstr>Parsing and G-code Generation</vt:lpstr>
      <vt:lpstr>Automatic documentation</vt:lpstr>
      <vt:lpstr>Result – Natural Language</vt:lpstr>
      <vt:lpstr>Result – Natural Language</vt:lpstr>
      <vt:lpstr>Result – JSON Dictionary</vt:lpstr>
      <vt:lpstr>Result – JSON Dictionary</vt:lpstr>
      <vt:lpstr>Result – JSON Dictionary</vt:lpstr>
      <vt:lpstr>Comment</vt:lpstr>
      <vt:lpstr>Comment</vt:lpstr>
      <vt:lpstr>Machine Learning for Mechanical Systems Professor: Loris Roveda </vt:lpstr>
      <vt:lpstr>Comments</vt:lpstr>
      <vt:lpstr>Comments</vt:lpstr>
      <vt:lpstr>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bellini</dc:creator>
  <cp:lastModifiedBy>Davide Bellini</cp:lastModifiedBy>
  <cp:revision>2</cp:revision>
  <dcterms:created xsi:type="dcterms:W3CDTF">2012-07-30T23:18:30Z</dcterms:created>
  <dcterms:modified xsi:type="dcterms:W3CDTF">2025-06-08T19:13:32Z</dcterms:modified>
</cp:coreProperties>
</file>